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7d29715bf74dcc" /><Relationship Type="http://schemas.openxmlformats.org/officeDocument/2006/relationships/extended-properties" Target="/docProps/app.xml" Id="Raf654223185e410d" /><Relationship Type="http://schemas.openxmlformats.org/officeDocument/2006/relationships/officeDocument" Target="/ppt/presentation.xml" Id="R6d165bc5f62a48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cba49687c84e7d"/>
  </p:sldMasterIdLst>
  <p:notesMasterIdLst>
    <p:notesMasterId xmlns:r="http://schemas.openxmlformats.org/officeDocument/2006/relationships" r:id="R69782543941b44ff"/>
  </p:notesMasterIdLst>
  <p:sldIdLst>
    <p:sldId xmlns:r="http://schemas.openxmlformats.org/officeDocument/2006/relationships" id="256" r:id="Rb00d683ef4894fe3"/>
    <p:sldId xmlns:r="http://schemas.openxmlformats.org/officeDocument/2006/relationships" id="257" r:id="R0312043eba174524"/>
    <p:sldId xmlns:r="http://schemas.openxmlformats.org/officeDocument/2006/relationships" id="258" r:id="Ra8ba7b05356e4e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f495d6009a4ccc" /><Relationship Type="http://schemas.openxmlformats.org/officeDocument/2006/relationships/slideMaster" Target="/ppt/slideMasters/slideMaster1.xml" Id="Rddcba49687c84e7d" /><Relationship Type="http://schemas.openxmlformats.org/officeDocument/2006/relationships/notesMaster" Target="/ppt/notesMasters/notesMaster1.xml" Id="R69782543941b44ff" /><Relationship Type="http://schemas.openxmlformats.org/officeDocument/2006/relationships/presProps" Target="/ppt/presProps.xml" Id="Rdc1a14022b924453" /><Relationship Type="http://schemas.openxmlformats.org/officeDocument/2006/relationships/tableStyles" Target="/ppt/tableStyles.xml" Id="R11ba21723c0a429b" /><Relationship Type="http://schemas.openxmlformats.org/officeDocument/2006/relationships/slide" Target="/ppt/slides/slide1.xml" Id="Rb00d683ef4894fe3" /><Relationship Type="http://schemas.openxmlformats.org/officeDocument/2006/relationships/slide" Target="/ppt/slides/slide2.xml" Id="R0312043eba174524" /><Relationship Type="http://schemas.openxmlformats.org/officeDocument/2006/relationships/slide" Target="/ppt/slides/slide3.xml" Id="Ra8ba7b05356e4e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826fd1649c4f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76113771bb4530" /><Relationship Type="http://schemas.openxmlformats.org/officeDocument/2006/relationships/notesMaster" Target="/ppt/notesMasters/notesMaster1.xml" Id="R470593d4ba254a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95751254684493" /><Relationship Type="http://schemas.openxmlformats.org/officeDocument/2006/relationships/notesMaster" Target="/ppt/notesMasters/notesMaster1.xml" Id="Rac60ba5c469245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9583ac9c5448bf" /><Relationship Type="http://schemas.openxmlformats.org/officeDocument/2006/relationships/notesMaster" Target="/ppt/notesMasters/notesMaster1.xml" Id="R97603cde43294a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7ba2b62a504b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7ee281a0044762" /><Relationship Type="http://schemas.openxmlformats.org/officeDocument/2006/relationships/slideLayout" Target="/ppt/slideLayouts/slideLayout1.xml" Id="Rdf6f37df0f8442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6f37df0f8442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06b93a1c942e7" /><Relationship Type="http://schemas.openxmlformats.org/officeDocument/2006/relationships/notesSlide" Target="/ppt/notesSlides/notesSlide1.xml" Id="Rc63c4a5baeb54d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1697f989843d9" /><Relationship Type="http://schemas.openxmlformats.org/officeDocument/2006/relationships/notesSlide" Target="/ppt/notesSlides/notesSlide2.xml" Id="R7fc6e612fb344e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a6f6fe8714125" /><Relationship Type="http://schemas.openxmlformats.org/officeDocument/2006/relationships/notesSlide" Target="/ppt/notesSlides/notesSlide3.xml" Id="R681e6eca22de4c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E8C76F-7200-4310-A593-5584CFB2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Football Predictor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CCD94-E86C-42A9-830F-4045617A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ETL, EDA et choix de données modèle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5071F-F967-48D8-8DBF-F1C90C16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Objectif: transformer des données football hétérogènes en datasets fiables pour entraîner et comparer les modèles.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7C3CC-9573-4DC9-9C98-1FB629CD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4552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6B568-93C1-4490-8163-DD9C99EE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Décision structurante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B7B37-A533-4462-BEC7-B9CB9B20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529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Conserver l'information joueur détaillée, puis tester si les abstractions apportent vraiment de la performance.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961CD-FA9C-4B20-AE8D-5440C205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82013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B02ABB-BB0F-49D7-A552-983ACBE6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Les données passent par trois niveaux clairs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A4E15-8632-42DD-81B5-0F7E56BB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42975-EB5F-49BA-8519-7C78CB6C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04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NeonDB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10BF1-EBE6-44AD-BF9B-8C517EA4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Analyse et modeles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74929-E11A-42BB-A8A8-4F522AB9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3162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38ABF-193D-4FE8-9ABF-660EA139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4B4B"/>
                </a:solidFill>
              </a:defRPr>
            </a:pPr>
            <a:r>
              <a:rPr sz="1800" b="1">
                <a:solidFill>
                  <a:srgbClr val="FF4B4B"/>
                </a:solidFill>
              </a:rPr>
              <a:t>SoFIFA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F7380-2F54-4BCC-98A8-ADBA47A5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Scraping des notes détaillées joueurs: attaque, technique, mouvement, défense, gardien.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56300-F475-4653-B3B3-53B0D56D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3162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C3339-D1BB-4307-8C0D-975A3DE3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4B4B"/>
                </a:solidFill>
              </a:defRPr>
            </a:pPr>
            <a:r>
              <a:rPr sz="1800" b="1">
                <a:solidFill>
                  <a:srgbClr val="FF4B4B"/>
                </a:solidFill>
              </a:rPr>
              <a:t>Transfermarkt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C9C97-07D3-4DAA-9E47-D6E21F14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CSV GitHub: matchs, lineups, joueurs, clubs et transferts. Mise à jour régulière.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FD8D3-A0C4-45EA-A004-85297B06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3835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00724-92E9-487B-AFC0-81A94341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050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/raw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5322F-3289-4250-99E7-2F4ABED3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Données sources conservées en base sans transformation métier lourde.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AFD30-CF79-4BCE-9351-027B592A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247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C5E13F-A7B6-4F50-A796-E48B28D6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862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/staging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47987-5F2E-474A-B51E-13606D94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training_match_dataset et match_outcome_team_ratings dans NeonDB.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8702D-9C5D-4810-B9DE-BDE5120C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DF6609-8A6B-4DB6-AAFD-EDE950E3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480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803D"/>
                </a:solidFill>
              </a:defRPr>
            </a:pPr>
            <a:r>
              <a:rPr sz="1800" b="1">
                <a:solidFill>
                  <a:srgbClr val="15803D"/>
                </a:solidFill>
              </a:rPr>
              <a:t>/curated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7410D-F781-42D4-B6A9-3A441C6F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24250"/>
            <a:ext cx="255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Datasets locaux de notebook pour entraînement ML, dont training_dataset_df.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46FD62-7309-40A4-AA2D-20A0B1AA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47950"/>
            <a:ext cx="4381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BD5DC-F130-4E93-BEE1-15AA1AE2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43400"/>
            <a:ext cx="4381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8AFB5-E627-448A-9729-CEE9BD97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552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4D2A73-156B-4A88-895E-B4D450CB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552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041BAD-D1E3-492B-8502-B6AC9E80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340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Clé de passage: réconciliation player_id SoFIFA et Transfermarkt.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610F05-E0B8-41CD-85E0-DD4FB3F3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84442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542064-AC0C-4E40-B746-07157045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L'EDA sécurise le dataset d'entraînement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872D9-4A27-46C4-B954-61E41F2A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Périmètre: matchs UEFA des 5 dernières années, entre les 100 meilleurs clubs UEFA.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79765-4C3E-471D-9895-54AAC3AD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1222F-4795-4D12-B1B6-6C93836D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00000"/>
                </a:solidFill>
              </a:defRPr>
            </a:pPr>
            <a:r>
              <a:rPr sz="5100" b="1">
                <a:solidFill>
                  <a:srgbClr val="000000"/>
                </a:solidFill>
              </a:rPr>
              <a:t>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397DF-FEC3-4147-A24E-23EB387B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meilleures équipes UEFA comme base de comparaison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920A8-291D-4AB0-A823-9AF45F42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38350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3823D-7521-46E6-B9F9-C2FE4434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00000"/>
                </a:solidFill>
              </a:defRPr>
            </a:pPr>
            <a:r>
              <a:rPr sz="5100" b="1">
                <a:solidFill>
                  <a:srgbClr val="000000"/>
                </a:solidFill>
              </a:rPr>
              <a:t>6000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278EB-791E-4CD7-849E-8F86A767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62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matchs environ avant jointure complète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FB036-FD01-4063-B6E6-484BF48C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38350"/>
            <a:ext cx="2571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37EC2-4F3B-4628-B85B-1F760810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00000"/>
                </a:solidFill>
              </a:defRPr>
            </a:pPr>
            <a:r>
              <a:rPr sz="5100" b="1">
                <a:solidFill>
                  <a:srgbClr val="000000"/>
                </a:solidFill>
              </a:rPr>
              <a:t>3800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C83FF-BB35-4B43-B97B-0D65F3DF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62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matchs exploitables après retrait des NaN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E027B-D690-45F5-8A59-A3F738FD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1F73D-E0F4-4ED8-9578-8E486C4F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Conclusion modele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534A1-725E-4FEB-854F-243DE943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63880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Le clustering joueurs a surtout séparé les niveaux de force, pas des profils techniques nets. Dans cette version, il réduit l'information et dégrade la performance.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A67EC-88E7-4586-9554-E7C67844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69949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2026-07-29T14:07:15.6720000Z</dcterms:created>
  <dcterms:modified xsi:type="dcterms:W3CDTF">2026-07-29T14:07:15.6720000Z</dcterms:modified>
</coreProperties>
</file>