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2CD"/>
          </a:solidFill>
        </a:fill>
      </a:tcStyle>
    </a:wholeTbl>
    <a:band2H>
      <a:tcTxStyle/>
      <a:tcStyle>
        <a:tcBdr/>
        <a:fill>
          <a:solidFill>
            <a:srgbClr val="FF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/>
      <a:tcStyle>
        <a:tcBdr/>
        <a:fill>
          <a:solidFill>
            <a:srgbClr val="EBEEE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/>
      <a:tcStyle>
        <a:tcBdr/>
        <a:fill>
          <a:solidFill>
            <a:srgbClr val="FCFF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6" name="Shape 11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311708" y="744574"/>
            <a:ext cx="8520601" cy="2052601"/>
          </a:xfrm>
          <a:prstGeom prst="rect">
            <a:avLst/>
          </a:prstGeom>
        </p:spPr>
        <p:txBody>
          <a:bodyPr anchor="b"/>
          <a:lstStyle>
            <a:lvl1pPr algn="ctr">
              <a:defRPr sz="52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9" y="2834125"/>
            <a:ext cx="8520602" cy="792601"/>
          </a:xfrm>
          <a:prstGeom prst="rect">
            <a:avLst/>
          </a:prstGeom>
        </p:spPr>
        <p:txBody>
          <a:bodyPr/>
          <a:lstStyle>
            <a:lvl1pPr marL="342900" indent="-228600" algn="ctr">
              <a:lnSpc>
                <a:spcPct val="100000"/>
              </a:lnSpc>
              <a:buClrTx/>
              <a:buSzTx/>
              <a:buFontTx/>
              <a:buNone/>
              <a:defRPr sz="2800"/>
            </a:lvl1pPr>
            <a:lvl2pPr marL="342900" indent="254000" algn="ctr">
              <a:lnSpc>
                <a:spcPct val="100000"/>
              </a:lnSpc>
              <a:buClrTx/>
              <a:buSzTx/>
              <a:buFontTx/>
              <a:buNone/>
              <a:defRPr sz="2800"/>
            </a:lvl2pPr>
            <a:lvl3pPr marL="342900" indent="711200" algn="ctr">
              <a:lnSpc>
                <a:spcPct val="100000"/>
              </a:lnSpc>
              <a:buClrTx/>
              <a:buSzTx/>
              <a:buFontTx/>
              <a:buNone/>
              <a:defRPr sz="2800"/>
            </a:lvl3pPr>
            <a:lvl4pPr marL="342900" indent="1168400" algn="ctr">
              <a:lnSpc>
                <a:spcPct val="100000"/>
              </a:lnSpc>
              <a:buClrTx/>
              <a:buSzTx/>
              <a:buFontTx/>
              <a:buNone/>
              <a:defRPr sz="2800"/>
            </a:lvl4pPr>
            <a:lvl5pPr marL="342900" indent="1625600" algn="ctr">
              <a:lnSpc>
                <a:spcPct val="100000"/>
              </a:lnSpc>
              <a:buClrTx/>
              <a:buSzTx/>
              <a:buFontTx/>
              <a:buNone/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xfrm>
            <a:off x="311699" y="2150849"/>
            <a:ext cx="8520602" cy="841801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r>
              <a:t>Title Text</a:t>
            </a:r>
          </a:p>
        </p:txBody>
      </p:sp>
      <p:sp>
        <p:nvSpPr>
          <p:cNvPr id="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8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9" y="1152475"/>
            <a:ext cx="3999902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" name="Google Shape;23;p5"/>
          <p:cNvSpPr txBox="1">
            <a:spLocks noGrp="1"/>
          </p:cNvSpPr>
          <p:nvPr>
            <p:ph type="body" sz="half" idx="21"/>
          </p:nvPr>
        </p:nvSpPr>
        <p:spPr>
          <a:xfrm>
            <a:off x="4832399" y="1152475"/>
            <a:ext cx="3999902" cy="3416400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sz="1400"/>
            </a:pPr>
            <a:endParaRPr/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311699" y="555600"/>
            <a:ext cx="2808001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9" y="1389599"/>
            <a:ext cx="2808001" cy="31794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/>
          </p:nvPr>
        </p:nvSpPr>
        <p:spPr>
          <a:xfrm>
            <a:off x="490250" y="450149"/>
            <a:ext cx="6367801" cy="4090801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r>
              <a:t>Title Text</a:t>
            </a:r>
          </a:p>
        </p:txBody>
      </p:sp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36;p9"/>
          <p:cNvSpPr/>
          <p:nvPr/>
        </p:nvSpPr>
        <p:spPr>
          <a:xfrm>
            <a:off x="4572000" y="-125"/>
            <a:ext cx="4572000" cy="5143501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73" name="Title Text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1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r>
              <a:t>Title Text</a:t>
            </a:r>
          </a:p>
        </p:txBody>
      </p:sp>
      <p:sp>
        <p:nvSpPr>
          <p:cNvPr id="7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342900" indent="-2286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342900" indent="2540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342900" indent="7112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342900" indent="11684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342900" indent="16256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Google Shape;39;p9"/>
          <p:cNvSpPr txBox="1">
            <a:spLocks noGrp="1"/>
          </p:cNvSpPr>
          <p:nvPr>
            <p:ph type="body" sz="half" idx="21"/>
          </p:nvPr>
        </p:nvSpPr>
        <p:spPr>
          <a:xfrm>
            <a:off x="4939500" y="724074"/>
            <a:ext cx="3837000" cy="3695102"/>
          </a:xfrm>
          <a:prstGeom prst="rect">
            <a:avLst/>
          </a:prstGeom>
        </p:spPr>
        <p:txBody>
          <a:bodyPr anchor="ctr"/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9" y="4230575"/>
            <a:ext cx="5998802" cy="605101"/>
          </a:xfrm>
          <a:prstGeom prst="rect">
            <a:avLst/>
          </a:prstGeom>
        </p:spPr>
        <p:txBody>
          <a:bodyPr anchor="ctr"/>
          <a:lstStyle>
            <a:lvl1pPr marL="228600" indent="0">
              <a:lnSpc>
                <a:spcPct val="100000"/>
              </a:lnSpc>
              <a:buClrTx/>
              <a:buSzTx/>
              <a:buFontTx/>
              <a:buNone/>
            </a:lvl1pPr>
            <a:lvl2pPr>
              <a:lnSpc>
                <a:spcPct val="100000"/>
              </a:lnSpc>
              <a:buClrTx/>
              <a:buFontTx/>
            </a:lvl2pPr>
            <a:lvl3pPr>
              <a:lnSpc>
                <a:spcPct val="100000"/>
              </a:lnSpc>
              <a:buClrTx/>
              <a:buFontTx/>
            </a:lvl3pPr>
            <a:lvl4pPr>
              <a:lnSpc>
                <a:spcPct val="100000"/>
              </a:lnSpc>
              <a:buClrTx/>
              <a:buFontTx/>
            </a:lvl4pPr>
            <a:lvl5pPr>
              <a:lnSpc>
                <a:spcPct val="100000"/>
              </a:lnSpc>
              <a:buClrTx/>
              <a:buFontTx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xx%"/>
          <p:cNvSpPr txBox="1">
            <a:spLocks noGrp="1"/>
          </p:cNvSpPr>
          <p:nvPr>
            <p:ph type="title" hasCustomPrompt="1"/>
          </p:nvPr>
        </p:nvSpPr>
        <p:spPr>
          <a:xfrm>
            <a:off x="311699" y="1106125"/>
            <a:ext cx="8520602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r>
              <a:t>xx%</a:t>
            </a:r>
          </a:p>
        </p:txBody>
      </p:sp>
      <p:sp>
        <p:nvSpPr>
          <p:cNvPr id="9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9" y="3152225"/>
            <a:ext cx="8520602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le Text"/>
          <p:cNvSpPr txBox="1">
            <a:spLocks noGrp="1"/>
          </p:cNvSpPr>
          <p:nvPr>
            <p:ph type="title"/>
          </p:nvPr>
        </p:nvSpPr>
        <p:spPr>
          <a:xfrm>
            <a:off x="311698" y="445025"/>
            <a:ext cx="8520603" cy="572702"/>
          </a:xfrm>
          <a:prstGeom prst="rect">
            <a:avLst/>
          </a:prstGeom>
        </p:spPr>
        <p:txBody>
          <a:bodyPr lIns="91423" tIns="91423" rIns="91423" bIns="91423"/>
          <a:lstStyle/>
          <a:p>
            <a:r>
              <a:t>Title Text</a:t>
            </a:r>
          </a:p>
        </p:txBody>
      </p:sp>
      <p:sp>
        <p:nvSpPr>
          <p:cNvPr id="108" name="Body Level One…"/>
          <p:cNvSpPr txBox="1">
            <a:spLocks noGrp="1"/>
          </p:cNvSpPr>
          <p:nvPr>
            <p:ph type="body" idx="1"/>
          </p:nvPr>
        </p:nvSpPr>
        <p:spPr>
          <a:xfrm>
            <a:off x="311698" y="1152475"/>
            <a:ext cx="8520603" cy="3416400"/>
          </a:xfrm>
          <a:prstGeom prst="rect">
            <a:avLst/>
          </a:prstGeom>
        </p:spPr>
        <p:txBody>
          <a:bodyPr lIns="91423" tIns="91423" rIns="91423" bIns="91423"/>
          <a:lstStyle>
            <a:lvl1pPr>
              <a:buClr>
                <a:srgbClr val="585858"/>
              </a:buClr>
              <a:defRPr>
                <a:solidFill>
                  <a:srgbClr val="585858"/>
                </a:solidFill>
              </a:defRPr>
            </a:lvl1pPr>
            <a:lvl2pPr marL="1005114" indent="-408213">
              <a:buClr>
                <a:srgbClr val="585858"/>
              </a:buClr>
              <a:defRPr>
                <a:solidFill>
                  <a:srgbClr val="585858"/>
                </a:solidFill>
              </a:defRPr>
            </a:lvl2pPr>
            <a:lvl3pPr marL="1462314" indent="-408214">
              <a:buClr>
                <a:srgbClr val="585858"/>
              </a:buClr>
              <a:defRPr>
                <a:solidFill>
                  <a:srgbClr val="585858"/>
                </a:solidFill>
              </a:defRPr>
            </a:lvl3pPr>
            <a:lvl4pPr marL="1919514" indent="-408214">
              <a:buClr>
                <a:srgbClr val="585858"/>
              </a:buClr>
              <a:defRPr>
                <a:solidFill>
                  <a:srgbClr val="585858"/>
                </a:solidFill>
              </a:defRPr>
            </a:lvl4pPr>
            <a:lvl5pPr marL="2376714" indent="-408214">
              <a:buClr>
                <a:srgbClr val="585858"/>
              </a:buClr>
              <a:defRPr>
                <a:solidFill>
                  <a:srgbClr val="58585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48" y="4700820"/>
            <a:ext cx="336812" cy="318394"/>
          </a:xfrm>
          <a:prstGeom prst="rect">
            <a:avLst/>
          </a:prstGeom>
        </p:spPr>
        <p:txBody>
          <a:bodyPr lIns="91423" tIns="91423" rIns="91423" bIns="91423"/>
          <a:lstStyle>
            <a:lvl1pPr>
              <a:defRPr>
                <a:solidFill>
                  <a:srgbClr val="585858"/>
                </a:solidFill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11699" y="445025"/>
            <a:ext cx="8520602" cy="57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8520602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  <a:prstGeom prst="rect">
            <a:avLst/>
          </a:prstGeom>
          <a:ln w="12700">
            <a:miter lim="400000"/>
          </a:ln>
        </p:spPr>
        <p:txBody>
          <a:bodyPr wrap="none" lIns="91424" tIns="91424" rIns="91424" bIns="91424" anchor="ctr">
            <a:spAutoFit/>
          </a:bodyPr>
          <a:lstStyle>
            <a:lvl1pPr algn="r">
              <a:defRPr sz="1000">
                <a:solidFill>
                  <a:schemeClr val="accent2">
                    <a:lumOff val="21764"/>
                  </a:schemeClr>
                </a:solidFill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1pPr>
      <a:lvl2pPr marL="1005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6pPr>
      <a:lvl7pPr marL="3291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7pPr>
      <a:lvl8pPr marL="3748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8pPr>
      <a:lvl9pPr marL="4205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oMiwZBqVqKz6yZRbg1b6JHPmj1MoXQ21/view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12" Type="http://schemas.openxmlformats.org/officeDocument/2006/relationships/image" Target="../media/image2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0" Type="http://schemas.openxmlformats.org/officeDocument/2006/relationships/image" Target="../media/image22.png"/><Relationship Id="rId4" Type="http://schemas.openxmlformats.org/officeDocument/2006/relationships/image" Target="../media/image19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4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12" Type="http://schemas.openxmlformats.org/officeDocument/2006/relationships/image" Target="../media/image23.png"/><Relationship Id="rId17" Type="http://schemas.openxmlformats.org/officeDocument/2006/relationships/image" Target="../media/image33.png"/><Relationship Id="rId2" Type="http://schemas.openxmlformats.org/officeDocument/2006/relationships/image" Target="../media/image26.jpe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5" Type="http://schemas.openxmlformats.org/officeDocument/2006/relationships/image" Target="../media/image31.png"/><Relationship Id="rId10" Type="http://schemas.openxmlformats.org/officeDocument/2006/relationships/image" Target="../media/image29.png"/><Relationship Id="rId4" Type="http://schemas.openxmlformats.org/officeDocument/2006/relationships/image" Target="../media/image27.png"/><Relationship Id="rId9" Type="http://schemas.openxmlformats.org/officeDocument/2006/relationships/image" Target="../media/image28.png"/><Relationship Id="rId1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16.png"/><Relationship Id="rId18" Type="http://schemas.openxmlformats.org/officeDocument/2006/relationships/image" Target="../media/image25.png"/><Relationship Id="rId3" Type="http://schemas.openxmlformats.org/officeDocument/2006/relationships/image" Target="../media/image14.png"/><Relationship Id="rId7" Type="http://schemas.openxmlformats.org/officeDocument/2006/relationships/image" Target="../media/image30.png"/><Relationship Id="rId12" Type="http://schemas.openxmlformats.org/officeDocument/2006/relationships/image" Target="../media/image20.png"/><Relationship Id="rId17" Type="http://schemas.openxmlformats.org/officeDocument/2006/relationships/image" Target="../media/image24.png"/><Relationship Id="rId2" Type="http://schemas.openxmlformats.org/officeDocument/2006/relationships/image" Target="../media/image2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11" Type="http://schemas.openxmlformats.org/officeDocument/2006/relationships/image" Target="../media/image32.png"/><Relationship Id="rId5" Type="http://schemas.openxmlformats.org/officeDocument/2006/relationships/image" Target="../media/image19.png"/><Relationship Id="rId15" Type="http://schemas.openxmlformats.org/officeDocument/2006/relationships/image" Target="../media/image15.png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54;p13"/>
          <p:cNvSpPr txBox="1">
            <a:spLocks noGrp="1"/>
          </p:cNvSpPr>
          <p:nvPr>
            <p:ph type="ctrTitle"/>
          </p:nvPr>
        </p:nvSpPr>
        <p:spPr>
          <a:xfrm>
            <a:off x="1718099" y="866768"/>
            <a:ext cx="6478201" cy="617701"/>
          </a:xfrm>
          <a:prstGeom prst="rect">
            <a:avLst/>
          </a:prstGeom>
        </p:spPr>
        <p:txBody>
          <a:bodyPr/>
          <a:lstStyle>
            <a:lvl1pPr algn="l">
              <a:defRPr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Your Tech Bootcamp</a:t>
            </a:r>
          </a:p>
        </p:txBody>
      </p:sp>
      <p:pic>
        <p:nvPicPr>
          <p:cNvPr id="119" name="Google Shape;55;p13" descr="Google Shape;55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00" y="795925"/>
            <a:ext cx="721025" cy="759376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Google Shape;56;p13"/>
          <p:cNvSpPr txBox="1"/>
          <p:nvPr/>
        </p:nvSpPr>
        <p:spPr>
          <a:xfrm>
            <a:off x="844499" y="2225275"/>
            <a:ext cx="7271702" cy="92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 anchor="b">
            <a:normAutofit/>
          </a:bodyPr>
          <a:lstStyle>
            <a:lvl1pPr>
              <a:defRPr sz="40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Group # - FootBall Predictor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61;p14"/>
          <p:cNvSpPr/>
          <p:nvPr/>
        </p:nvSpPr>
        <p:spPr>
          <a:xfrm>
            <a:off x="5500" y="-17777"/>
            <a:ext cx="3335400" cy="5161204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23" name="Google Shape;62;p14"/>
          <p:cNvSpPr txBox="1">
            <a:spLocks noGrp="1"/>
          </p:cNvSpPr>
          <p:nvPr>
            <p:ph type="title"/>
          </p:nvPr>
        </p:nvSpPr>
        <p:spPr>
          <a:xfrm>
            <a:off x="390598" y="1138673"/>
            <a:ext cx="2513105" cy="3458105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Group members</a:t>
            </a:r>
          </a:p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Fran</a:t>
            </a:r>
            <a:r>
              <a:rPr lang="fr-FR" dirty="0"/>
              <a:t>c</a:t>
            </a:r>
            <a:r>
              <a:rPr dirty="0"/>
              <a:t>k IDDA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Hugo PIERRE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 err="1"/>
              <a:t>Safidy</a:t>
            </a:r>
            <a:r>
              <a:rPr dirty="0"/>
              <a:t> RAMAHERISON</a:t>
            </a:r>
          </a:p>
        </p:txBody>
      </p:sp>
      <p:pic>
        <p:nvPicPr>
          <p:cNvPr id="124" name="Google Shape;63;p14" descr="Google Shape;63;p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7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986" y="1081707"/>
            <a:ext cx="5018376" cy="29622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le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5315103" cy="533103"/>
          </a:xfrm>
          <a:prstGeom prst="rect">
            <a:avLst/>
          </a:prstGeom>
        </p:spPr>
        <p:txBody>
          <a:bodyPr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Pitch</a:t>
            </a:r>
          </a:p>
        </p:txBody>
      </p:sp>
      <p:pic>
        <p:nvPicPr>
          <p:cNvPr id="128" name="logo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6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bar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30" name="motiv"/>
          <p:cNvSpPr/>
          <p:nvPr/>
        </p:nvSpPr>
        <p:spPr>
          <a:xfrm>
            <a:off x="550000" y="1149999"/>
            <a:ext cx="8044000" cy="1150001"/>
          </a:xfrm>
          <a:prstGeom prst="roundRect">
            <a:avLst>
              <a:gd name="adj" fmla="val 7000"/>
            </a:avLst>
          </a:prstGeom>
          <a:solidFill>
            <a:srgbClr val="EAF2F6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31" name="mcirc"/>
          <p:cNvSpPr/>
          <p:nvPr/>
        </p:nvSpPr>
        <p:spPr>
          <a:xfrm>
            <a:off x="849999" y="1384999"/>
            <a:ext cx="680001" cy="68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pic>
        <p:nvPicPr>
          <p:cNvPr id="132" name="micon" descr="m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000" y="1525000"/>
            <a:ext cx="400001" cy="400001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mtext"/>
          <p:cNvSpPr txBox="1"/>
          <p:nvPr/>
        </p:nvSpPr>
        <p:spPr>
          <a:xfrm>
            <a:off x="1828000" y="1309999"/>
            <a:ext cx="6448000" cy="83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/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Notre objectif</a:t>
            </a:r>
          </a:p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endParaRPr/>
          </a:p>
          <a:p>
            <a:pPr>
              <a:spcBef>
                <a:spcPts val="300"/>
              </a:spcBef>
              <a:defRPr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Aider les entraîneurs à prendre les meilleures décisions grâce à la data</a:t>
            </a:r>
          </a:p>
        </p:txBody>
      </p:sp>
      <p:sp>
        <p:nvSpPr>
          <p:cNvPr id="134" name="card"/>
          <p:cNvSpPr/>
          <p:nvPr/>
        </p:nvSpPr>
        <p:spPr>
          <a:xfrm>
            <a:off x="550000" y="2470000"/>
            <a:ext cx="3872001" cy="2130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35" name="card"/>
          <p:cNvSpPr/>
          <p:nvPr/>
        </p:nvSpPr>
        <p:spPr>
          <a:xfrm>
            <a:off x="4722000" y="2470000"/>
            <a:ext cx="3872001" cy="2130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36" name="ccirc"/>
          <p:cNvSpPr/>
          <p:nvPr/>
        </p:nvSpPr>
        <p:spPr>
          <a:xfrm>
            <a:off x="849999" y="2769999"/>
            <a:ext cx="640001" cy="64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sp>
        <p:nvSpPr>
          <p:cNvPr id="137" name="ccirc"/>
          <p:cNvSpPr/>
          <p:nvPr/>
        </p:nvSpPr>
        <p:spPr>
          <a:xfrm>
            <a:off x="5022000" y="2769999"/>
            <a:ext cx="640001" cy="64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pic>
        <p:nvPicPr>
          <p:cNvPr id="138" name="cicon" descr="c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99" y="2899999"/>
            <a:ext cx="380001" cy="38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cicon" descr="c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1999" y="2899999"/>
            <a:ext cx="380001" cy="380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0" name="ctitle"/>
          <p:cNvSpPr txBox="1"/>
          <p:nvPr/>
        </p:nvSpPr>
        <p:spPr>
          <a:xfrm>
            <a:off x="1728000" y="2769999"/>
            <a:ext cx="2376001" cy="64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Notre solution</a:t>
            </a:r>
          </a:p>
        </p:txBody>
      </p:sp>
      <p:sp>
        <p:nvSpPr>
          <p:cNvPr id="141" name="cdesc"/>
          <p:cNvSpPr txBox="1"/>
          <p:nvPr/>
        </p:nvSpPr>
        <p:spPr>
          <a:xfrm>
            <a:off x="868000" y="3549999"/>
            <a:ext cx="3236000" cy="75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Une appli qui exploite les données du foot moderne pour prédire l’issue d’un match, à partir des infos équipes, joueurs et résultats des championnats européens.</a:t>
            </a:r>
          </a:p>
        </p:txBody>
      </p:sp>
      <p:sp>
        <p:nvSpPr>
          <p:cNvPr id="142" name="ctitle"/>
          <p:cNvSpPr txBox="1"/>
          <p:nvPr/>
        </p:nvSpPr>
        <p:spPr>
          <a:xfrm>
            <a:off x="5899999" y="2769999"/>
            <a:ext cx="2376002" cy="64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Pour qui ?</a:t>
            </a:r>
          </a:p>
        </p:txBody>
      </p:sp>
      <p:sp>
        <p:nvSpPr>
          <p:cNvPr id="143" name="cdesc"/>
          <p:cNvSpPr txBox="1"/>
          <p:nvPr/>
        </p:nvSpPr>
        <p:spPr>
          <a:xfrm>
            <a:off x="5040000" y="3549999"/>
            <a:ext cx="3236001" cy="75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/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entraîneurs, pour optimiser leur composition et leur stratégie de recrutement.</a:t>
            </a:r>
          </a:p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détecteurs et chasseurs de tête, pour repérer les joueurs à fort potentiel.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68;p15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5315103" cy="533103"/>
          </a:xfrm>
          <a:prstGeom prst="rect">
            <a:avLst/>
          </a:prstGeom>
        </p:spPr>
        <p:txBody>
          <a:bodyPr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Description du modèle</a:t>
            </a:r>
          </a:p>
        </p:txBody>
      </p:sp>
      <p:sp>
        <p:nvSpPr>
          <p:cNvPr id="146" name="Google Shape;69;p15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0" tIns="0" rIns="0" bIns="0" anchor="ctr"/>
          <a:lstStyle/>
          <a:p>
            <a:endParaRPr/>
          </a:p>
        </p:txBody>
      </p:sp>
      <p:pic>
        <p:nvPicPr>
          <p:cNvPr id="147" name="Google Shape;70;p15" descr="Google Shape;70;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6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fcard"/>
          <p:cNvSpPr/>
          <p:nvPr/>
        </p:nvSpPr>
        <p:spPr>
          <a:xfrm>
            <a:off x="550000" y="1646749"/>
            <a:ext cx="2441334" cy="185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49" name="fcard"/>
          <p:cNvSpPr/>
          <p:nvPr/>
        </p:nvSpPr>
        <p:spPr>
          <a:xfrm>
            <a:off x="3351333" y="1646749"/>
            <a:ext cx="2441334" cy="185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50" name="fcard"/>
          <p:cNvSpPr/>
          <p:nvPr/>
        </p:nvSpPr>
        <p:spPr>
          <a:xfrm>
            <a:off x="6152666" y="1646749"/>
            <a:ext cx="2441334" cy="185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51" name="arrow304"/>
          <p:cNvSpPr/>
          <p:nvPr/>
        </p:nvSpPr>
        <p:spPr>
          <a:xfrm>
            <a:off x="3041333" y="2066749"/>
            <a:ext cx="260001" cy="120001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sp>
        <p:nvSpPr>
          <p:cNvPr id="152" name="arrow305"/>
          <p:cNvSpPr/>
          <p:nvPr/>
        </p:nvSpPr>
        <p:spPr>
          <a:xfrm>
            <a:off x="5842666" y="2066749"/>
            <a:ext cx="260001" cy="120001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sp>
        <p:nvSpPr>
          <p:cNvPr id="153" name="fcirc"/>
          <p:cNvSpPr/>
          <p:nvPr/>
        </p:nvSpPr>
        <p:spPr>
          <a:xfrm>
            <a:off x="1460666" y="1816750"/>
            <a:ext cx="620001" cy="62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sp>
        <p:nvSpPr>
          <p:cNvPr id="154" name="fcirc"/>
          <p:cNvSpPr/>
          <p:nvPr/>
        </p:nvSpPr>
        <p:spPr>
          <a:xfrm>
            <a:off x="4261999" y="1816750"/>
            <a:ext cx="620001" cy="62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sp>
        <p:nvSpPr>
          <p:cNvPr id="155" name="fcirc"/>
          <p:cNvSpPr/>
          <p:nvPr/>
        </p:nvSpPr>
        <p:spPr>
          <a:xfrm>
            <a:off x="7063332" y="1816750"/>
            <a:ext cx="620001" cy="62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pic>
        <p:nvPicPr>
          <p:cNvPr id="156" name="ficon" descr="f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666" y="1936749"/>
            <a:ext cx="380001" cy="38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ficon" descr="f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999" y="1936749"/>
            <a:ext cx="380001" cy="38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ficon" descr="f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3332" y="1936749"/>
            <a:ext cx="380001" cy="380001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flab"/>
          <p:cNvSpPr txBox="1"/>
          <p:nvPr/>
        </p:nvSpPr>
        <p:spPr>
          <a:xfrm>
            <a:off x="638000" y="2546750"/>
            <a:ext cx="2265334" cy="3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Les données</a:t>
            </a:r>
          </a:p>
        </p:txBody>
      </p:sp>
      <p:sp>
        <p:nvSpPr>
          <p:cNvPr id="160" name="fsub"/>
          <p:cNvSpPr txBox="1"/>
          <p:nvPr/>
        </p:nvSpPr>
        <p:spPr>
          <a:xfrm>
            <a:off x="658000" y="2886749"/>
            <a:ext cx="2225334" cy="54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matchs, équipes et joueurs des championnats européens</a:t>
            </a:r>
          </a:p>
        </p:txBody>
      </p:sp>
      <p:sp>
        <p:nvSpPr>
          <p:cNvPr id="161" name="flab"/>
          <p:cNvSpPr txBox="1"/>
          <p:nvPr/>
        </p:nvSpPr>
        <p:spPr>
          <a:xfrm>
            <a:off x="3439333" y="2546750"/>
            <a:ext cx="2265334" cy="3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modèle</a:t>
            </a:r>
          </a:p>
        </p:txBody>
      </p:sp>
      <p:sp>
        <p:nvSpPr>
          <p:cNvPr id="162" name="fsub"/>
          <p:cNvSpPr txBox="1"/>
          <p:nvPr/>
        </p:nvSpPr>
        <p:spPr>
          <a:xfrm>
            <a:off x="3459333" y="2886749"/>
            <a:ext cx="2225334" cy="54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à partir des notes FIFA 26 des joueurs</a:t>
            </a:r>
          </a:p>
        </p:txBody>
      </p:sp>
      <p:sp>
        <p:nvSpPr>
          <p:cNvPr id="163" name="flab"/>
          <p:cNvSpPr txBox="1"/>
          <p:nvPr/>
        </p:nvSpPr>
        <p:spPr>
          <a:xfrm>
            <a:off x="6240666" y="2546750"/>
            <a:ext cx="2265334" cy="3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La prédiction</a:t>
            </a:r>
          </a:p>
        </p:txBody>
      </p:sp>
      <p:sp>
        <p:nvSpPr>
          <p:cNvPr id="164" name="fsub"/>
          <p:cNvSpPr txBox="1"/>
          <p:nvPr/>
        </p:nvSpPr>
        <p:spPr>
          <a:xfrm>
            <a:off x="6260666" y="2886749"/>
            <a:ext cx="2225334" cy="54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résultat d’un match entre deux équipes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Fond Sporting Portugal" descr="Fond Sporting Portugal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167" name="Google Shape;89;p18"/>
          <p:cNvSpPr txBox="1">
            <a:spLocks noGrp="1"/>
          </p:cNvSpPr>
          <p:nvPr>
            <p:ph type="title"/>
          </p:nvPr>
        </p:nvSpPr>
        <p:spPr>
          <a:xfrm>
            <a:off x="1192662" y="403306"/>
            <a:ext cx="5315105" cy="533105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rPr dirty="0"/>
              <a:t>Football predictor application</a:t>
            </a:r>
            <a:r>
              <a:rPr lang="fr-FR" dirty="0"/>
              <a:t> - Démonstration</a:t>
            </a:r>
            <a:endParaRPr dirty="0"/>
          </a:p>
        </p:txBody>
      </p:sp>
      <p:pic>
        <p:nvPicPr>
          <p:cNvPr id="168" name="Google Shape;90;p18" descr="Google Shape;90;p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7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Google Shape;91;p18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70" name="card"/>
          <p:cNvSpPr/>
          <p:nvPr/>
        </p:nvSpPr>
        <p:spPr>
          <a:xfrm>
            <a:off x="550000" y="1200000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1" name="card"/>
          <p:cNvSpPr/>
          <p:nvPr/>
        </p:nvSpPr>
        <p:spPr>
          <a:xfrm>
            <a:off x="4722000" y="1200000"/>
            <a:ext cx="3872002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2" name="card"/>
          <p:cNvSpPr/>
          <p:nvPr/>
        </p:nvSpPr>
        <p:spPr>
          <a:xfrm>
            <a:off x="550000" y="3114999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3" name="card"/>
          <p:cNvSpPr/>
          <p:nvPr/>
        </p:nvSpPr>
        <p:spPr>
          <a:xfrm>
            <a:off x="4722000" y="3114999"/>
            <a:ext cx="3872002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4" name="circ"/>
          <p:cNvSpPr/>
          <p:nvPr/>
        </p:nvSpPr>
        <p:spPr>
          <a:xfrm>
            <a:off x="789999" y="1439999"/>
            <a:ext cx="620003" cy="62000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75" name="circ"/>
          <p:cNvSpPr/>
          <p:nvPr/>
        </p:nvSpPr>
        <p:spPr>
          <a:xfrm>
            <a:off x="4961999" y="1439999"/>
            <a:ext cx="620003" cy="62000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76" name="circ"/>
          <p:cNvSpPr/>
          <p:nvPr/>
        </p:nvSpPr>
        <p:spPr>
          <a:xfrm>
            <a:off x="789999" y="3354999"/>
            <a:ext cx="620003" cy="62000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77" name="circ"/>
          <p:cNvSpPr/>
          <p:nvPr/>
        </p:nvSpPr>
        <p:spPr>
          <a:xfrm>
            <a:off x="4961999" y="3354999"/>
            <a:ext cx="620003" cy="62000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78" name="icon" descr="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00" y="1570000"/>
            <a:ext cx="360002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icon" descr="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2000" y="1570000"/>
            <a:ext cx="360002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icon" descr="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000" y="3485000"/>
            <a:ext cx="360002" cy="3600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icon" descr="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2000" y="3485000"/>
            <a:ext cx="360002" cy="3600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itle"/>
          <p:cNvSpPr txBox="1"/>
          <p:nvPr/>
        </p:nvSpPr>
        <p:spPr>
          <a:xfrm>
            <a:off x="1607998" y="1439999"/>
            <a:ext cx="2556004" cy="62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Équipes &amp; effectifs</a:t>
            </a:r>
          </a:p>
        </p:txBody>
      </p:sp>
      <p:sp>
        <p:nvSpPr>
          <p:cNvPr id="183" name="desc"/>
          <p:cNvSpPr txBox="1"/>
          <p:nvPr/>
        </p:nvSpPr>
        <p:spPr>
          <a:xfrm>
            <a:off x="807999" y="2130000"/>
            <a:ext cx="3356002" cy="54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effectif de la saison, notes &amp; valeur marchande, dernière composition officielle</a:t>
            </a:r>
          </a:p>
        </p:txBody>
      </p:sp>
      <p:sp>
        <p:nvSpPr>
          <p:cNvPr id="184" name="title"/>
          <p:cNvSpPr txBox="1"/>
          <p:nvPr/>
        </p:nvSpPr>
        <p:spPr>
          <a:xfrm>
            <a:off x="5779999" y="1439999"/>
            <a:ext cx="2556002" cy="62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Prédiction de match</a:t>
            </a:r>
          </a:p>
        </p:txBody>
      </p:sp>
      <p:sp>
        <p:nvSpPr>
          <p:cNvPr id="185" name="desc"/>
          <p:cNvSpPr txBox="1"/>
          <p:nvPr/>
        </p:nvSpPr>
        <p:spPr>
          <a:xfrm>
            <a:off x="4979999" y="2130000"/>
            <a:ext cx="3356002" cy="54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résultat prédit entre deux équipes données</a:t>
            </a:r>
          </a:p>
        </p:txBody>
      </p:sp>
      <p:sp>
        <p:nvSpPr>
          <p:cNvPr id="186" name="title"/>
          <p:cNvSpPr txBox="1"/>
          <p:nvPr/>
        </p:nvSpPr>
        <p:spPr>
          <a:xfrm>
            <a:off x="1607998" y="3354999"/>
            <a:ext cx="2556004" cy="62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Mode Fantasy</a:t>
            </a:r>
          </a:p>
        </p:txBody>
      </p:sp>
      <p:sp>
        <p:nvSpPr>
          <p:cNvPr id="187" name="desc"/>
          <p:cNvSpPr txBox="1"/>
          <p:nvPr/>
        </p:nvSpPr>
        <p:spPr>
          <a:xfrm>
            <a:off x="807999" y="4044998"/>
            <a:ext cx="3356002" cy="545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créer sa dream team et lancer un tournoi (équipes fictives ou réelles)</a:t>
            </a:r>
          </a:p>
        </p:txBody>
      </p:sp>
      <p:sp>
        <p:nvSpPr>
          <p:cNvPr id="188" name="title"/>
          <p:cNvSpPr txBox="1"/>
          <p:nvPr/>
        </p:nvSpPr>
        <p:spPr>
          <a:xfrm>
            <a:off x="5779999" y="3354999"/>
            <a:ext cx="2556002" cy="62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Chatbot IA</a:t>
            </a:r>
          </a:p>
        </p:txBody>
      </p:sp>
      <p:sp>
        <p:nvSpPr>
          <p:cNvPr id="189" name="desc"/>
          <p:cNvSpPr txBox="1"/>
          <p:nvPr/>
        </p:nvSpPr>
        <p:spPr>
          <a:xfrm>
            <a:off x="4979999" y="4044998"/>
            <a:ext cx="3356002" cy="545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réponses générées depuis les bases neondb &amp; Transfermarkt</a:t>
            </a:r>
          </a:p>
        </p:txBody>
      </p:sp>
      <p:sp>
        <p:nvSpPr>
          <p:cNvPr id="5" name="flab">
            <a:extLst>
              <a:ext uri="{FF2B5EF4-FFF2-40B4-BE49-F238E27FC236}">
                <a16:creationId xmlns:a16="http://schemas.microsoft.com/office/drawing/2014/main" id="{5F1AD63F-A918-04BA-0C0B-3427DF1712C5}"/>
              </a:ext>
            </a:extLst>
          </p:cNvPr>
          <p:cNvSpPr txBox="1"/>
          <p:nvPr/>
        </p:nvSpPr>
        <p:spPr>
          <a:xfrm>
            <a:off x="5582002" y="655423"/>
            <a:ext cx="2265334" cy="3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rPr lang="fr-FR" sz="2400" dirty="0">
                <a:hlinkClick r:id="rId8"/>
              </a:rPr>
              <a:t>Vidéo </a:t>
            </a:r>
            <a:endParaRPr lang="fr-FR" sz="2400" dirty="0"/>
          </a:p>
          <a:p>
            <a:endParaRPr lang="fr-FR" sz="2400" dirty="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Fond Paris Saint-Germain" descr="Fond Paris Saint-Germain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192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9"/>
            <a:ext cx="6786772" cy="533101"/>
          </a:xfrm>
          <a:prstGeom prst="rect">
            <a:avLst/>
          </a:prstGeom>
        </p:spPr>
        <p:txBody>
          <a:bodyPr/>
          <a:lstStyle>
            <a:lvl1pPr defTabSz="859536">
              <a:defRPr sz="2256"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ETL, EDA et choix de données modèle</a:t>
            </a:r>
          </a:p>
        </p:txBody>
      </p:sp>
      <p:pic>
        <p:nvPicPr>
          <p:cNvPr id="19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19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grpSp>
        <p:nvGrpSpPr>
          <p:cNvPr id="199" name="Groupe 13"/>
          <p:cNvGrpSpPr/>
          <p:nvPr/>
        </p:nvGrpSpPr>
        <p:grpSpPr>
          <a:xfrm>
            <a:off x="817150" y="2657189"/>
            <a:ext cx="5680327" cy="1343029"/>
            <a:chOff x="-2" y="0"/>
            <a:chExt cx="5680325" cy="1343027"/>
          </a:xfrm>
        </p:grpSpPr>
        <p:grpSp>
          <p:nvGrpSpPr>
            <p:cNvPr id="197" name="Groupe 12"/>
            <p:cNvGrpSpPr/>
            <p:nvPr/>
          </p:nvGrpSpPr>
          <p:grpSpPr>
            <a:xfrm>
              <a:off x="-2" y="0"/>
              <a:ext cx="5680325" cy="1343027"/>
              <a:chOff x="-1" y="0"/>
              <a:chExt cx="5680323" cy="1343026"/>
            </a:xfrm>
          </p:grpSpPr>
          <p:sp>
            <p:nvSpPr>
              <p:cNvPr id="195" name="Rectangle"/>
              <p:cNvSpPr/>
              <p:nvPr/>
            </p:nvSpPr>
            <p:spPr>
              <a:xfrm>
                <a:off x="-1" y="0"/>
                <a:ext cx="5680323" cy="1343026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196" name="Décision structurante"/>
              <p:cNvSpPr txBox="1"/>
              <p:nvPr/>
            </p:nvSpPr>
            <p:spPr>
              <a:xfrm>
                <a:off x="100268" y="309245"/>
                <a:ext cx="2788923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Décision structurante</a:t>
                </a:r>
              </a:p>
            </p:txBody>
          </p:sp>
        </p:grpSp>
        <p:sp>
          <p:nvSpPr>
            <p:cNvPr id="198" name="Conserver l'information joueur détaillée, puis tester si les abstractions apportent vraiment de la performance."/>
            <p:cNvSpPr txBox="1"/>
            <p:nvPr/>
          </p:nvSpPr>
          <p:spPr>
            <a:xfrm>
              <a:off x="100268" y="682943"/>
              <a:ext cx="5392018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Conserver l'information joueur détaillée, puis tester si les abstractions apportent vraiment de la performance.</a:t>
              </a:r>
            </a:p>
          </p:txBody>
        </p:sp>
      </p:grpSp>
      <p:grpSp>
        <p:nvGrpSpPr>
          <p:cNvPr id="202" name="Rectangle"/>
          <p:cNvGrpSpPr/>
          <p:nvPr/>
        </p:nvGrpSpPr>
        <p:grpSpPr>
          <a:xfrm>
            <a:off x="817151" y="1284870"/>
            <a:ext cx="5778384" cy="662464"/>
            <a:chOff x="-1" y="0"/>
            <a:chExt cx="5778382" cy="662462"/>
          </a:xfrm>
        </p:grpSpPr>
        <p:sp>
          <p:nvSpPr>
            <p:cNvPr id="200" name="Rectangle"/>
            <p:cNvSpPr/>
            <p:nvPr/>
          </p:nvSpPr>
          <p:spPr>
            <a:xfrm>
              <a:off x="-1" y="0"/>
              <a:ext cx="5778382" cy="662462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000"/>
              </a:pPr>
              <a:endParaRPr/>
            </a:p>
          </p:txBody>
        </p:sp>
        <p:sp>
          <p:nvSpPr>
            <p:cNvPr id="201" name="Objectif: transformer des données football hétérogènes en datasets fiables pour entraîner et comparer les modèles."/>
            <p:cNvSpPr txBox="1"/>
            <p:nvPr/>
          </p:nvSpPr>
          <p:spPr>
            <a:xfrm>
              <a:off x="-1" y="0"/>
              <a:ext cx="5778382" cy="609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r>
                <a:t>Objectif</a:t>
              </a:r>
              <a:r>
                <a:rPr b="0"/>
                <a:t>: transformer des données football hétérogènes en datasets fiables pour entraîner et comparer les modèles.</a:t>
              </a:r>
            </a:p>
          </p:txBody>
        </p:sp>
      </p:grp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Fond Girondins de Bordeaux" descr="Fond Girondins de Bordeaux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30174" y="-1"/>
            <a:ext cx="9144001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205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9"/>
            <a:ext cx="8097985" cy="533101"/>
          </a:xfrm>
          <a:prstGeom prst="rect">
            <a:avLst/>
          </a:prstGeom>
        </p:spPr>
        <p:txBody>
          <a:bodyPr/>
          <a:lstStyle/>
          <a:p>
            <a:pPr defTabSz="740663">
              <a:defRPr sz="2025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ETL : </a:t>
            </a:r>
            <a:r>
              <a:rPr>
                <a:solidFill>
                  <a:srgbClr val="000000"/>
                </a:solidFill>
              </a:rPr>
              <a:t>données</a:t>
            </a:r>
            <a:r>
              <a:rPr sz="2268">
                <a:solidFill>
                  <a:srgbClr val="000000"/>
                </a:solidFill>
              </a:rPr>
              <a:t> passent par trois niveaux clairs</a:t>
            </a:r>
          </a:p>
        </p:txBody>
      </p:sp>
      <p:pic>
        <p:nvPicPr>
          <p:cNvPr id="206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207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grpSp>
        <p:nvGrpSpPr>
          <p:cNvPr id="213" name="Groupe 42"/>
          <p:cNvGrpSpPr/>
          <p:nvPr/>
        </p:nvGrpSpPr>
        <p:grpSpPr>
          <a:xfrm>
            <a:off x="340861" y="1191904"/>
            <a:ext cx="2510119" cy="1476047"/>
            <a:chOff x="0" y="0"/>
            <a:chExt cx="2510118" cy="1476047"/>
          </a:xfrm>
        </p:grpSpPr>
        <p:sp>
          <p:nvSpPr>
            <p:cNvPr id="208" name="Sources"/>
            <p:cNvSpPr txBox="1"/>
            <p:nvPr/>
          </p:nvSpPr>
          <p:spPr>
            <a:xfrm>
              <a:off x="351033" y="0"/>
              <a:ext cx="2159085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Sources</a:t>
              </a:r>
            </a:p>
          </p:txBody>
        </p:sp>
        <p:grpSp>
          <p:nvGrpSpPr>
            <p:cNvPr id="212" name="Groupe 29"/>
            <p:cNvGrpSpPr/>
            <p:nvPr/>
          </p:nvGrpSpPr>
          <p:grpSpPr>
            <a:xfrm>
              <a:off x="0" y="379061"/>
              <a:ext cx="2320746" cy="1096986"/>
              <a:chOff x="0" y="0"/>
              <a:chExt cx="2320745" cy="1096984"/>
            </a:xfrm>
          </p:grpSpPr>
          <p:sp>
            <p:nvSpPr>
              <p:cNvPr id="209" name="Rectangle"/>
              <p:cNvSpPr/>
              <p:nvPr/>
            </p:nvSpPr>
            <p:spPr>
              <a:xfrm>
                <a:off x="0" y="0"/>
                <a:ext cx="2320745" cy="1096984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210" name="SoFIFA"/>
              <p:cNvSpPr txBox="1"/>
              <p:nvPr/>
            </p:nvSpPr>
            <p:spPr>
              <a:xfrm>
                <a:off x="110337" y="97961"/>
                <a:ext cx="1564874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SoFIFA</a:t>
                </a:r>
              </a:p>
            </p:txBody>
          </p:sp>
          <p:sp>
            <p:nvSpPr>
              <p:cNvPr id="211" name="Scraping des notes détaillées joueurs: attaque, technique, mouvement, défense, gardien."/>
              <p:cNvSpPr txBox="1"/>
              <p:nvPr/>
            </p:nvSpPr>
            <p:spPr>
              <a:xfrm>
                <a:off x="110337" y="387557"/>
                <a:ext cx="2096149" cy="5638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Scraping des notes détaillées joueurs: attaque, technique, mouvement, défense, gardien.</a:t>
                </a:r>
              </a:p>
            </p:txBody>
          </p:sp>
        </p:grpSp>
      </p:grpSp>
      <p:grpSp>
        <p:nvGrpSpPr>
          <p:cNvPr id="218" name="Groupe 28"/>
          <p:cNvGrpSpPr/>
          <p:nvPr/>
        </p:nvGrpSpPr>
        <p:grpSpPr>
          <a:xfrm>
            <a:off x="340861" y="3612990"/>
            <a:ext cx="2540364" cy="1071566"/>
            <a:chOff x="0" y="-1"/>
            <a:chExt cx="2540363" cy="1071565"/>
          </a:xfrm>
        </p:grpSpPr>
        <p:grpSp>
          <p:nvGrpSpPr>
            <p:cNvPr id="216" name="Groupe 27"/>
            <p:cNvGrpSpPr/>
            <p:nvPr/>
          </p:nvGrpSpPr>
          <p:grpSpPr>
            <a:xfrm>
              <a:off x="0" y="-1"/>
              <a:ext cx="2540363" cy="1071565"/>
              <a:chOff x="0" y="-1"/>
              <a:chExt cx="2540362" cy="1071564"/>
            </a:xfrm>
          </p:grpSpPr>
          <p:sp>
            <p:nvSpPr>
              <p:cNvPr id="214" name="Rectangle"/>
              <p:cNvSpPr/>
              <p:nvPr/>
            </p:nvSpPr>
            <p:spPr>
              <a:xfrm>
                <a:off x="0" y="-1"/>
                <a:ext cx="2305912" cy="1071564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215" name="Transfermarkt"/>
              <p:cNvSpPr txBox="1"/>
              <p:nvPr/>
            </p:nvSpPr>
            <p:spPr>
              <a:xfrm>
                <a:off x="127363" y="124924"/>
                <a:ext cx="2412999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Transfermarkt</a:t>
                </a:r>
              </a:p>
            </p:txBody>
          </p:sp>
        </p:grpSp>
        <p:sp>
          <p:nvSpPr>
            <p:cNvPr id="217" name="CSV GitHub: matchs, lineups, joueurs, clubs et transferts. Mise à jour régulière."/>
            <p:cNvSpPr txBox="1"/>
            <p:nvPr/>
          </p:nvSpPr>
          <p:spPr>
            <a:xfrm>
              <a:off x="111578" y="452478"/>
              <a:ext cx="2082753" cy="56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CSV GitHub: matchs, lineups, joueurs, clubs et transferts. Mise à jour régulière.</a:t>
              </a:r>
            </a:p>
          </p:txBody>
        </p:sp>
      </p:grpSp>
      <p:grpSp>
        <p:nvGrpSpPr>
          <p:cNvPr id="221" name="Groupe 31"/>
          <p:cNvGrpSpPr/>
          <p:nvPr/>
        </p:nvGrpSpPr>
        <p:grpSpPr>
          <a:xfrm>
            <a:off x="3010220" y="3001971"/>
            <a:ext cx="866912" cy="418795"/>
            <a:chOff x="0" y="0"/>
            <a:chExt cx="866910" cy="418793"/>
          </a:xfrm>
        </p:grpSpPr>
        <p:sp>
          <p:nvSpPr>
            <p:cNvPr id="219" name="Rectangle"/>
            <p:cNvSpPr/>
            <p:nvPr/>
          </p:nvSpPr>
          <p:spPr>
            <a:xfrm>
              <a:off x="0" y="0"/>
              <a:ext cx="866910" cy="418793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000"/>
              </a:pPr>
              <a:endParaRPr/>
            </a:p>
          </p:txBody>
        </p:sp>
        <p:sp>
          <p:nvSpPr>
            <p:cNvPr id="220" name="/raw"/>
            <p:cNvSpPr txBox="1"/>
            <p:nvPr/>
          </p:nvSpPr>
          <p:spPr>
            <a:xfrm>
              <a:off x="81356" y="11430"/>
              <a:ext cx="661520" cy="2336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/raw</a:t>
              </a:r>
            </a:p>
          </p:txBody>
        </p:sp>
      </p:grpSp>
      <p:grpSp>
        <p:nvGrpSpPr>
          <p:cNvPr id="225" name="Groupe 30"/>
          <p:cNvGrpSpPr/>
          <p:nvPr/>
        </p:nvGrpSpPr>
        <p:grpSpPr>
          <a:xfrm>
            <a:off x="3776910" y="1101850"/>
            <a:ext cx="2894651" cy="1096275"/>
            <a:chOff x="0" y="0"/>
            <a:chExt cx="2894650" cy="1096273"/>
          </a:xfrm>
        </p:grpSpPr>
        <p:sp>
          <p:nvSpPr>
            <p:cNvPr id="222" name="Rectangle"/>
            <p:cNvSpPr/>
            <p:nvPr/>
          </p:nvSpPr>
          <p:spPr>
            <a:xfrm>
              <a:off x="0" y="0"/>
              <a:ext cx="2894650" cy="1071563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000"/>
              </a:pPr>
              <a:endParaRPr/>
            </a:p>
          </p:txBody>
        </p:sp>
        <p:sp>
          <p:nvSpPr>
            <p:cNvPr id="223" name="/staging"/>
            <p:cNvSpPr txBox="1"/>
            <p:nvPr/>
          </p:nvSpPr>
          <p:spPr>
            <a:xfrm>
              <a:off x="209306" y="102169"/>
              <a:ext cx="2208841" cy="2041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000" b="1">
                  <a:solidFill>
                    <a:srgbClr val="2563EB"/>
                  </a:solidFill>
                </a:defRPr>
              </a:lvl1pPr>
            </a:lstStyle>
            <a:p>
              <a:r>
                <a:t>/staging</a:t>
              </a:r>
            </a:p>
          </p:txBody>
        </p:sp>
        <p:sp>
          <p:nvSpPr>
            <p:cNvPr id="224" name="training_match_dataset et match_outcome_team_ratings dans NeonDB."/>
            <p:cNvSpPr txBox="1"/>
            <p:nvPr/>
          </p:nvSpPr>
          <p:spPr>
            <a:xfrm>
              <a:off x="209306" y="309196"/>
              <a:ext cx="2534997" cy="7870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900"/>
              </a:pPr>
              <a:r>
                <a:t>training_match_dataset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900"/>
              </a:pPr>
              <a:r>
                <a:t>match_outcome_team_ratings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/>
              </a:pPr>
              <a:r>
                <a:t>Clé de passage: réconciliation player_id SoFIFA et Transfermarkt.</a:t>
              </a:r>
              <a:endParaRPr sz="1300"/>
            </a:p>
          </p:txBody>
        </p:sp>
      </p:grpSp>
      <p:grpSp>
        <p:nvGrpSpPr>
          <p:cNvPr id="232" name="Groupe 34"/>
          <p:cNvGrpSpPr/>
          <p:nvPr/>
        </p:nvGrpSpPr>
        <p:grpSpPr>
          <a:xfrm>
            <a:off x="7019904" y="2015012"/>
            <a:ext cx="1931676" cy="1477241"/>
            <a:chOff x="-1" y="0"/>
            <a:chExt cx="1931675" cy="1477241"/>
          </a:xfrm>
        </p:grpSpPr>
        <p:sp>
          <p:nvSpPr>
            <p:cNvPr id="226" name="Analyse et modeles"/>
            <p:cNvSpPr txBox="1"/>
            <p:nvPr/>
          </p:nvSpPr>
          <p:spPr>
            <a:xfrm>
              <a:off x="106698" y="0"/>
              <a:ext cx="1788798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Analyse et modeles</a:t>
              </a:r>
            </a:p>
          </p:txBody>
        </p:sp>
        <p:grpSp>
          <p:nvGrpSpPr>
            <p:cNvPr id="231" name="Groupe 33"/>
            <p:cNvGrpSpPr/>
            <p:nvPr/>
          </p:nvGrpSpPr>
          <p:grpSpPr>
            <a:xfrm>
              <a:off x="-1" y="314798"/>
              <a:ext cx="1931675" cy="1162443"/>
              <a:chOff x="-1" y="0"/>
              <a:chExt cx="1931674" cy="1162441"/>
            </a:xfrm>
          </p:grpSpPr>
          <p:grpSp>
            <p:nvGrpSpPr>
              <p:cNvPr id="229" name="Groupe 32"/>
              <p:cNvGrpSpPr/>
              <p:nvPr/>
            </p:nvGrpSpPr>
            <p:grpSpPr>
              <a:xfrm>
                <a:off x="-1" y="0"/>
                <a:ext cx="1931674" cy="1071564"/>
                <a:chOff x="-1" y="0"/>
                <a:chExt cx="1931673" cy="1071563"/>
              </a:xfrm>
            </p:grpSpPr>
            <p:sp>
              <p:nvSpPr>
                <p:cNvPr id="227" name="Rectangle"/>
                <p:cNvSpPr/>
                <p:nvPr/>
              </p:nvSpPr>
              <p:spPr>
                <a:xfrm>
                  <a:off x="-1" y="0"/>
                  <a:ext cx="1931673" cy="1071563"/>
                </a:xfrm>
                <a:prstGeom prst="rect">
                  <a:avLst/>
                </a:prstGeom>
                <a:solidFill>
                  <a:schemeClr val="accent2">
                    <a:lumOff val="80020"/>
                  </a:scheme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>
                    <a:defRPr sz="1000"/>
                  </a:pPr>
                  <a:endParaRPr/>
                </a:p>
              </p:txBody>
            </p:sp>
            <p:sp>
              <p:nvSpPr>
                <p:cNvPr id="228" name="/curated"/>
                <p:cNvSpPr txBox="1"/>
                <p:nvPr/>
              </p:nvSpPr>
              <p:spPr>
                <a:xfrm>
                  <a:off x="78123" y="112065"/>
                  <a:ext cx="1845948" cy="23367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34289" tIns="34289" rIns="34289" bIns="34289" numCol="1" anchor="t">
                  <a:spAutoFit/>
                </a:bodyPr>
                <a:lstStyle>
                  <a:lvl1pPr>
                    <a:defRPr sz="1100" b="1">
                      <a:solidFill>
                        <a:srgbClr val="15803D"/>
                      </a:solidFill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/curated</a:t>
                  </a:r>
                </a:p>
              </p:txBody>
            </p:sp>
          </p:grpSp>
          <p:sp>
            <p:nvSpPr>
              <p:cNvPr id="230" name="Datasets locaux de notebook pour entraînement ML, dont training_dataset_df."/>
              <p:cNvSpPr txBox="1"/>
              <p:nvPr/>
            </p:nvSpPr>
            <p:spPr>
              <a:xfrm>
                <a:off x="78123" y="433462"/>
                <a:ext cx="1845948" cy="7289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Datasets locaux de notebook pour entraînement ML, dont training_dataset_df.</a:t>
                </a:r>
              </a:p>
            </p:txBody>
          </p:sp>
        </p:grpSp>
      </p:grpSp>
      <p:grpSp>
        <p:nvGrpSpPr>
          <p:cNvPr id="235" name="Groupe 35"/>
          <p:cNvGrpSpPr/>
          <p:nvPr/>
        </p:nvGrpSpPr>
        <p:grpSpPr>
          <a:xfrm>
            <a:off x="3152738" y="1081898"/>
            <a:ext cx="806201" cy="1390011"/>
            <a:chOff x="0" y="0"/>
            <a:chExt cx="806199" cy="1390010"/>
          </a:xfrm>
        </p:grpSpPr>
        <p:pic>
          <p:nvPicPr>
            <p:cNvPr id="233" name="Image 36" descr="Image 3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-1"/>
              <a:ext cx="759821" cy="69836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34" name="Image 37" descr="Image 3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380" y="611658"/>
              <a:ext cx="759821" cy="77835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36" name="Image 57" descr="Image 5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6605" y="3484124"/>
            <a:ext cx="1196483" cy="577613"/>
          </a:xfrm>
          <a:prstGeom prst="rect">
            <a:avLst/>
          </a:prstGeom>
          <a:ln w="12700">
            <a:miter lim="400000"/>
          </a:ln>
        </p:spPr>
      </p:pic>
      <p:sp>
        <p:nvSpPr>
          <p:cNvPr id="237" name="Fleche FastAPI vers Render"/>
          <p:cNvSpPr/>
          <p:nvPr/>
        </p:nvSpPr>
        <p:spPr>
          <a:xfrm>
            <a:off x="5293038" y="2249170"/>
            <a:ext cx="1726869" cy="61642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38" name="Fleche FastAPI vers Render"/>
          <p:cNvSpPr/>
          <p:nvPr/>
        </p:nvSpPr>
        <p:spPr>
          <a:xfrm flipV="1">
            <a:off x="3443675" y="2249848"/>
            <a:ext cx="1810039" cy="75212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39" name="Fleche FastAPI vers Render"/>
          <p:cNvSpPr/>
          <p:nvPr/>
        </p:nvSpPr>
        <p:spPr>
          <a:xfrm>
            <a:off x="2661605" y="2119458"/>
            <a:ext cx="348616" cy="109191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0" name="Fleche FastAPI vers Render"/>
          <p:cNvSpPr/>
          <p:nvPr/>
        </p:nvSpPr>
        <p:spPr>
          <a:xfrm flipV="1">
            <a:off x="2646773" y="3211367"/>
            <a:ext cx="363449" cy="93740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Fond Pau FC" descr="Fond Pau FC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243" name="Google Shape;75;p16"/>
          <p:cNvSpPr txBox="1">
            <a:spLocks noGrp="1"/>
          </p:cNvSpPr>
          <p:nvPr>
            <p:ph type="title"/>
          </p:nvPr>
        </p:nvSpPr>
        <p:spPr>
          <a:xfrm>
            <a:off x="1192662" y="403309"/>
            <a:ext cx="8218756" cy="533101"/>
          </a:xfrm>
          <a:prstGeom prst="rect">
            <a:avLst/>
          </a:prstGeom>
        </p:spPr>
        <p:txBody>
          <a:bodyPr/>
          <a:lstStyle/>
          <a:p>
            <a:pPr defTabSz="365760">
              <a:defRPr sz="1120"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EDA : </a:t>
            </a:r>
            <a:r>
              <a:rPr sz="1000"/>
              <a:t>sécurise</a:t>
            </a:r>
            <a:r>
              <a:t> le dataset d'entraînement</a:t>
            </a:r>
            <a:br/>
            <a:endParaRPr/>
          </a:p>
        </p:txBody>
      </p:sp>
      <p:pic>
        <p:nvPicPr>
          <p:cNvPr id="244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245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46" name="Périmètre: matchs UEFA des 5 dernières années, entre les 100 meilleurs clubs UEFA."/>
          <p:cNvSpPr txBox="1"/>
          <p:nvPr/>
        </p:nvSpPr>
        <p:spPr>
          <a:xfrm>
            <a:off x="800100" y="1147038"/>
            <a:ext cx="678942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solidFill>
                  <a:srgbClr val="555555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Périmètre: matchs UEFA des 5 dernières années, entre les 100 meilleurs clubs UEFA.</a:t>
            </a:r>
          </a:p>
        </p:txBody>
      </p:sp>
      <p:grpSp>
        <p:nvGrpSpPr>
          <p:cNvPr id="251" name="Groupe 33"/>
          <p:cNvGrpSpPr/>
          <p:nvPr/>
        </p:nvGrpSpPr>
        <p:grpSpPr>
          <a:xfrm>
            <a:off x="751822" y="1784184"/>
            <a:ext cx="1928819" cy="1985968"/>
            <a:chOff x="-2" y="-2"/>
            <a:chExt cx="1928817" cy="1985967"/>
          </a:xfrm>
        </p:grpSpPr>
        <p:grpSp>
          <p:nvGrpSpPr>
            <p:cNvPr id="249" name="Groupe 32"/>
            <p:cNvGrpSpPr/>
            <p:nvPr/>
          </p:nvGrpSpPr>
          <p:grpSpPr>
            <a:xfrm>
              <a:off x="-2" y="-2"/>
              <a:ext cx="1928817" cy="1985967"/>
              <a:chOff x="-1" y="-1"/>
              <a:chExt cx="1928815" cy="1985965"/>
            </a:xfrm>
          </p:grpSpPr>
          <p:sp>
            <p:nvSpPr>
              <p:cNvPr id="247" name="Rectangle"/>
              <p:cNvSpPr/>
              <p:nvPr/>
            </p:nvSpPr>
            <p:spPr>
              <a:xfrm>
                <a:off x="-1" y="-1"/>
                <a:ext cx="1928815" cy="1985965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248" name="100"/>
              <p:cNvSpPr txBox="1"/>
              <p:nvPr/>
            </p:nvSpPr>
            <p:spPr>
              <a:xfrm>
                <a:off x="234315" y="268607"/>
                <a:ext cx="1503048" cy="59889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/>
                </a:lvl1pPr>
              </a:lstStyle>
              <a:p>
                <a:r>
                  <a:t>100</a:t>
                </a:r>
              </a:p>
            </p:txBody>
          </p:sp>
        </p:grpSp>
        <p:sp>
          <p:nvSpPr>
            <p:cNvPr id="250" name="meilleures équipes UEFA comme base de comparaison"/>
            <p:cNvSpPr txBox="1"/>
            <p:nvPr/>
          </p:nvSpPr>
          <p:spPr>
            <a:xfrm>
              <a:off x="248602" y="1154430"/>
              <a:ext cx="1431610" cy="56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meilleures équipes UEFA comme base de comparaison</a:t>
              </a:r>
            </a:p>
          </p:txBody>
        </p:sp>
      </p:grpSp>
      <p:grpSp>
        <p:nvGrpSpPr>
          <p:cNvPr id="256" name="Groupe 31"/>
          <p:cNvGrpSpPr/>
          <p:nvPr/>
        </p:nvGrpSpPr>
        <p:grpSpPr>
          <a:xfrm>
            <a:off x="3135524" y="1798530"/>
            <a:ext cx="1928818" cy="1985968"/>
            <a:chOff x="-2" y="-2"/>
            <a:chExt cx="1928817" cy="1985967"/>
          </a:xfrm>
        </p:grpSpPr>
        <p:grpSp>
          <p:nvGrpSpPr>
            <p:cNvPr id="254" name="Groupe 30"/>
            <p:cNvGrpSpPr/>
            <p:nvPr/>
          </p:nvGrpSpPr>
          <p:grpSpPr>
            <a:xfrm>
              <a:off x="-2" y="-2"/>
              <a:ext cx="1928817" cy="1985967"/>
              <a:chOff x="-1" y="-1"/>
              <a:chExt cx="1928815" cy="1985965"/>
            </a:xfrm>
          </p:grpSpPr>
          <p:sp>
            <p:nvSpPr>
              <p:cNvPr id="252" name="Rectangle"/>
              <p:cNvSpPr/>
              <p:nvPr/>
            </p:nvSpPr>
            <p:spPr>
              <a:xfrm>
                <a:off x="-1" y="-1"/>
                <a:ext cx="1928815" cy="1985965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253" name="6000"/>
              <p:cNvSpPr txBox="1"/>
              <p:nvPr/>
            </p:nvSpPr>
            <p:spPr>
              <a:xfrm>
                <a:off x="234314" y="268607"/>
                <a:ext cx="1503048" cy="59889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/>
                </a:lvl1pPr>
              </a:lstStyle>
              <a:p>
                <a:r>
                  <a:t>6000</a:t>
                </a:r>
              </a:p>
            </p:txBody>
          </p:sp>
        </p:grpSp>
        <p:sp>
          <p:nvSpPr>
            <p:cNvPr id="255" name="matchs environ avant jointure complète"/>
            <p:cNvSpPr txBox="1"/>
            <p:nvPr/>
          </p:nvSpPr>
          <p:spPr>
            <a:xfrm>
              <a:off x="248602" y="1154430"/>
              <a:ext cx="1431610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environ avant jointure complète</a:t>
              </a:r>
            </a:p>
          </p:txBody>
        </p:sp>
      </p:grpSp>
      <p:grpSp>
        <p:nvGrpSpPr>
          <p:cNvPr id="261" name="Groupe 29"/>
          <p:cNvGrpSpPr/>
          <p:nvPr/>
        </p:nvGrpSpPr>
        <p:grpSpPr>
          <a:xfrm>
            <a:off x="5915157" y="1784184"/>
            <a:ext cx="1928818" cy="1985968"/>
            <a:chOff x="-2" y="-2"/>
            <a:chExt cx="1928817" cy="1985967"/>
          </a:xfrm>
        </p:grpSpPr>
        <p:grpSp>
          <p:nvGrpSpPr>
            <p:cNvPr id="259" name="Groupe 28"/>
            <p:cNvGrpSpPr/>
            <p:nvPr/>
          </p:nvGrpSpPr>
          <p:grpSpPr>
            <a:xfrm>
              <a:off x="-2" y="-2"/>
              <a:ext cx="1928817" cy="1985967"/>
              <a:chOff x="-1" y="-1"/>
              <a:chExt cx="1928815" cy="1985965"/>
            </a:xfrm>
          </p:grpSpPr>
          <p:sp>
            <p:nvSpPr>
              <p:cNvPr id="257" name="Rectangle"/>
              <p:cNvSpPr/>
              <p:nvPr/>
            </p:nvSpPr>
            <p:spPr>
              <a:xfrm>
                <a:off x="-1" y="-1"/>
                <a:ext cx="1928815" cy="1985965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258" name="3800"/>
              <p:cNvSpPr txBox="1"/>
              <p:nvPr/>
            </p:nvSpPr>
            <p:spPr>
              <a:xfrm>
                <a:off x="212884" y="268607"/>
                <a:ext cx="1503048" cy="59889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/>
                </a:lvl1pPr>
              </a:lstStyle>
              <a:p>
                <a:r>
                  <a:t>3800</a:t>
                </a:r>
              </a:p>
            </p:txBody>
          </p:sp>
        </p:grpSp>
        <p:sp>
          <p:nvSpPr>
            <p:cNvPr id="260" name="matchs exploitables après retrait des NaN"/>
            <p:cNvSpPr txBox="1"/>
            <p:nvPr/>
          </p:nvSpPr>
          <p:spPr>
            <a:xfrm>
              <a:off x="227171" y="1154430"/>
              <a:ext cx="1431610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exploitables après retrait des NaN</a:t>
              </a:r>
            </a:p>
          </p:txBody>
        </p:sp>
      </p:grpSp>
      <p:sp>
        <p:nvSpPr>
          <p:cNvPr id="262" name="Conclusion modele"/>
          <p:cNvSpPr txBox="1"/>
          <p:nvPr/>
        </p:nvSpPr>
        <p:spPr>
          <a:xfrm>
            <a:off x="334327" y="4240531"/>
            <a:ext cx="193167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Conclusion modele</a:t>
            </a:r>
          </a:p>
        </p:txBody>
      </p:sp>
      <p:sp>
        <p:nvSpPr>
          <p:cNvPr id="263" name="Le clustering joueurs a surtout séparé les niveaux de force, pas des profils techniques nets. Dans cette version, il réduit l'information et dégrade la performance."/>
          <p:cNvSpPr txBox="1"/>
          <p:nvPr/>
        </p:nvSpPr>
        <p:spPr>
          <a:xfrm>
            <a:off x="2384986" y="4168550"/>
            <a:ext cx="5646423" cy="3987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Le clustering joueurs a surtout séparé les niveaux de force, pas des profils techniques nets. Dans cette version, il réduit l'information et dégrade la performance.</a:t>
            </a:r>
          </a:p>
        </p:txBody>
      </p:sp>
      <p:sp>
        <p:nvSpPr>
          <p:cNvPr id="264" name="3"/>
          <p:cNvSpPr txBox="1"/>
          <p:nvPr/>
        </p:nvSpPr>
        <p:spPr>
          <a:xfrm>
            <a:off x="8492489" y="4726306"/>
            <a:ext cx="317185" cy="154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 algn="r">
              <a:defRPr sz="700">
                <a:solidFill>
                  <a:srgbClr val="555555"/>
                </a:solidFill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Fond FC Barcelone" descr="Fond FC Barcelone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Entrainement</a:t>
            </a:r>
          </a:p>
        </p:txBody>
      </p:sp>
      <p:pic>
        <p:nvPicPr>
          <p:cNvPr id="268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grpSp>
        <p:nvGrpSpPr>
          <p:cNvPr id="272" name="Groupe 27"/>
          <p:cNvGrpSpPr/>
          <p:nvPr/>
        </p:nvGrpSpPr>
        <p:grpSpPr>
          <a:xfrm>
            <a:off x="7096703" y="1678903"/>
            <a:ext cx="1143100" cy="1615649"/>
            <a:chOff x="0" y="0"/>
            <a:chExt cx="1143099" cy="1615648"/>
          </a:xfrm>
        </p:grpSpPr>
        <p:pic>
          <p:nvPicPr>
            <p:cNvPr id="270" name="Image 7" descr="Image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396341"/>
              <a:ext cx="1143100" cy="121930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1" name="Image 13" descr="Image 1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0147" y="-1"/>
              <a:ext cx="844692" cy="53069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76" name="Groupe 17"/>
          <p:cNvGrpSpPr/>
          <p:nvPr/>
        </p:nvGrpSpPr>
        <p:grpSpPr>
          <a:xfrm>
            <a:off x="2546643" y="1488950"/>
            <a:ext cx="2268736" cy="2356463"/>
            <a:chOff x="0" y="0"/>
            <a:chExt cx="2268734" cy="2356463"/>
          </a:xfrm>
        </p:grpSpPr>
        <p:pic>
          <p:nvPicPr>
            <p:cNvPr id="273" name="Image 2" descr="Image 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3865" y="837871"/>
              <a:ext cx="1196483" cy="5776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4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206" y="0"/>
              <a:ext cx="699801" cy="62720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75" name="ZoneTexte 16"/>
            <p:cNvSpPr txBox="1"/>
            <p:nvPr/>
          </p:nvSpPr>
          <p:spPr>
            <a:xfrm>
              <a:off x="0" y="1617322"/>
              <a:ext cx="2268734" cy="739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Construction dataset</a:t>
              </a:r>
              <a:br/>
              <a:r>
                <a:t>et entrainement du modèle </a:t>
              </a:r>
            </a:p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en Local</a:t>
              </a:r>
            </a:p>
          </p:txBody>
        </p:sp>
      </p:grpSp>
      <p:sp>
        <p:nvSpPr>
          <p:cNvPr id="291" name="Fleche FastAPI vers Render"/>
          <p:cNvSpPr/>
          <p:nvPr/>
        </p:nvSpPr>
        <p:spPr>
          <a:xfrm>
            <a:off x="1664018" y="2785794"/>
            <a:ext cx="1026492" cy="122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2" name="Fleche FastAPI vers Render"/>
          <p:cNvSpPr/>
          <p:nvPr/>
        </p:nvSpPr>
        <p:spPr>
          <a:xfrm>
            <a:off x="3886991" y="2579290"/>
            <a:ext cx="863916" cy="709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3" name="Fleche FastAPI vers Render"/>
          <p:cNvSpPr/>
          <p:nvPr/>
        </p:nvSpPr>
        <p:spPr>
          <a:xfrm>
            <a:off x="6259797" y="2494809"/>
            <a:ext cx="836907" cy="11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282" name="Groupe 36"/>
          <p:cNvGrpSpPr/>
          <p:nvPr/>
        </p:nvGrpSpPr>
        <p:grpSpPr>
          <a:xfrm>
            <a:off x="904198" y="2278927"/>
            <a:ext cx="759821" cy="1350567"/>
            <a:chOff x="0" y="0"/>
            <a:chExt cx="759819" cy="1350566"/>
          </a:xfrm>
        </p:grpSpPr>
        <p:pic>
          <p:nvPicPr>
            <p:cNvPr id="280" name="Image 9" descr="Image 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0" y="-1"/>
              <a:ext cx="759820" cy="69836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81" name="Image 35" descr="Image 3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0" y="572214"/>
              <a:ext cx="759820" cy="77835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89" name="Groupe 39"/>
          <p:cNvGrpSpPr/>
          <p:nvPr/>
        </p:nvGrpSpPr>
        <p:grpSpPr>
          <a:xfrm>
            <a:off x="4750906" y="1740510"/>
            <a:ext cx="1508895" cy="1553608"/>
            <a:chOff x="0" y="0"/>
            <a:chExt cx="1508894" cy="1553606"/>
          </a:xfrm>
        </p:grpSpPr>
        <p:grpSp>
          <p:nvGrpSpPr>
            <p:cNvPr id="287" name="Groupe 26"/>
            <p:cNvGrpSpPr/>
            <p:nvPr/>
          </p:nvGrpSpPr>
          <p:grpSpPr>
            <a:xfrm>
              <a:off x="0" y="0"/>
              <a:ext cx="1508894" cy="1553606"/>
              <a:chOff x="0" y="0"/>
              <a:chExt cx="1508893" cy="1553606"/>
            </a:xfrm>
          </p:grpSpPr>
          <p:grpSp>
            <p:nvGrpSpPr>
              <p:cNvPr id="285" name="Groupe 3"/>
              <p:cNvGrpSpPr/>
              <p:nvPr/>
            </p:nvGrpSpPr>
            <p:grpSpPr>
              <a:xfrm>
                <a:off x="0" y="484198"/>
                <a:ext cx="1508893" cy="1069408"/>
                <a:chOff x="0" y="0"/>
                <a:chExt cx="1508892" cy="1069407"/>
              </a:xfrm>
            </p:grpSpPr>
            <p:pic>
              <p:nvPicPr>
                <p:cNvPr id="283" name="Image 4" descr="Image 4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0" y="0"/>
                  <a:ext cx="1508892" cy="76206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284" name="ZoneTexte 5"/>
                <p:cNvSpPr txBox="1"/>
                <p:nvPr/>
              </p:nvSpPr>
              <p:spPr>
                <a:xfrm>
                  <a:off x="345738" y="762066"/>
                  <a:ext cx="779400" cy="30734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none" lIns="45719" tIns="45719" rIns="45719" bIns="45719" numCol="1" anchor="t">
                  <a:spAutoFit/>
                </a:bodyPr>
                <a:lstStyle>
                  <a:lvl1pPr>
                    <a:defRPr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Tracking</a:t>
                  </a:r>
                </a:p>
              </p:txBody>
            </p:sp>
          </p:grpSp>
          <p:pic>
            <p:nvPicPr>
              <p:cNvPr id="286" name="Image 11" descr="Image 11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90419" y="0"/>
                <a:ext cx="728055" cy="59903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288" name="Image 38" descr="Image 3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38058" y="320055"/>
              <a:ext cx="351248" cy="21337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90" name="Image 41" descr="Image 4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2480" y="3816081"/>
            <a:ext cx="759821" cy="4106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5" name="Fond OM" descr="Fond OM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64178" y="-322616"/>
            <a:ext cx="9144001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Inference</a:t>
            </a:r>
          </a:p>
        </p:txBody>
      </p:sp>
      <p:pic>
        <p:nvPicPr>
          <p:cNvPr id="297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298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299" name="Image 19" descr="Imag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482" y="1035810"/>
            <a:ext cx="1010880" cy="31906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02" name="Groupe 83"/>
          <p:cNvGrpSpPr/>
          <p:nvPr/>
        </p:nvGrpSpPr>
        <p:grpSpPr>
          <a:xfrm>
            <a:off x="372632" y="3143070"/>
            <a:ext cx="1143101" cy="1543938"/>
            <a:chOff x="0" y="0"/>
            <a:chExt cx="1143099" cy="1543937"/>
          </a:xfrm>
        </p:grpSpPr>
        <p:pic>
          <p:nvPicPr>
            <p:cNvPr id="300" name="Image 11" descr="Imag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324630"/>
              <a:ext cx="1143100" cy="121930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01" name="Image 23" descr="Image 2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4525" y="-1"/>
              <a:ext cx="844691" cy="53069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349" name="Fleche FastAPI vers LLM"/>
          <p:cNvSpPr/>
          <p:nvPr/>
        </p:nvSpPr>
        <p:spPr>
          <a:xfrm>
            <a:off x="5789912" y="3528815"/>
            <a:ext cx="1337336" cy="4257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0" name="Fleche FastAPI vers App"/>
          <p:cNvSpPr/>
          <p:nvPr/>
        </p:nvSpPr>
        <p:spPr>
          <a:xfrm>
            <a:off x="2994767" y="2074135"/>
            <a:ext cx="125591" cy="2974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1" name="Fleche FastAPI vers App"/>
          <p:cNvSpPr/>
          <p:nvPr/>
        </p:nvSpPr>
        <p:spPr>
          <a:xfrm>
            <a:off x="4321883" y="4040703"/>
            <a:ext cx="710213" cy="626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2" name="Fleche FastAPI vers App"/>
          <p:cNvSpPr/>
          <p:nvPr/>
        </p:nvSpPr>
        <p:spPr>
          <a:xfrm>
            <a:off x="3104418" y="2995966"/>
            <a:ext cx="1887398" cy="581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3" name="Fleche FastAPI vers Render"/>
          <p:cNvSpPr/>
          <p:nvPr/>
        </p:nvSpPr>
        <p:spPr>
          <a:xfrm>
            <a:off x="3935237" y="1606811"/>
            <a:ext cx="1139246" cy="2012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4" name="Fleche FastAPI vers LLM"/>
          <p:cNvSpPr/>
          <p:nvPr/>
        </p:nvSpPr>
        <p:spPr>
          <a:xfrm>
            <a:off x="5788225" y="1974294"/>
            <a:ext cx="1339023" cy="9893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5" name="Fleche FastAPI vers LLM"/>
          <p:cNvSpPr/>
          <p:nvPr/>
        </p:nvSpPr>
        <p:spPr>
          <a:xfrm>
            <a:off x="6176093" y="3086257"/>
            <a:ext cx="951155" cy="1743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6" name="Fleche FastAPI vers Render"/>
          <p:cNvSpPr/>
          <p:nvPr/>
        </p:nvSpPr>
        <p:spPr>
          <a:xfrm>
            <a:off x="1515732" y="3970583"/>
            <a:ext cx="1297261" cy="1260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313" name="Groupe 91"/>
          <p:cNvGrpSpPr/>
          <p:nvPr/>
        </p:nvGrpSpPr>
        <p:grpSpPr>
          <a:xfrm>
            <a:off x="2298218" y="2371583"/>
            <a:ext cx="806201" cy="1390011"/>
            <a:chOff x="0" y="0"/>
            <a:chExt cx="806199" cy="1390010"/>
          </a:xfrm>
        </p:grpSpPr>
        <p:pic>
          <p:nvPicPr>
            <p:cNvPr id="311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0" y="-1"/>
              <a:ext cx="759821" cy="69836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12" name="Image 90" descr="Image 90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380" y="611658"/>
              <a:ext cx="759821" cy="77835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14" name="Image 93" descr="Image 9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4527" y="482852"/>
            <a:ext cx="707867" cy="681970"/>
          </a:xfrm>
          <a:prstGeom prst="rect">
            <a:avLst/>
          </a:prstGeom>
          <a:ln w="12700">
            <a:miter lim="400000"/>
          </a:ln>
        </p:spPr>
      </p:pic>
      <p:pic>
        <p:nvPicPr>
          <p:cNvPr id="315" name="Encre 94" descr="Encre 9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15473" y="1393654"/>
            <a:ext cx="3861001" cy="3203612"/>
          </a:xfrm>
          <a:prstGeom prst="rect">
            <a:avLst/>
          </a:prstGeom>
          <a:ln w="12700">
            <a:miter lim="400000"/>
          </a:ln>
        </p:spPr>
      </p:pic>
      <p:sp>
        <p:nvSpPr>
          <p:cNvPr id="316" name="Fleche FastAPI vers Render"/>
          <p:cNvSpPr/>
          <p:nvPr/>
        </p:nvSpPr>
        <p:spPr>
          <a:xfrm flipH="1">
            <a:off x="6015519" y="1164820"/>
            <a:ext cx="2153100" cy="3052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23" name="Groupe 212"/>
          <p:cNvGrpSpPr/>
          <p:nvPr/>
        </p:nvGrpSpPr>
        <p:grpSpPr>
          <a:xfrm>
            <a:off x="2812992" y="3443897"/>
            <a:ext cx="1508895" cy="1452151"/>
            <a:chOff x="0" y="0"/>
            <a:chExt cx="1508894" cy="1452150"/>
          </a:xfrm>
        </p:grpSpPr>
        <p:grpSp>
          <p:nvGrpSpPr>
            <p:cNvPr id="321" name="Groupe 52"/>
            <p:cNvGrpSpPr/>
            <p:nvPr/>
          </p:nvGrpSpPr>
          <p:grpSpPr>
            <a:xfrm>
              <a:off x="0" y="0"/>
              <a:ext cx="1508894" cy="1452150"/>
              <a:chOff x="0" y="0"/>
              <a:chExt cx="1508893" cy="1452149"/>
            </a:xfrm>
          </p:grpSpPr>
          <p:grpSp>
            <p:nvGrpSpPr>
              <p:cNvPr id="319" name="Groupe 7"/>
              <p:cNvGrpSpPr/>
              <p:nvPr/>
            </p:nvGrpSpPr>
            <p:grpSpPr>
              <a:xfrm>
                <a:off x="0" y="401258"/>
                <a:ext cx="1508893" cy="1050891"/>
                <a:chOff x="0" y="0"/>
                <a:chExt cx="1508892" cy="1050890"/>
              </a:xfrm>
            </p:grpSpPr>
            <p:pic>
              <p:nvPicPr>
                <p:cNvPr id="317" name="Image 8" descr="Image 8"/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0" y="0"/>
                  <a:ext cx="1508892" cy="76206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318" name="ZoneTexte 9"/>
                <p:cNvSpPr txBox="1"/>
                <p:nvPr/>
              </p:nvSpPr>
              <p:spPr>
                <a:xfrm>
                  <a:off x="345739" y="762066"/>
                  <a:ext cx="588402" cy="288824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none" lIns="45719" tIns="45719" rIns="45719" bIns="45719" numCol="1" anchor="t">
                  <a:spAutoFit/>
                </a:bodyPr>
                <a:lstStyle/>
                <a:p>
                  <a:r>
                    <a:t>Model</a:t>
                  </a:r>
                </a:p>
              </p:txBody>
            </p:sp>
          </p:grpSp>
          <p:pic>
            <p:nvPicPr>
              <p:cNvPr id="320" name="Image 21" descr="Image 21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22990" y="0"/>
                <a:ext cx="728056" cy="59903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22" name="Image 126" descr="Image 126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086753" y="271673"/>
              <a:ext cx="351248" cy="2133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28" name="Groupe 203"/>
          <p:cNvGrpSpPr/>
          <p:nvPr/>
        </p:nvGrpSpPr>
        <p:grpSpPr>
          <a:xfrm>
            <a:off x="5074481" y="1489796"/>
            <a:ext cx="1284872" cy="863623"/>
            <a:chOff x="-1" y="0"/>
            <a:chExt cx="1284871" cy="863623"/>
          </a:xfrm>
        </p:grpSpPr>
        <p:sp>
          <p:nvSpPr>
            <p:cNvPr id="324" name="ZoneTexte 119"/>
            <p:cNvSpPr txBox="1"/>
            <p:nvPr/>
          </p:nvSpPr>
          <p:spPr>
            <a:xfrm>
              <a:off x="281168" y="556282"/>
              <a:ext cx="1003702" cy="307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>
                <a:defRPr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/tchat</a:t>
              </a:r>
            </a:p>
          </p:txBody>
        </p:sp>
        <p:grpSp>
          <p:nvGrpSpPr>
            <p:cNvPr id="327" name="Groupe 202"/>
            <p:cNvGrpSpPr/>
            <p:nvPr/>
          </p:nvGrpSpPr>
          <p:grpSpPr>
            <a:xfrm>
              <a:off x="-1" y="0"/>
              <a:ext cx="1134269" cy="632037"/>
              <a:chOff x="0" y="0"/>
              <a:chExt cx="1134267" cy="632036"/>
            </a:xfrm>
          </p:grpSpPr>
          <p:pic>
            <p:nvPicPr>
              <p:cNvPr id="325" name="Image 6" descr="Image 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0" y="0"/>
                <a:ext cx="713744" cy="6320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26" name="Image 192" descr="Image 192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83019" y="207978"/>
                <a:ext cx="351248" cy="21337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  <p:grpSp>
        <p:nvGrpSpPr>
          <p:cNvPr id="333" name="Groupe 211"/>
          <p:cNvGrpSpPr/>
          <p:nvPr/>
        </p:nvGrpSpPr>
        <p:grpSpPr>
          <a:xfrm>
            <a:off x="6998003" y="2855764"/>
            <a:ext cx="1327674" cy="1005707"/>
            <a:chOff x="0" y="-1"/>
            <a:chExt cx="1327673" cy="1005706"/>
          </a:xfrm>
        </p:grpSpPr>
        <p:grpSp>
          <p:nvGrpSpPr>
            <p:cNvPr id="331" name="Groupe 122"/>
            <p:cNvGrpSpPr/>
            <p:nvPr/>
          </p:nvGrpSpPr>
          <p:grpSpPr>
            <a:xfrm>
              <a:off x="129243" y="-1"/>
              <a:ext cx="1198430" cy="1005706"/>
              <a:chOff x="0" y="0"/>
              <a:chExt cx="1198428" cy="1005705"/>
            </a:xfrm>
          </p:grpSpPr>
          <p:pic>
            <p:nvPicPr>
              <p:cNvPr id="329" name="Image 13" descr="Image 13"/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0" y="0"/>
                <a:ext cx="1198428" cy="69836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0" name="ZoneTexte 114"/>
              <p:cNvSpPr txBox="1"/>
              <p:nvPr/>
            </p:nvSpPr>
            <p:spPr>
              <a:xfrm>
                <a:off x="386153" y="698364"/>
                <a:ext cx="519123" cy="3073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45719" tIns="45719" rIns="45719" bIns="45719" numCol="1" anchor="t">
                <a:spAutoFit/>
              </a:bodyPr>
              <a:lstStyle>
                <a:lvl1pPr>
                  <a:defRPr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Front</a:t>
                </a:r>
              </a:p>
            </p:txBody>
          </p:sp>
        </p:grpSp>
        <p:pic>
          <p:nvPicPr>
            <p:cNvPr id="332" name="Image 194" descr="Image 194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0" y="455330"/>
              <a:ext cx="351247" cy="2133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8" name="Groupe 204"/>
          <p:cNvGrpSpPr/>
          <p:nvPr/>
        </p:nvGrpSpPr>
        <p:grpSpPr>
          <a:xfrm>
            <a:off x="4991814" y="2520993"/>
            <a:ext cx="1184282" cy="913435"/>
            <a:chOff x="-1" y="0"/>
            <a:chExt cx="1184281" cy="913434"/>
          </a:xfrm>
        </p:grpSpPr>
        <p:grpSp>
          <p:nvGrpSpPr>
            <p:cNvPr id="336" name="Groupe 120"/>
            <p:cNvGrpSpPr/>
            <p:nvPr/>
          </p:nvGrpSpPr>
          <p:grpSpPr>
            <a:xfrm>
              <a:off x="-1" y="27498"/>
              <a:ext cx="1184281" cy="885936"/>
              <a:chOff x="0" y="0"/>
              <a:chExt cx="1184279" cy="885936"/>
            </a:xfrm>
          </p:grpSpPr>
          <p:pic>
            <p:nvPicPr>
              <p:cNvPr id="334" name="Image 4" descr="Image 4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0" y="0"/>
                <a:ext cx="713744" cy="6320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5" name="ZoneTexte 117"/>
              <p:cNvSpPr txBox="1"/>
              <p:nvPr/>
            </p:nvSpPr>
            <p:spPr>
              <a:xfrm>
                <a:off x="546478" y="362695"/>
                <a:ext cx="637801" cy="523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45719" tIns="45719" rIns="45719" bIns="45719" numCol="1" anchor="t">
                <a:spAutoFit/>
              </a:bodyPr>
              <a:lstStyle/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/team</a:t>
                </a:r>
              </a:p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/player</a:t>
                </a:r>
              </a:p>
            </p:txBody>
          </p:sp>
        </p:grpSp>
        <p:pic>
          <p:nvPicPr>
            <p:cNvPr id="337" name="Image 196" descr="Image 196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42628" y="0"/>
              <a:ext cx="351248" cy="2133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43" name="Groupe 210"/>
          <p:cNvGrpSpPr/>
          <p:nvPr/>
        </p:nvGrpSpPr>
        <p:grpSpPr>
          <a:xfrm>
            <a:off x="5032095" y="3665180"/>
            <a:ext cx="1348458" cy="632038"/>
            <a:chOff x="0" y="0"/>
            <a:chExt cx="1348457" cy="632037"/>
          </a:xfrm>
        </p:grpSpPr>
        <p:grpSp>
          <p:nvGrpSpPr>
            <p:cNvPr id="341" name="Groupe 121"/>
            <p:cNvGrpSpPr/>
            <p:nvPr/>
          </p:nvGrpSpPr>
          <p:grpSpPr>
            <a:xfrm>
              <a:off x="0" y="0"/>
              <a:ext cx="1348457" cy="632037"/>
              <a:chOff x="0" y="0"/>
              <a:chExt cx="1348455" cy="632036"/>
            </a:xfrm>
          </p:grpSpPr>
          <p:pic>
            <p:nvPicPr>
              <p:cNvPr id="339" name="Image 2" descr="Image 2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0" y="0"/>
                <a:ext cx="713744" cy="6320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40" name="ZoneTexte 115"/>
              <p:cNvSpPr txBox="1"/>
              <p:nvPr/>
            </p:nvSpPr>
            <p:spPr>
              <a:xfrm>
                <a:off x="661255" y="289405"/>
                <a:ext cx="687200" cy="3073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45719" tIns="45719" rIns="45719" bIns="45719" numCol="1" anchor="t">
                <a:spAutoFit/>
              </a:bodyPr>
              <a:lstStyle/>
              <a:p>
                <a:r>
                  <a:t>/</a:t>
                </a:r>
                <a:r>
                  <a:rPr>
                    <a:latin typeface="Inter"/>
                    <a:ea typeface="Inter"/>
                    <a:cs typeface="Inter"/>
                    <a:sym typeface="Inter"/>
                  </a:rPr>
                  <a:t>predict</a:t>
                </a:r>
              </a:p>
            </p:txBody>
          </p:sp>
        </p:grpSp>
        <p:pic>
          <p:nvPicPr>
            <p:cNvPr id="342" name="Image 198" descr="Image 198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18101" y="50390"/>
              <a:ext cx="351248" cy="2133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48" name="Groupe 213"/>
          <p:cNvGrpSpPr/>
          <p:nvPr/>
        </p:nvGrpSpPr>
        <p:grpSpPr>
          <a:xfrm>
            <a:off x="2785854" y="936409"/>
            <a:ext cx="1149385" cy="1137727"/>
            <a:chOff x="0" y="0"/>
            <a:chExt cx="1149383" cy="1137726"/>
          </a:xfrm>
        </p:grpSpPr>
        <p:grpSp>
          <p:nvGrpSpPr>
            <p:cNvPr id="346" name="Groupe 37"/>
            <p:cNvGrpSpPr/>
            <p:nvPr/>
          </p:nvGrpSpPr>
          <p:grpSpPr>
            <a:xfrm>
              <a:off x="209350" y="-1"/>
              <a:ext cx="940034" cy="1137728"/>
              <a:chOff x="0" y="0"/>
              <a:chExt cx="940033" cy="1137726"/>
            </a:xfrm>
          </p:grpSpPr>
          <p:pic>
            <p:nvPicPr>
              <p:cNvPr id="344" name="Image 27" descr="Image 27"/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52389" y="-1"/>
                <a:ext cx="571732" cy="63821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45" name="Image 17" descr="Image 17"/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0" y="555405"/>
                <a:ext cx="940034" cy="58232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47" name="Image 201" descr="Image 201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0" y="419988"/>
              <a:ext cx="351248" cy="21337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Fond Manchester United" descr="Fond Manchester United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359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Evolutions</a:t>
            </a:r>
          </a:p>
        </p:txBody>
      </p:sp>
      <p:pic>
        <p:nvPicPr>
          <p:cNvPr id="360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361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62" name="ZoneTexte 2"/>
          <p:cNvSpPr txBox="1"/>
          <p:nvPr/>
        </p:nvSpPr>
        <p:spPr>
          <a:xfrm>
            <a:off x="1238384" y="1975181"/>
            <a:ext cx="7036935" cy="16738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Améliorer le LLM (prompt engineering, les pré-remplissages des formulaires sur la vue « custom team »)</a:t>
            </a:r>
          </a:p>
          <a:p>
            <a:pPr>
              <a:lnSpc>
                <a:spcPct val="120000"/>
              </a:lnSpc>
              <a:spcBef>
                <a:spcPts val="300"/>
              </a:spcBef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Amélioration du modèle : Passer à une target « probabilité de gagner un match »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Recherche d’autres sources de données pour jauger mieux les joueurs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Ré-entrainement du modèle dès nouveaux matchs rajoutés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Fond Bayern Munich" descr="Fond Bayern Munich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Conclusion</a:t>
            </a:r>
          </a:p>
        </p:txBody>
      </p:sp>
      <p:pic>
        <p:nvPicPr>
          <p:cNvPr id="366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367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68" name="ZoneTexte 2"/>
          <p:cNvSpPr txBox="1"/>
          <p:nvPr/>
        </p:nvSpPr>
        <p:spPr>
          <a:xfrm>
            <a:off x="1238383" y="1937025"/>
            <a:ext cx="6974090" cy="1907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Besoin : assister un entraineur de foot pour former son équipe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Proposition : une application pour l’aider à choisir ses joueurs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Plusieurs perspectives d’évolution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Point fort du projet : ETL, EDA, comparaison modèles ML, intégration, déploiement sur Render</a:t>
            </a:r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 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110;p21"/>
          <p:cNvSpPr txBox="1">
            <a:spLocks noGrp="1"/>
          </p:cNvSpPr>
          <p:nvPr>
            <p:ph type="title"/>
          </p:nvPr>
        </p:nvSpPr>
        <p:spPr>
          <a:xfrm>
            <a:off x="1089725" y="1970775"/>
            <a:ext cx="6269100" cy="698401"/>
          </a:xfrm>
          <a:prstGeom prst="rect">
            <a:avLst/>
          </a:prstGeom>
        </p:spPr>
        <p:txBody>
          <a:bodyPr/>
          <a:lstStyle>
            <a:lvl1pPr defTabSz="576072">
              <a:defRPr sz="3275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Any questions ?</a:t>
            </a:r>
          </a:p>
        </p:txBody>
      </p:sp>
      <p:pic>
        <p:nvPicPr>
          <p:cNvPr id="371" name="Google Shape;111;p21" descr="Google Shape;111;p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625" y="3006625"/>
            <a:ext cx="4599300" cy="2136876"/>
          </a:xfrm>
          <a:prstGeom prst="rect">
            <a:avLst/>
          </a:prstGeom>
          <a:ln w="12700">
            <a:miter lim="400000"/>
          </a:ln>
        </p:spPr>
      </p:pic>
      <p:pic>
        <p:nvPicPr>
          <p:cNvPr id="372" name="Google Shape;112;p21" descr="Google Shape;112;p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374" y="915775"/>
            <a:ext cx="797426" cy="839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Fond logo club" descr="Fond logo club"/>
          <p:cNvPicPr>
            <a:picLocks noChangeAspect="1"/>
          </p:cNvPicPr>
          <p:nvPr/>
        </p:nvPicPr>
        <p:blipFill>
          <a:blip r:embed="rId2">
            <a:alphaModFix amt="22000"/>
          </a:blip>
          <a:srcRect t="21875" b="2187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5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Annexes</a:t>
            </a:r>
          </a:p>
        </p:txBody>
      </p:sp>
      <p:pic>
        <p:nvPicPr>
          <p:cNvPr id="376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377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78" name="ZoneTexte 2"/>
          <p:cNvSpPr txBox="1"/>
          <p:nvPr/>
        </p:nvSpPr>
        <p:spPr>
          <a:xfrm>
            <a:off x="2089324" y="1450335"/>
            <a:ext cx="4484501" cy="7543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LIENS DU PROJET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https://football-predictor-front.onrender.com/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https://github.com/kinpintouche-star/football-predictor</a:t>
            </a:r>
          </a:p>
        </p:txBody>
      </p:sp>
      <p:sp>
        <p:nvSpPr>
          <p:cNvPr id="379" name="ZoneTexte 4"/>
          <p:cNvSpPr txBox="1"/>
          <p:nvPr/>
        </p:nvSpPr>
        <p:spPr>
          <a:xfrm>
            <a:off x="2089324" y="2739058"/>
            <a:ext cx="6646349" cy="99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SOURCES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https://sofifa.com/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https://github.com/dcaribou/transfermarkt-datasets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https://pub-e682421888d945d684bcae8890b0ec20.r2.dev/data/transfermarkt-datasets.zip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– templates formes</a:t>
            </a:r>
          </a:p>
        </p:txBody>
      </p:sp>
      <p:pic>
        <p:nvPicPr>
          <p:cNvPr id="382" name="Google Shape;76;p16" descr="Google Shape;76;p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383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384" name="Image 2" descr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623" y="1716950"/>
            <a:ext cx="759821" cy="69836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87" name="Groupe 35"/>
          <p:cNvGrpSpPr/>
          <p:nvPr/>
        </p:nvGrpSpPr>
        <p:grpSpPr>
          <a:xfrm>
            <a:off x="4261163" y="1653247"/>
            <a:ext cx="1508893" cy="1050891"/>
            <a:chOff x="0" y="0"/>
            <a:chExt cx="1508892" cy="1050890"/>
          </a:xfrm>
        </p:grpSpPr>
        <p:pic>
          <p:nvPicPr>
            <p:cNvPr id="385" name="Image 6" descr="Imag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1508892" cy="76206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86" name="ZoneTexte 7"/>
            <p:cNvSpPr txBox="1"/>
            <p:nvPr/>
          </p:nvSpPr>
          <p:spPr>
            <a:xfrm>
              <a:off x="345738" y="762066"/>
              <a:ext cx="779313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r>
                <a:t>Tracking</a:t>
              </a:r>
            </a:p>
          </p:txBody>
        </p:sp>
      </p:grpSp>
      <p:grpSp>
        <p:nvGrpSpPr>
          <p:cNvPr id="390" name="Groupe 34"/>
          <p:cNvGrpSpPr/>
          <p:nvPr/>
        </p:nvGrpSpPr>
        <p:grpSpPr>
          <a:xfrm>
            <a:off x="5770055" y="1653247"/>
            <a:ext cx="1508893" cy="1050891"/>
            <a:chOff x="0" y="0"/>
            <a:chExt cx="1508892" cy="1050890"/>
          </a:xfrm>
        </p:grpSpPr>
        <p:pic>
          <p:nvPicPr>
            <p:cNvPr id="388" name="Image 9" descr="Imag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1508892" cy="76206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89" name="ZoneTexte 11"/>
            <p:cNvSpPr txBox="1"/>
            <p:nvPr/>
          </p:nvSpPr>
          <p:spPr>
            <a:xfrm>
              <a:off x="345739" y="762066"/>
              <a:ext cx="588402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r>
                <a:t>Model</a:t>
              </a:r>
            </a:p>
          </p:txBody>
        </p:sp>
      </p:grpSp>
      <p:pic>
        <p:nvPicPr>
          <p:cNvPr id="391" name="Image 13" descr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622" y="1680726"/>
            <a:ext cx="1143100" cy="1219307"/>
          </a:xfrm>
          <a:prstGeom prst="rect">
            <a:avLst/>
          </a:prstGeom>
          <a:ln w="12700">
            <a:miter lim="400000"/>
          </a:ln>
        </p:spPr>
      </p:pic>
      <p:pic>
        <p:nvPicPr>
          <p:cNvPr id="392" name="Image 19" descr="Imag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9570" y="2928402"/>
            <a:ext cx="1198428" cy="698365"/>
          </a:xfrm>
          <a:prstGeom prst="rect">
            <a:avLst/>
          </a:prstGeom>
          <a:ln w="12700">
            <a:miter lim="400000"/>
          </a:ln>
        </p:spPr>
      </p:pic>
      <p:pic>
        <p:nvPicPr>
          <p:cNvPr id="393" name="Image 21" descr="Imag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2757" y="3564866"/>
            <a:ext cx="713744" cy="632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394" name="Image 23" descr="Imag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3493" y="3663756"/>
            <a:ext cx="940034" cy="582322"/>
          </a:xfrm>
          <a:prstGeom prst="rect">
            <a:avLst/>
          </a:prstGeom>
          <a:ln w="12700">
            <a:miter lim="400000"/>
          </a:ln>
        </p:spPr>
      </p:pic>
      <p:pic>
        <p:nvPicPr>
          <p:cNvPr id="395" name="Image 25" descr="Image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5183" y="3812004"/>
            <a:ext cx="1010880" cy="319060"/>
          </a:xfrm>
          <a:prstGeom prst="rect">
            <a:avLst/>
          </a:prstGeom>
          <a:ln w="12700">
            <a:miter lim="400000"/>
          </a:ln>
        </p:spPr>
      </p:pic>
      <p:pic>
        <p:nvPicPr>
          <p:cNvPr id="396" name="Image 27" descr="Image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4293" y="3542217"/>
            <a:ext cx="728055" cy="599033"/>
          </a:xfrm>
          <a:prstGeom prst="rect">
            <a:avLst/>
          </a:prstGeom>
          <a:ln w="12700">
            <a:miter lim="400000"/>
          </a:ln>
        </p:spPr>
      </p:pic>
      <p:pic>
        <p:nvPicPr>
          <p:cNvPr id="397" name="Image 29" descr="Image 2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34663" y="3669243"/>
            <a:ext cx="571732" cy="638212"/>
          </a:xfrm>
          <a:prstGeom prst="rect">
            <a:avLst/>
          </a:prstGeom>
          <a:ln w="12700">
            <a:miter lim="400000"/>
          </a:ln>
        </p:spPr>
      </p:pic>
      <p:pic>
        <p:nvPicPr>
          <p:cNvPr id="398" name="Image 31" descr="Image 3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7029" y="3666204"/>
            <a:ext cx="844692" cy="530697"/>
          </a:xfrm>
          <a:prstGeom prst="rect">
            <a:avLst/>
          </a:prstGeom>
          <a:ln w="12700">
            <a:miter lim="400000"/>
          </a:ln>
        </p:spPr>
      </p:pic>
      <p:pic>
        <p:nvPicPr>
          <p:cNvPr id="399" name="Image 33" descr="Image 3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66616" y="2831400"/>
            <a:ext cx="1196483" cy="577613"/>
          </a:xfrm>
          <a:prstGeom prst="rect">
            <a:avLst/>
          </a:prstGeom>
          <a:ln w="12700">
            <a:miter lim="400000"/>
          </a:ln>
        </p:spPr>
      </p:pic>
      <p:pic>
        <p:nvPicPr>
          <p:cNvPr id="400" name="Image 37" descr="Image 3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3047" y="2520892"/>
            <a:ext cx="699802" cy="627208"/>
          </a:xfrm>
          <a:prstGeom prst="rect">
            <a:avLst/>
          </a:prstGeom>
          <a:ln w="12700">
            <a:miter lim="400000"/>
          </a:ln>
        </p:spPr>
      </p:pic>
      <p:pic>
        <p:nvPicPr>
          <p:cNvPr id="401" name="Image 3" descr="Image 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7363" y="3635006"/>
            <a:ext cx="759821" cy="778353"/>
          </a:xfrm>
          <a:prstGeom prst="rect">
            <a:avLst/>
          </a:prstGeom>
          <a:ln w="12700">
            <a:miter lim="400000"/>
          </a:ln>
        </p:spPr>
      </p:pic>
      <p:sp>
        <p:nvSpPr>
          <p:cNvPr id="402" name="Fleche FastAPI vers Render"/>
          <p:cNvSpPr/>
          <p:nvPr/>
        </p:nvSpPr>
        <p:spPr>
          <a:xfrm flipH="1" flipV="1">
            <a:off x="256105" y="1530718"/>
            <a:ext cx="1353686" cy="42000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03" name="Image 8" descr="Image 8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36114" y="2855183"/>
            <a:ext cx="707867" cy="681970"/>
          </a:xfrm>
          <a:prstGeom prst="rect">
            <a:avLst/>
          </a:prstGeom>
          <a:ln w="12700">
            <a:miter lim="400000"/>
          </a:ln>
        </p:spPr>
      </p:pic>
      <p:pic>
        <p:nvPicPr>
          <p:cNvPr id="404" name="Image 12" descr="Image 1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51661" y="2901642"/>
            <a:ext cx="301643" cy="183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5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16589" y="2709552"/>
            <a:ext cx="759821" cy="4106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577</Words>
  <Application>Microsoft Office PowerPoint</Application>
  <PresentationFormat>Affichage à l'écran (16:9)</PresentationFormat>
  <Paragraphs>108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8" baseType="lpstr">
      <vt:lpstr>Arial</vt:lpstr>
      <vt:lpstr>Inter</vt:lpstr>
      <vt:lpstr>Simple Light</vt:lpstr>
      <vt:lpstr>Your Tech Bootcamp</vt:lpstr>
      <vt:lpstr>Group members    Franck IDDA Hugo PIERRE Safidy RAMAHERISON</vt:lpstr>
      <vt:lpstr>Pitch</vt:lpstr>
      <vt:lpstr>Description du modèle</vt:lpstr>
      <vt:lpstr>Football predictor application - Démonstration</vt:lpstr>
      <vt:lpstr>ETL, EDA et choix de données modèle</vt:lpstr>
      <vt:lpstr>ETL : données passent par trois niveaux clairs</vt:lpstr>
      <vt:lpstr>EDA : sécurise le dataset d'entraînement </vt:lpstr>
      <vt:lpstr>Architecture - Entrainement</vt:lpstr>
      <vt:lpstr>Architecture - Inference</vt:lpstr>
      <vt:lpstr>Evolutions</vt:lpstr>
      <vt:lpstr>Conclusion</vt:lpstr>
      <vt:lpstr>Any questions ?</vt:lpstr>
      <vt:lpstr>Annexes</vt:lpstr>
      <vt:lpstr>Architecture – templates formes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Franck IDDA</cp:lastModifiedBy>
  <cp:revision>4</cp:revision>
  <dcterms:modified xsi:type="dcterms:W3CDTF">2026-07-30T13:32:37Z</dcterms:modified>
</cp:coreProperties>
</file>