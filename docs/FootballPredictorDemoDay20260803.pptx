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/>
      <a:tcStyle>
        <a:tcBdr/>
        <a:fill>
          <a:solidFill>
            <a:srgbClr val="FF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/>
      <a:tcStyle>
        <a:tcBdr/>
        <a:fill>
          <a:solidFill>
            <a:srgbClr val="EBEEE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/>
      <a:tcStyle>
        <a:tcBdr/>
        <a:fill>
          <a:solidFill>
            <a:srgbClr val="FCFF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7" name="Shape 10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311698" y="2150847"/>
            <a:ext cx="8520604" cy="841803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0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8" y="1152475"/>
            <a:ext cx="3999904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Google Shape;23;p5"/>
          <p:cNvSpPr txBox="1">
            <a:spLocks noGrp="1"/>
          </p:cNvSpPr>
          <p:nvPr>
            <p:ph type="body" sz="half" idx="21"/>
          </p:nvPr>
        </p:nvSpPr>
        <p:spPr>
          <a:xfrm>
            <a:off x="4832396" y="1152475"/>
            <a:ext cx="3999906" cy="34164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itle Text"/>
          <p:cNvSpPr txBox="1">
            <a:spLocks noGrp="1"/>
          </p:cNvSpPr>
          <p:nvPr>
            <p:ph type="title"/>
          </p:nvPr>
        </p:nvSpPr>
        <p:spPr>
          <a:xfrm>
            <a:off x="311698" y="555600"/>
            <a:ext cx="2808004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1389598"/>
            <a:ext cx="2808004" cy="3179405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490250" y="450148"/>
            <a:ext cx="6367801" cy="4090805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r>
              <a:t>Title Text</a:t>
            </a:r>
          </a:p>
        </p:txBody>
      </p:sp>
      <p:sp>
        <p:nvSpPr>
          <p:cNvPr id="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36;p9"/>
          <p:cNvSpPr/>
          <p:nvPr/>
        </p:nvSpPr>
        <p:spPr>
          <a:xfrm>
            <a:off x="4572000" y="-128"/>
            <a:ext cx="4572000" cy="5143507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64" name="Title Text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2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r>
              <a:t>Title Text</a:t>
            </a:r>
          </a:p>
        </p:txBody>
      </p:sp>
      <p:sp>
        <p:nvSpPr>
          <p:cNvPr id="6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6" name="Google Shape;39;p9"/>
          <p:cNvSpPr txBox="1">
            <a:spLocks noGrp="1"/>
          </p:cNvSpPr>
          <p:nvPr>
            <p:ph type="body" sz="half" idx="21"/>
          </p:nvPr>
        </p:nvSpPr>
        <p:spPr>
          <a:xfrm>
            <a:off x="4939500" y="724070"/>
            <a:ext cx="3837000" cy="3695110"/>
          </a:xfrm>
          <a:prstGeom prst="rect">
            <a:avLst/>
          </a:prstGeom>
        </p:spPr>
        <p:txBody>
          <a:bodyPr anchor="ctr"/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4230575"/>
            <a:ext cx="5998804" cy="605106"/>
          </a:xfrm>
          <a:prstGeom prst="rect">
            <a:avLst/>
          </a:prstGeom>
        </p:spPr>
        <p:txBody>
          <a:bodyPr anchor="ctr"/>
          <a:lstStyle>
            <a:lvl1pPr marL="0" indent="228600">
              <a:lnSpc>
                <a:spcPct val="100000"/>
              </a:lnSpc>
              <a:buClrTx/>
              <a:buSzTx/>
              <a:buFontTx/>
              <a:buNone/>
            </a:lvl1pPr>
            <a:lvl2pPr marL="1919514" indent="-408213">
              <a:lnSpc>
                <a:spcPct val="100000"/>
              </a:lnSpc>
              <a:buClrTx/>
              <a:buFontTx/>
            </a:lvl2pPr>
            <a:lvl3pPr marL="2376714">
              <a:lnSpc>
                <a:spcPct val="100000"/>
              </a:lnSpc>
              <a:buClrTx/>
              <a:buFontTx/>
            </a:lvl3pPr>
            <a:lvl4pPr marL="2833914">
              <a:lnSpc>
                <a:spcPct val="100000"/>
              </a:lnSpc>
              <a:buClrTx/>
              <a:buFontTx/>
            </a:lvl4pPr>
            <a:lvl5pPr marL="3291113" indent="-408213">
              <a:lnSpc>
                <a:spcPct val="100000"/>
              </a:lnSpc>
              <a:buClrTx/>
              <a:buFont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xx%"/>
          <p:cNvSpPr txBox="1">
            <a:spLocks noGrp="1"/>
          </p:cNvSpPr>
          <p:nvPr>
            <p:ph type="title" hasCustomPrompt="1"/>
          </p:nvPr>
        </p:nvSpPr>
        <p:spPr>
          <a:xfrm>
            <a:off x="311698" y="1106125"/>
            <a:ext cx="8520604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r>
              <a:t>xx%</a:t>
            </a:r>
          </a:p>
        </p:txBody>
      </p:sp>
      <p:sp>
        <p:nvSpPr>
          <p:cNvPr id="8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8" y="3152225"/>
            <a:ext cx="8520604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9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57" y="4700823"/>
            <a:ext cx="336805" cy="31838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11698" y="445025"/>
            <a:ext cx="8520604" cy="5727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8" y="1152475"/>
            <a:ext cx="8520604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54" y="4700823"/>
            <a:ext cx="336806" cy="318388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 anchor="ctr">
            <a:spAutoFit/>
          </a:bodyPr>
          <a:lstStyle>
            <a:lvl1pPr algn="r">
              <a:defRPr sz="1000">
                <a:solidFill>
                  <a:srgbClr val="585858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1pPr>
      <a:lvl2pPr marL="1005114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6pPr>
      <a:lvl7pPr marL="3291113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7pPr>
      <a:lvl8pPr marL="37483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8pPr>
      <a:lvl9pPr marL="42055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rive.google.com/file/d/1C8pM5-eUgQ2b9A9FtRAEI9yhExtMCvtR/view" TargetMode="External"/><Relationship Id="rId7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hyperlink" Target="https://drive.google.com/file/d/1oMiwZBqVqKz6yZRbg1b6JHPmj1MoXQ21/view" TargetMode="External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23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23.png"/><Relationship Id="rId2" Type="http://schemas.openxmlformats.org/officeDocument/2006/relationships/image" Target="../media/image25.jpe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2.png"/><Relationship Id="rId5" Type="http://schemas.openxmlformats.org/officeDocument/2006/relationships/image" Target="../media/image18.png"/><Relationship Id="rId15" Type="http://schemas.openxmlformats.org/officeDocument/2006/relationships/image" Target="../media/image30.png"/><Relationship Id="rId10" Type="http://schemas.openxmlformats.org/officeDocument/2006/relationships/image" Target="../media/image21.png"/><Relationship Id="rId4" Type="http://schemas.openxmlformats.org/officeDocument/2006/relationships/image" Target="../media/image26.png"/><Relationship Id="rId9" Type="http://schemas.openxmlformats.org/officeDocument/2006/relationships/image" Target="../media/image27.png"/><Relationship Id="rId1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15.png"/><Relationship Id="rId18" Type="http://schemas.openxmlformats.org/officeDocument/2006/relationships/image" Target="../media/image24.png"/><Relationship Id="rId3" Type="http://schemas.openxmlformats.org/officeDocument/2006/relationships/image" Target="../media/image13.png"/><Relationship Id="rId7" Type="http://schemas.openxmlformats.org/officeDocument/2006/relationships/image" Target="../media/image28.png"/><Relationship Id="rId12" Type="http://schemas.openxmlformats.org/officeDocument/2006/relationships/image" Target="../media/image19.png"/><Relationship Id="rId17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0.png"/><Relationship Id="rId5" Type="http://schemas.openxmlformats.org/officeDocument/2006/relationships/image" Target="../media/image18.png"/><Relationship Id="rId15" Type="http://schemas.openxmlformats.org/officeDocument/2006/relationships/image" Target="../media/image14.png"/><Relationship Id="rId10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61;p14"/>
          <p:cNvSpPr/>
          <p:nvPr/>
        </p:nvSpPr>
        <p:spPr>
          <a:xfrm>
            <a:off x="5500" y="-17777"/>
            <a:ext cx="3335400" cy="5161204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10" name="Google Shape;62;p14"/>
          <p:cNvSpPr txBox="1">
            <a:spLocks noGrp="1"/>
          </p:cNvSpPr>
          <p:nvPr>
            <p:ph type="title"/>
          </p:nvPr>
        </p:nvSpPr>
        <p:spPr>
          <a:xfrm>
            <a:off x="390595" y="1138673"/>
            <a:ext cx="2513111" cy="34581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Group members</a:t>
            </a:r>
          </a:p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Franck IDDA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Hugo PIERRE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Safidy RAMAHERISON</a:t>
            </a:r>
          </a:p>
        </p:txBody>
      </p:sp>
      <p:pic>
        <p:nvPicPr>
          <p:cNvPr id="111" name="Google Shape;63;p14" descr="Google Shape;63;p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2"/>
          </a:xfrm>
          <a:prstGeom prst="rect">
            <a:avLst/>
          </a:prstGeom>
          <a:ln w="12700">
            <a:miter lim="400000"/>
          </a:ln>
        </p:spPr>
      </p:pic>
      <p:pic>
        <p:nvPicPr>
          <p:cNvPr id="112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986" y="1389002"/>
            <a:ext cx="5018376" cy="2962239"/>
          </a:xfrm>
          <a:prstGeom prst="rect">
            <a:avLst/>
          </a:prstGeom>
          <a:ln w="12700">
            <a:miter lim="400000"/>
          </a:ln>
        </p:spPr>
      </p:pic>
      <p:sp>
        <p:nvSpPr>
          <p:cNvPr id="113" name="Google Shape;56;p13"/>
          <p:cNvSpPr txBox="1"/>
          <p:nvPr/>
        </p:nvSpPr>
        <p:spPr>
          <a:xfrm>
            <a:off x="3409405" y="79118"/>
            <a:ext cx="5883259" cy="924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 anchor="b">
            <a:normAutofit/>
          </a:bodyPr>
          <a:lstStyle>
            <a:lvl1pPr algn="ctr">
              <a:defRPr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Football Predictor 🏆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itle"/>
          <p:cNvSpPr txBox="1">
            <a:spLocks noGrp="1"/>
          </p:cNvSpPr>
          <p:nvPr>
            <p:ph type="title"/>
          </p:nvPr>
        </p:nvSpPr>
        <p:spPr>
          <a:xfrm>
            <a:off x="1192659" y="403305"/>
            <a:ext cx="5315111" cy="533110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Pitch</a:t>
            </a:r>
          </a:p>
        </p:txBody>
      </p:sp>
      <p:pic>
        <p:nvPicPr>
          <p:cNvPr id="116" name="logo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bar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18" name="motiv"/>
          <p:cNvSpPr/>
          <p:nvPr/>
        </p:nvSpPr>
        <p:spPr>
          <a:xfrm>
            <a:off x="550000" y="1149998"/>
            <a:ext cx="8044000" cy="1150003"/>
          </a:xfrm>
          <a:prstGeom prst="roundRect">
            <a:avLst>
              <a:gd name="adj" fmla="val 7000"/>
            </a:avLst>
          </a:prstGeom>
          <a:solidFill>
            <a:srgbClr val="EAF2F6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19" name="mcirc"/>
          <p:cNvSpPr/>
          <p:nvPr/>
        </p:nvSpPr>
        <p:spPr>
          <a:xfrm>
            <a:off x="849998" y="1384998"/>
            <a:ext cx="680010" cy="68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pic>
        <p:nvPicPr>
          <p:cNvPr id="120" name="micon" descr="m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00" y="1525000"/>
            <a:ext cx="400006" cy="40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mtext"/>
          <p:cNvSpPr txBox="1"/>
          <p:nvPr/>
        </p:nvSpPr>
        <p:spPr>
          <a:xfrm>
            <a:off x="1827998" y="1309999"/>
            <a:ext cx="6448007" cy="83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/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Notre objectif</a:t>
            </a:r>
          </a:p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endParaRPr/>
          </a:p>
          <a:p>
            <a:pPr>
              <a:spcBef>
                <a:spcPts val="300"/>
              </a:spcBef>
              <a:defRPr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Aider les entraîneurs à prendre les meilleures décisions grâce à la data</a:t>
            </a:r>
          </a:p>
        </p:txBody>
      </p:sp>
      <p:sp>
        <p:nvSpPr>
          <p:cNvPr id="122" name="card"/>
          <p:cNvSpPr/>
          <p:nvPr/>
        </p:nvSpPr>
        <p:spPr>
          <a:xfrm>
            <a:off x="550000" y="2470000"/>
            <a:ext cx="3872001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23" name="card"/>
          <p:cNvSpPr/>
          <p:nvPr/>
        </p:nvSpPr>
        <p:spPr>
          <a:xfrm>
            <a:off x="4722000" y="2470000"/>
            <a:ext cx="3872006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24" name="ccirc"/>
          <p:cNvSpPr/>
          <p:nvPr/>
        </p:nvSpPr>
        <p:spPr>
          <a:xfrm>
            <a:off x="849998" y="2769996"/>
            <a:ext cx="640011" cy="64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25" name="ccirc"/>
          <p:cNvSpPr/>
          <p:nvPr/>
        </p:nvSpPr>
        <p:spPr>
          <a:xfrm>
            <a:off x="5022000" y="2769996"/>
            <a:ext cx="640011" cy="64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pic>
        <p:nvPicPr>
          <p:cNvPr id="126" name="cicon" descr="c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98" y="2899997"/>
            <a:ext cx="380007" cy="38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cicon" descr="c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999" y="2899997"/>
            <a:ext cx="380006" cy="38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28" name="ctitle"/>
          <p:cNvSpPr txBox="1"/>
          <p:nvPr/>
        </p:nvSpPr>
        <p:spPr>
          <a:xfrm>
            <a:off x="1727998" y="2769996"/>
            <a:ext cx="2376005" cy="64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Notre solution</a:t>
            </a:r>
          </a:p>
        </p:txBody>
      </p:sp>
      <p:sp>
        <p:nvSpPr>
          <p:cNvPr id="129" name="cdesc"/>
          <p:cNvSpPr txBox="1"/>
          <p:nvPr/>
        </p:nvSpPr>
        <p:spPr>
          <a:xfrm>
            <a:off x="867997" y="3549998"/>
            <a:ext cx="3236007" cy="75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Une appli qui exploite les données du foot moderne pour prédire l’issue d’un match, à partir des infos équipes, joueurs et résultats des championnats européens.</a:t>
            </a:r>
          </a:p>
        </p:txBody>
      </p:sp>
      <p:sp>
        <p:nvSpPr>
          <p:cNvPr id="130" name="ctitle"/>
          <p:cNvSpPr txBox="1"/>
          <p:nvPr/>
        </p:nvSpPr>
        <p:spPr>
          <a:xfrm>
            <a:off x="5899999" y="2769996"/>
            <a:ext cx="2376007" cy="64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Pour qui ?</a:t>
            </a:r>
          </a:p>
        </p:txBody>
      </p:sp>
      <p:sp>
        <p:nvSpPr>
          <p:cNvPr id="131" name="cdesc"/>
          <p:cNvSpPr txBox="1"/>
          <p:nvPr/>
        </p:nvSpPr>
        <p:spPr>
          <a:xfrm>
            <a:off x="5040000" y="3549998"/>
            <a:ext cx="3236006" cy="75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/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entraîneurs, pour optimiser leur composition et leur stratégie de recrutement.</a:t>
            </a:r>
          </a:p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détecteurs et chasseurs de tête, pour repérer les joueurs à fort potentiel.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68;p15"/>
          <p:cNvSpPr txBox="1">
            <a:spLocks noGrp="1"/>
          </p:cNvSpPr>
          <p:nvPr>
            <p:ph type="title"/>
          </p:nvPr>
        </p:nvSpPr>
        <p:spPr>
          <a:xfrm>
            <a:off x="1192659" y="403305"/>
            <a:ext cx="5315111" cy="533110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Description du modèle</a:t>
            </a:r>
          </a:p>
        </p:txBody>
      </p:sp>
      <p:sp>
        <p:nvSpPr>
          <p:cNvPr id="134" name="Google Shape;69;p15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pic>
        <p:nvPicPr>
          <p:cNvPr id="135" name="Google Shape;70;p15" descr="Google Shape;70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sp>
        <p:nvSpPr>
          <p:cNvPr id="136" name="fcard"/>
          <p:cNvSpPr/>
          <p:nvPr/>
        </p:nvSpPr>
        <p:spPr>
          <a:xfrm>
            <a:off x="550000" y="1646749"/>
            <a:ext cx="2441334" cy="1850007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37" name="fcard"/>
          <p:cNvSpPr/>
          <p:nvPr/>
        </p:nvSpPr>
        <p:spPr>
          <a:xfrm>
            <a:off x="3351333" y="1646749"/>
            <a:ext cx="2441334" cy="1850007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38" name="fcard"/>
          <p:cNvSpPr/>
          <p:nvPr/>
        </p:nvSpPr>
        <p:spPr>
          <a:xfrm>
            <a:off x="6152665" y="1646749"/>
            <a:ext cx="2441339" cy="1850007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39" name="arrow304"/>
          <p:cNvSpPr/>
          <p:nvPr/>
        </p:nvSpPr>
        <p:spPr>
          <a:xfrm>
            <a:off x="3041331" y="2066749"/>
            <a:ext cx="260007" cy="12000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40" name="arrow305"/>
          <p:cNvSpPr/>
          <p:nvPr/>
        </p:nvSpPr>
        <p:spPr>
          <a:xfrm>
            <a:off x="5842665" y="2066749"/>
            <a:ext cx="260006" cy="12000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41" name="fcirc"/>
          <p:cNvSpPr/>
          <p:nvPr/>
        </p:nvSpPr>
        <p:spPr>
          <a:xfrm>
            <a:off x="1460664" y="1816748"/>
            <a:ext cx="620012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42" name="fcirc"/>
          <p:cNvSpPr/>
          <p:nvPr/>
        </p:nvSpPr>
        <p:spPr>
          <a:xfrm>
            <a:off x="4261999" y="1816748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43" name="fcirc"/>
          <p:cNvSpPr/>
          <p:nvPr/>
        </p:nvSpPr>
        <p:spPr>
          <a:xfrm>
            <a:off x="7063330" y="1816748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pic>
        <p:nvPicPr>
          <p:cNvPr id="144" name="ficon" descr="f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666" y="1936749"/>
            <a:ext cx="380006" cy="38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5" name="ficon" descr="f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998" y="1936749"/>
            <a:ext cx="380006" cy="38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ficon" descr="f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3332" y="1936749"/>
            <a:ext cx="380006" cy="38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47" name="flab"/>
          <p:cNvSpPr txBox="1"/>
          <p:nvPr/>
        </p:nvSpPr>
        <p:spPr>
          <a:xfrm>
            <a:off x="638000" y="2546748"/>
            <a:ext cx="2265336" cy="3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Les données</a:t>
            </a:r>
          </a:p>
        </p:txBody>
      </p:sp>
      <p:sp>
        <p:nvSpPr>
          <p:cNvPr id="148" name="fsub"/>
          <p:cNvSpPr txBox="1"/>
          <p:nvPr/>
        </p:nvSpPr>
        <p:spPr>
          <a:xfrm>
            <a:off x="657998" y="2886748"/>
            <a:ext cx="2225340" cy="54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matchs, équipes et joueurs des championnats européens</a:t>
            </a:r>
          </a:p>
        </p:txBody>
      </p:sp>
      <p:sp>
        <p:nvSpPr>
          <p:cNvPr id="149" name="flab"/>
          <p:cNvSpPr txBox="1"/>
          <p:nvPr/>
        </p:nvSpPr>
        <p:spPr>
          <a:xfrm>
            <a:off x="3439333" y="2546748"/>
            <a:ext cx="2265339" cy="3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modèle</a:t>
            </a:r>
          </a:p>
        </p:txBody>
      </p:sp>
      <p:sp>
        <p:nvSpPr>
          <p:cNvPr id="150" name="fsub"/>
          <p:cNvSpPr txBox="1"/>
          <p:nvPr/>
        </p:nvSpPr>
        <p:spPr>
          <a:xfrm>
            <a:off x="3459331" y="2886748"/>
            <a:ext cx="2225340" cy="54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à partir des notes FIFA 26 des joueurs</a:t>
            </a:r>
          </a:p>
        </p:txBody>
      </p:sp>
      <p:sp>
        <p:nvSpPr>
          <p:cNvPr id="151" name="flab"/>
          <p:cNvSpPr txBox="1"/>
          <p:nvPr/>
        </p:nvSpPr>
        <p:spPr>
          <a:xfrm>
            <a:off x="6240664" y="2546748"/>
            <a:ext cx="2265337" cy="30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La prédiction</a:t>
            </a:r>
          </a:p>
        </p:txBody>
      </p:sp>
      <p:sp>
        <p:nvSpPr>
          <p:cNvPr id="152" name="fsub"/>
          <p:cNvSpPr txBox="1"/>
          <p:nvPr/>
        </p:nvSpPr>
        <p:spPr>
          <a:xfrm>
            <a:off x="6260665" y="2886748"/>
            <a:ext cx="2225339" cy="54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résultat d’un match entre deux équipes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Fond Sporting Portugal" descr="Fond Sporting Portugal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10224" y="0"/>
            <a:ext cx="9144001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Google Shape;89;p18"/>
          <p:cNvSpPr txBox="1">
            <a:spLocks noGrp="1"/>
          </p:cNvSpPr>
          <p:nvPr>
            <p:ph type="title"/>
          </p:nvPr>
        </p:nvSpPr>
        <p:spPr>
          <a:xfrm>
            <a:off x="1192658" y="403305"/>
            <a:ext cx="5315113" cy="533111"/>
          </a:xfrm>
          <a:prstGeom prst="rect">
            <a:avLst/>
          </a:prstGeom>
        </p:spPr>
        <p:txBody>
          <a:bodyPr anchor="ctr"/>
          <a:lstStyle/>
          <a:p>
            <a:pPr defTabSz="598125">
              <a:defRPr sz="17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Football predictor application - Démonstration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/>
              </a:rPr>
              <a:t>Vidéo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4"/>
              </a:rPr>
              <a:t> </a:t>
            </a:r>
          </a:p>
        </p:txBody>
      </p:sp>
      <p:pic>
        <p:nvPicPr>
          <p:cNvPr id="156" name="Google Shape;90;p18" descr="Google Shape;90;p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75" y="482852"/>
            <a:ext cx="576901" cy="385912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Google Shape;91;p18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58" name="card"/>
          <p:cNvSpPr/>
          <p:nvPr/>
        </p:nvSpPr>
        <p:spPr>
          <a:xfrm>
            <a:off x="550000" y="1200000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59" name="card"/>
          <p:cNvSpPr/>
          <p:nvPr/>
        </p:nvSpPr>
        <p:spPr>
          <a:xfrm>
            <a:off x="4722000" y="1200000"/>
            <a:ext cx="3872007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60" name="card"/>
          <p:cNvSpPr/>
          <p:nvPr/>
        </p:nvSpPr>
        <p:spPr>
          <a:xfrm>
            <a:off x="550000" y="3114999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61" name="card"/>
          <p:cNvSpPr/>
          <p:nvPr/>
        </p:nvSpPr>
        <p:spPr>
          <a:xfrm>
            <a:off x="4722000" y="3114999"/>
            <a:ext cx="3872007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62" name="circ"/>
          <p:cNvSpPr/>
          <p:nvPr/>
        </p:nvSpPr>
        <p:spPr>
          <a:xfrm>
            <a:off x="789999" y="1439999"/>
            <a:ext cx="620013" cy="62001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63" name="circ"/>
          <p:cNvSpPr/>
          <p:nvPr/>
        </p:nvSpPr>
        <p:spPr>
          <a:xfrm>
            <a:off x="4961999" y="1439999"/>
            <a:ext cx="620013" cy="62001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64" name="circ"/>
          <p:cNvSpPr/>
          <p:nvPr/>
        </p:nvSpPr>
        <p:spPr>
          <a:xfrm>
            <a:off x="789999" y="3354999"/>
            <a:ext cx="620013" cy="62001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65" name="circ"/>
          <p:cNvSpPr/>
          <p:nvPr/>
        </p:nvSpPr>
        <p:spPr>
          <a:xfrm>
            <a:off x="4961999" y="3354999"/>
            <a:ext cx="620013" cy="620013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pic>
        <p:nvPicPr>
          <p:cNvPr id="166" name="icon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000" y="1570000"/>
            <a:ext cx="360007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7" name="icon" descr="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2000" y="1570000"/>
            <a:ext cx="360007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icon" descr="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000" y="3485000"/>
            <a:ext cx="360007" cy="360007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icon" descr="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2000" y="3485000"/>
            <a:ext cx="360007" cy="360007"/>
          </a:xfrm>
          <a:prstGeom prst="rect">
            <a:avLst/>
          </a:prstGeom>
          <a:ln w="12700">
            <a:miter lim="400000"/>
          </a:ln>
        </p:spPr>
      </p:pic>
      <p:sp>
        <p:nvSpPr>
          <p:cNvPr id="170" name="title"/>
          <p:cNvSpPr txBox="1"/>
          <p:nvPr/>
        </p:nvSpPr>
        <p:spPr>
          <a:xfrm>
            <a:off x="1607997" y="1439999"/>
            <a:ext cx="2556007" cy="62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Équipes &amp; effectifs</a:t>
            </a:r>
          </a:p>
        </p:txBody>
      </p:sp>
      <p:sp>
        <p:nvSpPr>
          <p:cNvPr id="171" name="desc"/>
          <p:cNvSpPr txBox="1"/>
          <p:nvPr/>
        </p:nvSpPr>
        <p:spPr>
          <a:xfrm>
            <a:off x="807999" y="2130000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effectif de la saison, notes &amp; valeur marchande, dernière composition officielle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5779999" y="1439999"/>
            <a:ext cx="2556007" cy="62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Prédiction de match</a:t>
            </a:r>
          </a:p>
        </p:txBody>
      </p:sp>
      <p:sp>
        <p:nvSpPr>
          <p:cNvPr id="173" name="desc"/>
          <p:cNvSpPr txBox="1"/>
          <p:nvPr/>
        </p:nvSpPr>
        <p:spPr>
          <a:xfrm>
            <a:off x="4979999" y="2130000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résultat prédit entre deux équipes données</a:t>
            </a:r>
          </a:p>
        </p:txBody>
      </p:sp>
      <p:sp>
        <p:nvSpPr>
          <p:cNvPr id="174" name="title"/>
          <p:cNvSpPr txBox="1"/>
          <p:nvPr/>
        </p:nvSpPr>
        <p:spPr>
          <a:xfrm>
            <a:off x="1607997" y="3354999"/>
            <a:ext cx="2556007" cy="62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Mode Fantasy</a:t>
            </a:r>
          </a:p>
        </p:txBody>
      </p:sp>
      <p:sp>
        <p:nvSpPr>
          <p:cNvPr id="175" name="desc"/>
          <p:cNvSpPr txBox="1"/>
          <p:nvPr/>
        </p:nvSpPr>
        <p:spPr>
          <a:xfrm>
            <a:off x="807999" y="4044998"/>
            <a:ext cx="3356002" cy="545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créer sa dream team et lancer un tournoi (équipes fictives ou réelles)</a:t>
            </a:r>
          </a:p>
        </p:txBody>
      </p:sp>
      <p:sp>
        <p:nvSpPr>
          <p:cNvPr id="176" name="title"/>
          <p:cNvSpPr txBox="1"/>
          <p:nvPr/>
        </p:nvSpPr>
        <p:spPr>
          <a:xfrm>
            <a:off x="5779999" y="3354999"/>
            <a:ext cx="2556007" cy="620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Chatbot IA</a:t>
            </a:r>
          </a:p>
        </p:txBody>
      </p:sp>
      <p:sp>
        <p:nvSpPr>
          <p:cNvPr id="177" name="desc"/>
          <p:cNvSpPr txBox="1"/>
          <p:nvPr/>
        </p:nvSpPr>
        <p:spPr>
          <a:xfrm>
            <a:off x="4979999" y="4044998"/>
            <a:ext cx="3356002" cy="545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réponses générées depuis les bases neondb &amp; Transfermarkt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Fond Paris Saint-Germain" descr="Fond Paris Saint-Germain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325018" y="-75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0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6786772" cy="533106"/>
          </a:xfrm>
          <a:prstGeom prst="rect">
            <a:avLst/>
          </a:prstGeom>
        </p:spPr>
        <p:txBody>
          <a:bodyPr anchor="ctr"/>
          <a:lstStyle>
            <a:lvl1pPr defTabSz="859536">
              <a:defRPr sz="2200"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ETL, EDA et choix de données modèle</a:t>
            </a:r>
          </a:p>
        </p:txBody>
      </p:sp>
      <p:pic>
        <p:nvPicPr>
          <p:cNvPr id="181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184" name="Conserver l'information joueur détaillée, puis tester si les abstractions apportent vraiment de la performance."/>
          <p:cNvSpPr txBox="1"/>
          <p:nvPr/>
        </p:nvSpPr>
        <p:spPr>
          <a:xfrm>
            <a:off x="634522" y="1166901"/>
            <a:ext cx="8096727" cy="10541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4289" tIns="34289" rIns="34289" bIns="34289" numCol="1" anchor="t">
            <a:spAutoFit/>
          </a:bodyPr>
          <a:lstStyle/>
          <a:p>
            <a:pPr>
              <a:defRPr sz="1000" b="1">
                <a:latin typeface="Inter"/>
                <a:ea typeface="Inter"/>
                <a:cs typeface="Inter"/>
                <a:sym typeface="Inter"/>
              </a:defRPr>
            </a:pPr>
            <a:r>
              <a:rPr sz="1600" dirty="0" err="1"/>
              <a:t>Décision</a:t>
            </a:r>
            <a:r>
              <a:rPr sz="1600" dirty="0"/>
              <a:t> </a:t>
            </a:r>
            <a:r>
              <a:rPr sz="1600" dirty="0" err="1"/>
              <a:t>structurante</a:t>
            </a:r>
            <a:endParaRPr sz="1600" dirty="0"/>
          </a:p>
          <a:p>
            <a:pPr>
              <a:defRPr sz="1000">
                <a:latin typeface="Inter"/>
                <a:ea typeface="Inter"/>
                <a:cs typeface="Inter"/>
                <a:sym typeface="Inter"/>
              </a:defRPr>
            </a:pPr>
            <a:endParaRPr sz="1600" dirty="0"/>
          </a:p>
          <a:p>
            <a:pPr>
              <a:defRPr sz="1000">
                <a:latin typeface="Inter"/>
                <a:ea typeface="Inter"/>
                <a:cs typeface="Inter"/>
                <a:sym typeface="Inter"/>
              </a:defRPr>
            </a:pPr>
            <a:r>
              <a:rPr sz="1600" dirty="0"/>
              <a:t>Conserver </a:t>
            </a:r>
            <a:r>
              <a:rPr sz="1600" dirty="0" err="1"/>
              <a:t>l'information</a:t>
            </a:r>
            <a:r>
              <a:rPr sz="1600" dirty="0"/>
              <a:t> </a:t>
            </a:r>
            <a:r>
              <a:rPr sz="1600" dirty="0" err="1"/>
              <a:t>joueur</a:t>
            </a:r>
            <a:r>
              <a:rPr sz="1600" dirty="0"/>
              <a:t> </a:t>
            </a:r>
            <a:r>
              <a:rPr sz="1600" dirty="0" err="1"/>
              <a:t>détaillée</a:t>
            </a:r>
            <a:r>
              <a:rPr sz="1600" dirty="0"/>
              <a:t>, </a:t>
            </a:r>
            <a:r>
              <a:rPr sz="1600" dirty="0" err="1"/>
              <a:t>puis</a:t>
            </a:r>
            <a:r>
              <a:rPr sz="1600" dirty="0"/>
              <a:t> tester </a:t>
            </a:r>
            <a:r>
              <a:rPr sz="1600" dirty="0" err="1"/>
              <a:t>si</a:t>
            </a:r>
            <a:r>
              <a:rPr sz="1600" dirty="0"/>
              <a:t> les abstractions </a:t>
            </a:r>
            <a:r>
              <a:rPr sz="1600" dirty="0" err="1"/>
              <a:t>apportent</a:t>
            </a:r>
            <a:r>
              <a:rPr sz="1600" dirty="0"/>
              <a:t> </a:t>
            </a:r>
            <a:r>
              <a:rPr sz="1600" dirty="0" err="1"/>
              <a:t>vraiment</a:t>
            </a:r>
            <a:r>
              <a:rPr sz="1600" dirty="0"/>
              <a:t> de la performance.</a:t>
            </a:r>
          </a:p>
        </p:txBody>
      </p:sp>
      <p:sp>
        <p:nvSpPr>
          <p:cNvPr id="3" name="Objectif: transformer des données football hétérogènes en datasets fiables pour entraîner et comparer les modèles.">
            <a:extLst>
              <a:ext uri="{FF2B5EF4-FFF2-40B4-BE49-F238E27FC236}">
                <a16:creationId xmlns:a16="http://schemas.microsoft.com/office/drawing/2014/main" id="{AEA5899D-231B-0DA6-F635-B6FC10F082FA}"/>
              </a:ext>
            </a:extLst>
          </p:cNvPr>
          <p:cNvSpPr txBox="1"/>
          <p:nvPr/>
        </p:nvSpPr>
        <p:spPr>
          <a:xfrm>
            <a:off x="716128" y="2641351"/>
            <a:ext cx="7933514" cy="113877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pPr lvl="3">
              <a:defRPr sz="1000" b="1"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 lvl="3">
              <a:defRPr sz="1000" b="1">
                <a:latin typeface="Inter"/>
                <a:ea typeface="Inter"/>
                <a:cs typeface="Inter"/>
                <a:sym typeface="Inter"/>
              </a:defRPr>
            </a:pPr>
            <a:r>
              <a:rPr sz="1600" dirty="0"/>
              <a:t>Objectif</a:t>
            </a:r>
          </a:p>
          <a:p>
            <a:pPr lvl="3">
              <a:defRPr sz="1000">
                <a:latin typeface="Inter"/>
                <a:ea typeface="Inter"/>
                <a:cs typeface="Inter"/>
                <a:sym typeface="Inter"/>
              </a:defRPr>
            </a:pPr>
            <a:endParaRPr sz="1600" dirty="0"/>
          </a:p>
          <a:p>
            <a:pPr>
              <a:defRPr sz="1000">
                <a:latin typeface="Inter"/>
                <a:ea typeface="Inter"/>
                <a:cs typeface="Inter"/>
                <a:sym typeface="Inter"/>
              </a:defRPr>
            </a:pPr>
            <a:r>
              <a:rPr sz="1600" dirty="0"/>
              <a:t>Transformer des données football </a:t>
            </a:r>
            <a:r>
              <a:rPr sz="1600" dirty="0" err="1"/>
              <a:t>hétérogènes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datasets </a:t>
            </a:r>
            <a:r>
              <a:rPr sz="1600" dirty="0" err="1"/>
              <a:t>fiables</a:t>
            </a:r>
            <a:r>
              <a:rPr sz="1600" dirty="0"/>
              <a:t> pour </a:t>
            </a:r>
            <a:r>
              <a:rPr sz="1600" dirty="0" err="1"/>
              <a:t>entraîner</a:t>
            </a:r>
            <a:r>
              <a:rPr sz="1600" dirty="0"/>
              <a:t> et comparer les </a:t>
            </a:r>
            <a:r>
              <a:rPr sz="1600" dirty="0" err="1"/>
              <a:t>modèles</a:t>
            </a:r>
            <a:r>
              <a:rPr sz="1600" dirty="0"/>
              <a:t>.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Fond Girondins de Bordeaux" descr="Fond Girondins de Bordeaux"/>
          <p:cNvPicPr>
            <a:picLocks noChangeAspect="1"/>
          </p:cNvPicPr>
          <p:nvPr/>
        </p:nvPicPr>
        <p:blipFill>
          <a:blip r:embed="rId2"/>
          <a:srcRect t="2750" r="5496" b="1287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91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8097985" cy="533106"/>
          </a:xfrm>
          <a:prstGeom prst="rect">
            <a:avLst/>
          </a:prstGeom>
        </p:spPr>
        <p:txBody>
          <a:bodyPr anchor="ctr"/>
          <a:lstStyle/>
          <a:p>
            <a: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ETL : </a:t>
            </a:r>
            <a:r>
              <a:rPr>
                <a:solidFill>
                  <a:srgbClr val="000000"/>
                </a:solidFill>
              </a:rPr>
              <a:t>données passent par trois niveaux clairs</a:t>
            </a:r>
          </a:p>
        </p:txBody>
      </p:sp>
      <p:pic>
        <p:nvPicPr>
          <p:cNvPr id="192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93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grpSp>
        <p:nvGrpSpPr>
          <p:cNvPr id="199" name="Groupe 42"/>
          <p:cNvGrpSpPr/>
          <p:nvPr/>
        </p:nvGrpSpPr>
        <p:grpSpPr>
          <a:xfrm>
            <a:off x="340852" y="1191897"/>
            <a:ext cx="2510133" cy="1476060"/>
            <a:chOff x="-1" y="-1"/>
            <a:chExt cx="2510132" cy="1476058"/>
          </a:xfrm>
        </p:grpSpPr>
        <p:sp>
          <p:nvSpPr>
            <p:cNvPr id="194" name="Sources"/>
            <p:cNvSpPr txBox="1"/>
            <p:nvPr/>
          </p:nvSpPr>
          <p:spPr>
            <a:xfrm>
              <a:off x="351037" y="-2"/>
              <a:ext cx="2159094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Sources</a:t>
              </a:r>
            </a:p>
          </p:txBody>
        </p:sp>
        <p:grpSp>
          <p:nvGrpSpPr>
            <p:cNvPr id="198" name="Groupe 29"/>
            <p:cNvGrpSpPr/>
            <p:nvPr/>
          </p:nvGrpSpPr>
          <p:grpSpPr>
            <a:xfrm>
              <a:off x="-2" y="379057"/>
              <a:ext cx="2320762" cy="1097001"/>
              <a:chOff x="0" y="-1"/>
              <a:chExt cx="2320760" cy="1096999"/>
            </a:xfrm>
          </p:grpSpPr>
          <p:sp>
            <p:nvSpPr>
              <p:cNvPr id="195" name="Rectangle"/>
              <p:cNvSpPr/>
              <p:nvPr/>
            </p:nvSpPr>
            <p:spPr>
              <a:xfrm>
                <a:off x="-1" y="-2"/>
                <a:ext cx="2320761" cy="1097001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  <a:endParaRPr/>
              </a:p>
            </p:txBody>
          </p:sp>
          <p:sp>
            <p:nvSpPr>
              <p:cNvPr id="196" name="SoFIFA"/>
              <p:cNvSpPr txBox="1"/>
              <p:nvPr/>
            </p:nvSpPr>
            <p:spPr>
              <a:xfrm>
                <a:off x="110338" y="97963"/>
                <a:ext cx="1564886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SoFIFA</a:t>
                </a:r>
              </a:p>
            </p:txBody>
          </p:sp>
          <p:sp>
            <p:nvSpPr>
              <p:cNvPr id="197" name="Scraping des notes détaillées joueurs: attaque, technique, mouvement, défense, gardien."/>
              <p:cNvSpPr txBox="1"/>
              <p:nvPr/>
            </p:nvSpPr>
            <p:spPr>
              <a:xfrm>
                <a:off x="110337" y="387561"/>
                <a:ext cx="2096164" cy="5257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Scraping des notes détaillées joueurs: attaque, technique, mouvement, défense, gardien.</a:t>
                </a:r>
              </a:p>
            </p:txBody>
          </p:sp>
        </p:grpSp>
      </p:grpSp>
      <p:grpSp>
        <p:nvGrpSpPr>
          <p:cNvPr id="204" name="Groupe 28"/>
          <p:cNvGrpSpPr/>
          <p:nvPr/>
        </p:nvGrpSpPr>
        <p:grpSpPr>
          <a:xfrm>
            <a:off x="340851" y="3612984"/>
            <a:ext cx="2540379" cy="1071583"/>
            <a:chOff x="-1" y="-1"/>
            <a:chExt cx="2540378" cy="1071581"/>
          </a:xfrm>
        </p:grpSpPr>
        <p:grpSp>
          <p:nvGrpSpPr>
            <p:cNvPr id="202" name="Groupe 27"/>
            <p:cNvGrpSpPr/>
            <p:nvPr/>
          </p:nvGrpSpPr>
          <p:grpSpPr>
            <a:xfrm>
              <a:off x="-2" y="-2"/>
              <a:ext cx="2540379" cy="1071582"/>
              <a:chOff x="0" y="0"/>
              <a:chExt cx="2540378" cy="1071581"/>
            </a:xfrm>
          </p:grpSpPr>
          <p:sp>
            <p:nvSpPr>
              <p:cNvPr id="200" name="Rectangle"/>
              <p:cNvSpPr/>
              <p:nvPr/>
            </p:nvSpPr>
            <p:spPr>
              <a:xfrm>
                <a:off x="-1" y="-1"/>
                <a:ext cx="2305925" cy="1071583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  <a:endParaRPr/>
              </a:p>
            </p:txBody>
          </p:sp>
          <p:sp>
            <p:nvSpPr>
              <p:cNvPr id="201" name="Transfermarkt"/>
              <p:cNvSpPr txBox="1"/>
              <p:nvPr/>
            </p:nvSpPr>
            <p:spPr>
              <a:xfrm>
                <a:off x="127364" y="124925"/>
                <a:ext cx="2413014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Transfermarkt</a:t>
                </a:r>
              </a:p>
            </p:txBody>
          </p:sp>
        </p:grpSp>
        <p:sp>
          <p:nvSpPr>
            <p:cNvPr id="203" name="CSV GitHub: matchs, lineups, joueurs, clubs et transferts. Mise à jour régulière."/>
            <p:cNvSpPr txBox="1"/>
            <p:nvPr/>
          </p:nvSpPr>
          <p:spPr>
            <a:xfrm>
              <a:off x="111579" y="452481"/>
              <a:ext cx="2082763" cy="525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0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CSV GitHub: matchs, lineups, joueurs, clubs et transferts. Mise à jour régulière.</a:t>
              </a:r>
            </a:p>
          </p:txBody>
        </p:sp>
      </p:grpSp>
      <p:grpSp>
        <p:nvGrpSpPr>
          <p:cNvPr id="207" name="Groupe 31"/>
          <p:cNvGrpSpPr/>
          <p:nvPr/>
        </p:nvGrpSpPr>
        <p:grpSpPr>
          <a:xfrm>
            <a:off x="3010213" y="3001966"/>
            <a:ext cx="866922" cy="418805"/>
            <a:chOff x="0" y="-1"/>
            <a:chExt cx="866921" cy="418803"/>
          </a:xfrm>
        </p:grpSpPr>
        <p:sp>
          <p:nvSpPr>
            <p:cNvPr id="205" name="Rectangle"/>
            <p:cNvSpPr/>
            <p:nvPr/>
          </p:nvSpPr>
          <p:spPr>
            <a:xfrm>
              <a:off x="-1" y="-2"/>
              <a:ext cx="866922" cy="418805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206" name="/raw"/>
            <p:cNvSpPr txBox="1"/>
            <p:nvPr/>
          </p:nvSpPr>
          <p:spPr>
            <a:xfrm>
              <a:off x="81357" y="11431"/>
              <a:ext cx="661528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/raw</a:t>
              </a:r>
            </a:p>
          </p:txBody>
        </p:sp>
      </p:grpSp>
      <p:grpSp>
        <p:nvGrpSpPr>
          <p:cNvPr id="211" name="Groupe 30"/>
          <p:cNvGrpSpPr/>
          <p:nvPr/>
        </p:nvGrpSpPr>
        <p:grpSpPr>
          <a:xfrm>
            <a:off x="3776907" y="1101843"/>
            <a:ext cx="2894660" cy="1071576"/>
            <a:chOff x="-1" y="-1"/>
            <a:chExt cx="2894658" cy="1071574"/>
          </a:xfrm>
        </p:grpSpPr>
        <p:sp>
          <p:nvSpPr>
            <p:cNvPr id="208" name="Rectangle"/>
            <p:cNvSpPr/>
            <p:nvPr/>
          </p:nvSpPr>
          <p:spPr>
            <a:xfrm>
              <a:off x="-2" y="-2"/>
              <a:ext cx="2894660" cy="1071576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209" name="/staging"/>
            <p:cNvSpPr txBox="1"/>
            <p:nvPr/>
          </p:nvSpPr>
          <p:spPr>
            <a:xfrm>
              <a:off x="209306" y="102169"/>
              <a:ext cx="2208846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/staging</a:t>
              </a:r>
            </a:p>
          </p:txBody>
        </p:sp>
        <p:sp>
          <p:nvSpPr>
            <p:cNvPr id="210" name="training_match_dataset et match_outcome_team_ratings dans NeonDB."/>
            <p:cNvSpPr txBox="1"/>
            <p:nvPr/>
          </p:nvSpPr>
          <p:spPr>
            <a:xfrm>
              <a:off x="209306" y="309196"/>
              <a:ext cx="2535005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training_match_dataset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match_outcome_team_ratings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Clé de passage: réconciliation player_id SoFIFA et Transfermarkt.</a:t>
              </a:r>
            </a:p>
          </p:txBody>
        </p:sp>
      </p:grpSp>
      <p:grpSp>
        <p:nvGrpSpPr>
          <p:cNvPr id="218" name="Groupe 34"/>
          <p:cNvGrpSpPr/>
          <p:nvPr/>
        </p:nvGrpSpPr>
        <p:grpSpPr>
          <a:xfrm>
            <a:off x="7019890" y="2015007"/>
            <a:ext cx="1931700" cy="1386377"/>
            <a:chOff x="-2" y="-1"/>
            <a:chExt cx="1931698" cy="1386375"/>
          </a:xfrm>
        </p:grpSpPr>
        <p:sp>
          <p:nvSpPr>
            <p:cNvPr id="212" name="Analyse et modeles"/>
            <p:cNvSpPr/>
            <p:nvPr/>
          </p:nvSpPr>
          <p:spPr>
            <a:xfrm>
              <a:off x="106706" y="-2"/>
              <a:ext cx="1788808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Analyse et modèles</a:t>
              </a:r>
            </a:p>
          </p:txBody>
        </p:sp>
        <p:grpSp>
          <p:nvGrpSpPr>
            <p:cNvPr id="217" name="Groupe 33"/>
            <p:cNvGrpSpPr/>
            <p:nvPr/>
          </p:nvGrpSpPr>
          <p:grpSpPr>
            <a:xfrm>
              <a:off x="-3" y="314793"/>
              <a:ext cx="1931699" cy="1071582"/>
              <a:chOff x="-1" y="-2"/>
              <a:chExt cx="1931698" cy="1071581"/>
            </a:xfrm>
          </p:grpSpPr>
          <p:grpSp>
            <p:nvGrpSpPr>
              <p:cNvPr id="215" name="Groupe 32"/>
              <p:cNvGrpSpPr/>
              <p:nvPr/>
            </p:nvGrpSpPr>
            <p:grpSpPr>
              <a:xfrm>
                <a:off x="-2" y="-3"/>
                <a:ext cx="1931700" cy="1071582"/>
                <a:chOff x="0" y="-1"/>
                <a:chExt cx="1931698" cy="1071581"/>
              </a:xfrm>
            </p:grpSpPr>
            <p:sp>
              <p:nvSpPr>
                <p:cNvPr id="213" name="Rectangle"/>
                <p:cNvSpPr/>
                <p:nvPr/>
              </p:nvSpPr>
              <p:spPr>
                <a:xfrm>
                  <a:off x="-1" y="-2"/>
                  <a:ext cx="1931700" cy="1071582"/>
                </a:xfrm>
                <a:prstGeom prst="rect">
                  <a:avLst/>
                </a:prstGeom>
                <a:solidFill>
                  <a:schemeClr val="accent2">
                    <a:lumOff val="80020"/>
                  </a:scheme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 sz="1000">
                      <a:latin typeface="+mn-lt"/>
                      <a:ea typeface="+mn-ea"/>
                      <a:cs typeface="+mn-cs"/>
                      <a:sym typeface="Arial"/>
                    </a:defRPr>
                  </a:pPr>
                  <a:endParaRPr/>
                </a:p>
              </p:txBody>
            </p:sp>
            <p:sp>
              <p:nvSpPr>
                <p:cNvPr id="214" name="/curated"/>
                <p:cNvSpPr/>
                <p:nvPr/>
              </p:nvSpPr>
              <p:spPr>
                <a:xfrm>
                  <a:off x="78125" y="112065"/>
                  <a:ext cx="1845972" cy="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extrusionOk="0">
                      <a:moveTo>
                        <a:pt x="0" y="0"/>
                      </a:moveTo>
                      <a:lnTo>
                        <a:pt x="21600" y="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square" lIns="34289" tIns="34289" rIns="34289" bIns="34289" numCol="1" anchor="t">
                  <a:spAutoFit/>
                </a:bodyPr>
                <a:lstStyle>
                  <a:lvl1pPr>
                    <a:defRPr sz="1100" b="1">
                      <a:solidFill>
                        <a:srgbClr val="15803D"/>
                      </a:solidFill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/curated</a:t>
                  </a:r>
                </a:p>
              </p:txBody>
            </p:sp>
          </p:grpSp>
          <p:sp>
            <p:nvSpPr>
              <p:cNvPr id="216" name="Datasets locaux de notebook pour entraînement ML, dont training_dataset_df."/>
              <p:cNvSpPr/>
              <p:nvPr/>
            </p:nvSpPr>
            <p:spPr>
              <a:xfrm>
                <a:off x="42866" y="327652"/>
                <a:ext cx="1845967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Datasets locaux de notebook pour entraînement ML, dont training_dataset_df.</a:t>
                </a:r>
              </a:p>
            </p:txBody>
          </p:sp>
        </p:grpSp>
      </p:grpSp>
      <p:grpSp>
        <p:nvGrpSpPr>
          <p:cNvPr id="221" name="Groupe 35"/>
          <p:cNvGrpSpPr/>
          <p:nvPr/>
        </p:nvGrpSpPr>
        <p:grpSpPr>
          <a:xfrm>
            <a:off x="3132918" y="1101841"/>
            <a:ext cx="621514" cy="1071579"/>
            <a:chOff x="-1" y="-1"/>
            <a:chExt cx="621513" cy="1071577"/>
          </a:xfrm>
        </p:grpSpPr>
        <p:pic>
          <p:nvPicPr>
            <p:cNvPr id="219" name="Image 36" descr="Image 3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" y="-2"/>
              <a:ext cx="585759" cy="5383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20" name="Image 37" descr="Image 3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755" y="471533"/>
              <a:ext cx="585758" cy="60004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22" name="Image 57" descr="Image 5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7500" y="3484202"/>
            <a:ext cx="1196488" cy="577618"/>
          </a:xfrm>
          <a:prstGeom prst="rect">
            <a:avLst/>
          </a:prstGeom>
          <a:ln w="12700">
            <a:miter lim="400000"/>
          </a:ln>
        </p:spPr>
      </p:pic>
      <p:sp>
        <p:nvSpPr>
          <p:cNvPr id="223" name="Fleche FastAPI vers Render"/>
          <p:cNvSpPr/>
          <p:nvPr/>
        </p:nvSpPr>
        <p:spPr>
          <a:xfrm>
            <a:off x="5293038" y="2249170"/>
            <a:ext cx="1726872" cy="616428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4" name="Fleche FastAPI vers Render"/>
          <p:cNvSpPr/>
          <p:nvPr/>
        </p:nvSpPr>
        <p:spPr>
          <a:xfrm flipV="1">
            <a:off x="3443675" y="2249845"/>
            <a:ext cx="1810039" cy="752128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5" name="Fleche FastAPI vers Render"/>
          <p:cNvSpPr/>
          <p:nvPr/>
        </p:nvSpPr>
        <p:spPr>
          <a:xfrm>
            <a:off x="2661604" y="2119458"/>
            <a:ext cx="348621" cy="109191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6" name="Fleche FastAPI vers Render"/>
          <p:cNvSpPr/>
          <p:nvPr/>
        </p:nvSpPr>
        <p:spPr>
          <a:xfrm flipV="1">
            <a:off x="2646770" y="3211367"/>
            <a:ext cx="363454" cy="93740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Fond Pau FC" descr="Fond Pau FC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75;p16"/>
          <p:cNvSpPr txBox="1">
            <a:spLocks noGrp="1"/>
          </p:cNvSpPr>
          <p:nvPr>
            <p:ph type="title"/>
          </p:nvPr>
        </p:nvSpPr>
        <p:spPr>
          <a:xfrm>
            <a:off x="1192662" y="403307"/>
            <a:ext cx="8218755" cy="533106"/>
          </a:xfrm>
          <a:prstGeom prst="rect">
            <a:avLst/>
          </a:prstGeom>
        </p:spPr>
        <p:txBody>
          <a:bodyPr anchor="ctr"/>
          <a:lstStyle>
            <a:lvl1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EDA : sécurise le dataset d'entraînement</a:t>
            </a:r>
          </a:p>
        </p:txBody>
      </p:sp>
      <p:pic>
        <p:nvPicPr>
          <p:cNvPr id="230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231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232" name="Périmètre: matchs UEFA des 5 dernières années, entre les 100 meilleurs clubs UEFA."/>
          <p:cNvSpPr txBox="1"/>
          <p:nvPr/>
        </p:nvSpPr>
        <p:spPr>
          <a:xfrm>
            <a:off x="800100" y="1147038"/>
            <a:ext cx="678942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solidFill>
                  <a:srgbClr val="555555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Périmètre: matchs UEFA des 5 dernières années, entre les 100 meilleurs clubs UEFA.</a:t>
            </a:r>
          </a:p>
        </p:txBody>
      </p:sp>
      <p:grpSp>
        <p:nvGrpSpPr>
          <p:cNvPr id="237" name="Groupe 33"/>
          <p:cNvGrpSpPr/>
          <p:nvPr/>
        </p:nvGrpSpPr>
        <p:grpSpPr>
          <a:xfrm>
            <a:off x="751812" y="1784175"/>
            <a:ext cx="1928833" cy="1985981"/>
            <a:chOff x="-1" y="-2"/>
            <a:chExt cx="1928832" cy="1985979"/>
          </a:xfrm>
        </p:grpSpPr>
        <p:grpSp>
          <p:nvGrpSpPr>
            <p:cNvPr id="235" name="Groupe 32"/>
            <p:cNvGrpSpPr/>
            <p:nvPr/>
          </p:nvGrpSpPr>
          <p:grpSpPr>
            <a:xfrm>
              <a:off x="-2" y="-3"/>
              <a:ext cx="1928833" cy="1985981"/>
              <a:chOff x="-1" y="-1"/>
              <a:chExt cx="1928832" cy="1985979"/>
            </a:xfrm>
          </p:grpSpPr>
          <p:sp>
            <p:nvSpPr>
              <p:cNvPr id="233" name="Rectangle"/>
              <p:cNvSpPr/>
              <p:nvPr/>
            </p:nvSpPr>
            <p:spPr>
              <a:xfrm>
                <a:off x="-2" y="-2"/>
                <a:ext cx="1928834" cy="1985981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  <a:endParaRPr/>
              </a:p>
            </p:txBody>
          </p:sp>
          <p:sp>
            <p:nvSpPr>
              <p:cNvPr id="234" name="100"/>
              <p:cNvSpPr txBox="1"/>
              <p:nvPr/>
            </p:nvSpPr>
            <p:spPr>
              <a:xfrm>
                <a:off x="234317" y="268609"/>
                <a:ext cx="1503065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n-lt"/>
                    <a:ea typeface="+mn-ea"/>
                    <a:cs typeface="+mn-cs"/>
                    <a:sym typeface="Arial"/>
                  </a:defRPr>
                </a:lvl1pPr>
              </a:lstStyle>
              <a:p>
                <a:r>
                  <a:t>100</a:t>
                </a:r>
              </a:p>
            </p:txBody>
          </p:sp>
        </p:grpSp>
        <p:sp>
          <p:nvSpPr>
            <p:cNvPr id="236" name="meilleures équipes UEFA comme base de comparaison"/>
            <p:cNvSpPr txBox="1"/>
            <p:nvPr/>
          </p:nvSpPr>
          <p:spPr>
            <a:xfrm>
              <a:off x="248608" y="1154436"/>
              <a:ext cx="1431618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meilleures équipes UEFA comme base de comparaison</a:t>
              </a:r>
            </a:p>
          </p:txBody>
        </p:sp>
      </p:grpSp>
      <p:grpSp>
        <p:nvGrpSpPr>
          <p:cNvPr id="242" name="Groupe 31"/>
          <p:cNvGrpSpPr/>
          <p:nvPr/>
        </p:nvGrpSpPr>
        <p:grpSpPr>
          <a:xfrm>
            <a:off x="3135515" y="1798521"/>
            <a:ext cx="1928830" cy="1985981"/>
            <a:chOff x="-1" y="-2"/>
            <a:chExt cx="1928829" cy="1985979"/>
          </a:xfrm>
        </p:grpSpPr>
        <p:grpSp>
          <p:nvGrpSpPr>
            <p:cNvPr id="240" name="Groupe 30"/>
            <p:cNvGrpSpPr/>
            <p:nvPr/>
          </p:nvGrpSpPr>
          <p:grpSpPr>
            <a:xfrm>
              <a:off x="-2" y="-3"/>
              <a:ext cx="1928831" cy="1985981"/>
              <a:chOff x="0" y="-1"/>
              <a:chExt cx="1928829" cy="1985979"/>
            </a:xfrm>
          </p:grpSpPr>
          <p:sp>
            <p:nvSpPr>
              <p:cNvPr id="238" name="Rectangle"/>
              <p:cNvSpPr/>
              <p:nvPr/>
            </p:nvSpPr>
            <p:spPr>
              <a:xfrm>
                <a:off x="-1" y="-2"/>
                <a:ext cx="1928830" cy="1985981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  <a:endParaRPr/>
              </a:p>
            </p:txBody>
          </p:sp>
          <p:sp>
            <p:nvSpPr>
              <p:cNvPr id="239" name="6000"/>
              <p:cNvSpPr txBox="1"/>
              <p:nvPr/>
            </p:nvSpPr>
            <p:spPr>
              <a:xfrm>
                <a:off x="234316" y="268609"/>
                <a:ext cx="1503064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n-lt"/>
                    <a:ea typeface="+mn-ea"/>
                    <a:cs typeface="+mn-cs"/>
                    <a:sym typeface="Arial"/>
                  </a:defRPr>
                </a:lvl1pPr>
              </a:lstStyle>
              <a:p>
                <a:r>
                  <a:t>6000</a:t>
                </a:r>
              </a:p>
            </p:txBody>
          </p:sp>
        </p:grpSp>
        <p:sp>
          <p:nvSpPr>
            <p:cNvPr id="241" name="matchs environ avant jointure complète"/>
            <p:cNvSpPr txBox="1"/>
            <p:nvPr/>
          </p:nvSpPr>
          <p:spPr>
            <a:xfrm>
              <a:off x="248607" y="1154436"/>
              <a:ext cx="1431618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environ avant jointure complète</a:t>
              </a:r>
            </a:p>
          </p:txBody>
        </p:sp>
      </p:grpSp>
      <p:grpSp>
        <p:nvGrpSpPr>
          <p:cNvPr id="247" name="Groupe 29"/>
          <p:cNvGrpSpPr/>
          <p:nvPr/>
        </p:nvGrpSpPr>
        <p:grpSpPr>
          <a:xfrm>
            <a:off x="5915150" y="1784175"/>
            <a:ext cx="1928831" cy="1985981"/>
            <a:chOff x="-1" y="-2"/>
            <a:chExt cx="1928829" cy="1985979"/>
          </a:xfrm>
        </p:grpSpPr>
        <p:grpSp>
          <p:nvGrpSpPr>
            <p:cNvPr id="245" name="Groupe 28"/>
            <p:cNvGrpSpPr/>
            <p:nvPr/>
          </p:nvGrpSpPr>
          <p:grpSpPr>
            <a:xfrm>
              <a:off x="-2" y="-3"/>
              <a:ext cx="1928831" cy="1985981"/>
              <a:chOff x="0" y="-1"/>
              <a:chExt cx="1928829" cy="1985979"/>
            </a:xfrm>
          </p:grpSpPr>
          <p:sp>
            <p:nvSpPr>
              <p:cNvPr id="243" name="Rectangle"/>
              <p:cNvSpPr/>
              <p:nvPr/>
            </p:nvSpPr>
            <p:spPr>
              <a:xfrm>
                <a:off x="-1" y="-2"/>
                <a:ext cx="1928830" cy="1985981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n-lt"/>
                    <a:ea typeface="+mn-ea"/>
                    <a:cs typeface="+mn-cs"/>
                    <a:sym typeface="Arial"/>
                  </a:defRPr>
                </a:pPr>
                <a:endParaRPr/>
              </a:p>
            </p:txBody>
          </p:sp>
          <p:sp>
            <p:nvSpPr>
              <p:cNvPr id="244" name="3800"/>
              <p:cNvSpPr txBox="1"/>
              <p:nvPr/>
            </p:nvSpPr>
            <p:spPr>
              <a:xfrm>
                <a:off x="212886" y="268609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n-lt"/>
                    <a:ea typeface="+mn-ea"/>
                    <a:cs typeface="+mn-cs"/>
                    <a:sym typeface="Arial"/>
                  </a:defRPr>
                </a:lvl1pPr>
              </a:lstStyle>
              <a:p>
                <a:r>
                  <a:t>3800</a:t>
                </a:r>
              </a:p>
            </p:txBody>
          </p:sp>
        </p:grpSp>
        <p:sp>
          <p:nvSpPr>
            <p:cNvPr id="246" name="matchs exploitables après retrait des NaN"/>
            <p:cNvSpPr txBox="1"/>
            <p:nvPr/>
          </p:nvSpPr>
          <p:spPr>
            <a:xfrm>
              <a:off x="227176" y="1154436"/>
              <a:ext cx="1431616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exploitables après retrait des NaN</a:t>
              </a:r>
            </a:p>
          </p:txBody>
        </p:sp>
      </p:grpSp>
      <p:sp>
        <p:nvSpPr>
          <p:cNvPr id="248" name="Conclusion modele"/>
          <p:cNvSpPr txBox="1"/>
          <p:nvPr/>
        </p:nvSpPr>
        <p:spPr>
          <a:xfrm>
            <a:off x="334327" y="4240531"/>
            <a:ext cx="193167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Conclusion modèle</a:t>
            </a:r>
          </a:p>
        </p:txBody>
      </p:sp>
      <p:sp>
        <p:nvSpPr>
          <p:cNvPr id="249" name="Le clustering joueurs a surtout séparé les niveaux de force, pas des profils techniques nets. Dans cette version, il réduit l'information et dégrade la performance."/>
          <p:cNvSpPr txBox="1"/>
          <p:nvPr/>
        </p:nvSpPr>
        <p:spPr>
          <a:xfrm>
            <a:off x="2384982" y="4168549"/>
            <a:ext cx="5646431" cy="39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Le clustering joueurs a surtout séparé les niveaux de force, pas des profils techniques nets. Dans cette version, il réduit l'information et dégrade la performance.</a:t>
            </a:r>
          </a:p>
        </p:txBody>
      </p:sp>
      <p:sp>
        <p:nvSpPr>
          <p:cNvPr id="250" name="3"/>
          <p:cNvSpPr txBox="1"/>
          <p:nvPr/>
        </p:nvSpPr>
        <p:spPr>
          <a:xfrm>
            <a:off x="8492489" y="4726306"/>
            <a:ext cx="317190" cy="154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89" tIns="34289" rIns="34289" bIns="34289">
            <a:spAutoFit/>
          </a:bodyPr>
          <a:lstStyle>
            <a:lvl1pPr algn="r">
              <a:defRPr sz="700">
                <a:solidFill>
                  <a:srgbClr val="555555"/>
                </a:solidFill>
                <a:latin typeface="+mn-lt"/>
                <a:ea typeface="+mn-ea"/>
                <a:cs typeface="+mn-cs"/>
                <a:sym typeface="Arial"/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2" name="Fond FC Barcelone" descr="Fond FC Barcelone"/>
          <p:cNvPicPr>
            <a:picLocks noChangeAspect="1"/>
          </p:cNvPicPr>
          <p:nvPr/>
        </p:nvPicPr>
        <p:blipFill>
          <a:blip r:embed="rId2"/>
          <a:srcRect t="7812" r="810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Google Shape;75;p16"/>
          <p:cNvSpPr txBox="1">
            <a:spLocks noGrp="1"/>
          </p:cNvSpPr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Entrainement</a:t>
            </a:r>
          </a:p>
        </p:txBody>
      </p:sp>
      <p:pic>
        <p:nvPicPr>
          <p:cNvPr id="254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255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grpSp>
        <p:nvGrpSpPr>
          <p:cNvPr id="258" name="Groupe 27"/>
          <p:cNvGrpSpPr/>
          <p:nvPr/>
        </p:nvGrpSpPr>
        <p:grpSpPr>
          <a:xfrm>
            <a:off x="7096703" y="1678896"/>
            <a:ext cx="1143111" cy="1615658"/>
            <a:chOff x="0" y="0"/>
            <a:chExt cx="1143110" cy="1615656"/>
          </a:xfrm>
        </p:grpSpPr>
        <p:pic>
          <p:nvPicPr>
            <p:cNvPr id="256" name="Image 7" descr="Imag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396342"/>
              <a:ext cx="1143112" cy="1219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57" name="Image 13" descr="Image 1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0147" y="-1"/>
              <a:ext cx="844701" cy="53070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62" name="Groupe 17"/>
          <p:cNvGrpSpPr/>
          <p:nvPr/>
        </p:nvGrpSpPr>
        <p:grpSpPr>
          <a:xfrm>
            <a:off x="2546638" y="1488944"/>
            <a:ext cx="2278628" cy="2356461"/>
            <a:chOff x="-1" y="0"/>
            <a:chExt cx="2278626" cy="2356460"/>
          </a:xfrm>
        </p:grpSpPr>
        <p:pic>
          <p:nvPicPr>
            <p:cNvPr id="259" name="Image 2" descr="Image 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3865" y="837871"/>
              <a:ext cx="1196491" cy="57761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0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206" y="-1"/>
              <a:ext cx="699807" cy="6272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61" name="ZoneTexte 16"/>
            <p:cNvSpPr txBox="1"/>
            <p:nvPr/>
          </p:nvSpPr>
          <p:spPr>
            <a:xfrm>
              <a:off x="-1" y="1617323"/>
              <a:ext cx="2278627" cy="7391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/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Construction des datasets</a:t>
              </a:r>
              <a:br/>
              <a:r>
                <a:t>et entraînement du modèle </a:t>
              </a:r>
            </a:p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en local</a:t>
              </a:r>
            </a:p>
          </p:txBody>
        </p:sp>
      </p:grpSp>
      <p:sp>
        <p:nvSpPr>
          <p:cNvPr id="263" name="Fleche FastAPI vers Render"/>
          <p:cNvSpPr/>
          <p:nvPr/>
        </p:nvSpPr>
        <p:spPr>
          <a:xfrm flipV="1">
            <a:off x="1664018" y="2785792"/>
            <a:ext cx="1026493" cy="12292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64" name="Fleche FastAPI vers Render"/>
          <p:cNvSpPr/>
          <p:nvPr/>
        </p:nvSpPr>
        <p:spPr>
          <a:xfrm flipV="1">
            <a:off x="3886991" y="2579290"/>
            <a:ext cx="863916" cy="7097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65" name="Fleche FastAPI vers Render"/>
          <p:cNvSpPr/>
          <p:nvPr/>
        </p:nvSpPr>
        <p:spPr>
          <a:xfrm flipV="1">
            <a:off x="6259795" y="2494807"/>
            <a:ext cx="836910" cy="1184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268" name="Groupe 36"/>
          <p:cNvGrpSpPr/>
          <p:nvPr/>
        </p:nvGrpSpPr>
        <p:grpSpPr>
          <a:xfrm>
            <a:off x="904191" y="2278920"/>
            <a:ext cx="759835" cy="1350580"/>
            <a:chOff x="0" y="0"/>
            <a:chExt cx="759833" cy="1350580"/>
          </a:xfrm>
        </p:grpSpPr>
        <p:pic>
          <p:nvPicPr>
            <p:cNvPr id="266" name="Image 9" descr="Image 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-1" y="-1"/>
              <a:ext cx="759835" cy="69837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7" name="Image 35" descr="Image 3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-1" y="572218"/>
              <a:ext cx="759835" cy="77836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75" name="Groupe 39"/>
          <p:cNvGrpSpPr/>
          <p:nvPr/>
        </p:nvGrpSpPr>
        <p:grpSpPr>
          <a:xfrm>
            <a:off x="4750903" y="1740502"/>
            <a:ext cx="1508913" cy="1553615"/>
            <a:chOff x="-1" y="-1"/>
            <a:chExt cx="1508912" cy="1553614"/>
          </a:xfrm>
        </p:grpSpPr>
        <p:grpSp>
          <p:nvGrpSpPr>
            <p:cNvPr id="273" name="Groupe 26"/>
            <p:cNvGrpSpPr/>
            <p:nvPr/>
          </p:nvGrpSpPr>
          <p:grpSpPr>
            <a:xfrm>
              <a:off x="-2" y="-2"/>
              <a:ext cx="1508914" cy="1553615"/>
              <a:chOff x="0" y="-1"/>
              <a:chExt cx="1508912" cy="1553614"/>
            </a:xfrm>
          </p:grpSpPr>
          <p:grpSp>
            <p:nvGrpSpPr>
              <p:cNvPr id="271" name="Groupe 3"/>
              <p:cNvGrpSpPr/>
              <p:nvPr/>
            </p:nvGrpSpPr>
            <p:grpSpPr>
              <a:xfrm>
                <a:off x="-1" y="484198"/>
                <a:ext cx="1508913" cy="1069416"/>
                <a:chOff x="0" y="-1"/>
                <a:chExt cx="1508912" cy="1069415"/>
              </a:xfrm>
            </p:grpSpPr>
            <p:pic>
              <p:nvPicPr>
                <p:cNvPr id="269" name="Image 4" descr="Image 4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-1" y="-2"/>
                  <a:ext cx="1508914" cy="762086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270" name="ZoneTexte 5"/>
                <p:cNvSpPr txBox="1"/>
                <p:nvPr/>
              </p:nvSpPr>
              <p:spPr>
                <a:xfrm>
                  <a:off x="345739" y="762078"/>
                  <a:ext cx="779395" cy="307337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Tracking</a:t>
                  </a:r>
                </a:p>
              </p:txBody>
            </p:sp>
          </p:grpSp>
          <p:pic>
            <p:nvPicPr>
              <p:cNvPr id="272" name="Image 11" descr="Image 1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90420" y="-2"/>
                <a:ext cx="728068" cy="59904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274" name="Image 38" descr="Image 3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38062" y="320060"/>
              <a:ext cx="351253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76" name="Image 41" descr="Image 4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2480" y="3816081"/>
            <a:ext cx="759826" cy="4106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Fond OM" descr="Fond OM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9" name="Zone API-Front"/>
          <p:cNvSpPr/>
          <p:nvPr/>
        </p:nvSpPr>
        <p:spPr>
          <a:xfrm>
            <a:off x="4857472" y="1433652"/>
            <a:ext cx="3777006" cy="3123615"/>
          </a:xfrm>
          <a:prstGeom prst="roundRect">
            <a:avLst>
              <a:gd name="adj" fmla="val 5500"/>
            </a:avLst>
          </a:prstGeom>
          <a:ln w="28575" cap="rnd">
            <a:solidFill>
              <a:srgbClr val="0FB2BE"/>
            </a:solidFill>
          </a:ln>
          <a:effectLst>
            <a:outerShdw blurRad="76200" dist="20000" dir="5400000" rotWithShape="0">
              <a:srgbClr val="0E3449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280" name="Google Shape;75;p16"/>
          <p:cNvSpPr txBox="1">
            <a:spLocks noGrp="1"/>
          </p:cNvSpPr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Inference</a:t>
            </a:r>
          </a:p>
        </p:txBody>
      </p:sp>
      <p:pic>
        <p:nvPicPr>
          <p:cNvPr id="281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282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pic>
        <p:nvPicPr>
          <p:cNvPr id="283" name="Image 19" descr="Imag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482" y="1035810"/>
            <a:ext cx="1010885" cy="31906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86" name="Groupe 83"/>
          <p:cNvGrpSpPr/>
          <p:nvPr/>
        </p:nvGrpSpPr>
        <p:grpSpPr>
          <a:xfrm>
            <a:off x="372625" y="3143061"/>
            <a:ext cx="1143116" cy="1543952"/>
            <a:chOff x="-1" y="0"/>
            <a:chExt cx="1143115" cy="1543950"/>
          </a:xfrm>
        </p:grpSpPr>
        <p:pic>
          <p:nvPicPr>
            <p:cNvPr id="284" name="Image 11" descr="Imag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2" y="324633"/>
              <a:ext cx="1143116" cy="121931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5" name="Image 23" descr="Image 2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4527" y="-1"/>
              <a:ext cx="844700" cy="5307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87" name="Fleche FastAPI vers LLM"/>
          <p:cNvSpPr/>
          <p:nvPr/>
        </p:nvSpPr>
        <p:spPr>
          <a:xfrm flipV="1">
            <a:off x="5789912" y="3528815"/>
            <a:ext cx="1337341" cy="425772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8" name="Fleche FastAPI vers App"/>
          <p:cNvSpPr/>
          <p:nvPr/>
        </p:nvSpPr>
        <p:spPr>
          <a:xfrm flipV="1">
            <a:off x="2994767" y="2074135"/>
            <a:ext cx="125592" cy="297454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9" name="Fleche FastAPI vers App"/>
          <p:cNvSpPr/>
          <p:nvPr/>
        </p:nvSpPr>
        <p:spPr>
          <a:xfrm flipV="1">
            <a:off x="4321883" y="4040701"/>
            <a:ext cx="710218" cy="62688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90" name="Fleche FastAPI vers App"/>
          <p:cNvSpPr/>
          <p:nvPr/>
        </p:nvSpPr>
        <p:spPr>
          <a:xfrm flipV="1">
            <a:off x="3104418" y="2995965"/>
            <a:ext cx="1887400" cy="5819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91" name="Fleche FastAPI vers Render"/>
          <p:cNvSpPr/>
          <p:nvPr/>
        </p:nvSpPr>
        <p:spPr>
          <a:xfrm>
            <a:off x="3935236" y="1606811"/>
            <a:ext cx="1139251" cy="201294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92" name="Fleche FastAPI vers LLM"/>
          <p:cNvSpPr/>
          <p:nvPr/>
        </p:nvSpPr>
        <p:spPr>
          <a:xfrm>
            <a:off x="5788223" y="1974294"/>
            <a:ext cx="1339029" cy="98934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93" name="Fleche FastAPI vers LLM"/>
          <p:cNvSpPr/>
          <p:nvPr/>
        </p:nvSpPr>
        <p:spPr>
          <a:xfrm>
            <a:off x="6176093" y="3086255"/>
            <a:ext cx="951157" cy="174368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94" name="Fleche FastAPI vers Render"/>
          <p:cNvSpPr/>
          <p:nvPr/>
        </p:nvSpPr>
        <p:spPr>
          <a:xfrm>
            <a:off x="1515728" y="3970582"/>
            <a:ext cx="1297268" cy="12607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297" name="Groupe 91"/>
          <p:cNvGrpSpPr/>
          <p:nvPr/>
        </p:nvGrpSpPr>
        <p:grpSpPr>
          <a:xfrm>
            <a:off x="2298214" y="2371576"/>
            <a:ext cx="806214" cy="1390026"/>
            <a:chOff x="-1" y="-1"/>
            <a:chExt cx="806213" cy="1390025"/>
          </a:xfrm>
        </p:grpSpPr>
        <p:pic>
          <p:nvPicPr>
            <p:cNvPr id="295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-2" y="-2"/>
              <a:ext cx="759832" cy="6983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96" name="Image 90" descr="Image 90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81" y="611662"/>
              <a:ext cx="759832" cy="7783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98" name="Image 93" descr="Image 9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7905" y="328872"/>
            <a:ext cx="707872" cy="681975"/>
          </a:xfrm>
          <a:prstGeom prst="rect">
            <a:avLst/>
          </a:prstGeom>
          <a:ln w="12700">
            <a:miter lim="400000"/>
          </a:ln>
        </p:spPr>
      </p:pic>
      <p:sp>
        <p:nvSpPr>
          <p:cNvPr id="299" name="Fleche FastAPI vers Render"/>
          <p:cNvSpPr/>
          <p:nvPr/>
        </p:nvSpPr>
        <p:spPr>
          <a:xfrm flipH="1">
            <a:off x="6015517" y="979022"/>
            <a:ext cx="1652007" cy="21631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06" name="Groupe 212"/>
          <p:cNvGrpSpPr/>
          <p:nvPr/>
        </p:nvGrpSpPr>
        <p:grpSpPr>
          <a:xfrm>
            <a:off x="2812987" y="3443888"/>
            <a:ext cx="1508913" cy="1452156"/>
            <a:chOff x="-2" y="-1"/>
            <a:chExt cx="1508911" cy="1452155"/>
          </a:xfrm>
        </p:grpSpPr>
        <p:grpSp>
          <p:nvGrpSpPr>
            <p:cNvPr id="304" name="Groupe 52"/>
            <p:cNvGrpSpPr/>
            <p:nvPr/>
          </p:nvGrpSpPr>
          <p:grpSpPr>
            <a:xfrm>
              <a:off x="-3" y="-2"/>
              <a:ext cx="1508913" cy="1452156"/>
              <a:chOff x="0" y="0"/>
              <a:chExt cx="1508911" cy="1452155"/>
            </a:xfrm>
          </p:grpSpPr>
          <p:grpSp>
            <p:nvGrpSpPr>
              <p:cNvPr id="302" name="Groupe 7"/>
              <p:cNvGrpSpPr/>
              <p:nvPr/>
            </p:nvGrpSpPr>
            <p:grpSpPr>
              <a:xfrm>
                <a:off x="-1" y="401256"/>
                <a:ext cx="1508912" cy="1050899"/>
                <a:chOff x="0" y="-1"/>
                <a:chExt cx="1508911" cy="1050897"/>
              </a:xfrm>
            </p:grpSpPr>
            <p:pic>
              <p:nvPicPr>
                <p:cNvPr id="300" name="Image 8" descr="Image 8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-2"/>
                  <a:ext cx="1508912" cy="762085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301" name="ZoneTexte 9"/>
                <p:cNvSpPr txBox="1"/>
                <p:nvPr/>
              </p:nvSpPr>
              <p:spPr>
                <a:xfrm>
                  <a:off x="345740" y="762077"/>
                  <a:ext cx="588399" cy="288820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+mn-lt"/>
                      <a:ea typeface="+mn-ea"/>
                      <a:cs typeface="+mn-cs"/>
                      <a:sym typeface="Arial"/>
                    </a:defRPr>
                  </a:lvl1pPr>
                </a:lstStyle>
                <a:p>
                  <a:r>
                    <a:t>Model</a:t>
                  </a:r>
                </a:p>
              </p:txBody>
            </p:sp>
          </p:grpSp>
          <p:pic>
            <p:nvPicPr>
              <p:cNvPr id="303" name="Image 21" descr="Image 2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2991" y="-1"/>
                <a:ext cx="728068" cy="59904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05" name="Image 126" descr="Image 12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86756" y="271676"/>
              <a:ext cx="351253" cy="213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11" name="Groupe 203"/>
          <p:cNvGrpSpPr/>
          <p:nvPr/>
        </p:nvGrpSpPr>
        <p:grpSpPr>
          <a:xfrm>
            <a:off x="5074473" y="1489787"/>
            <a:ext cx="1284883" cy="863626"/>
            <a:chOff x="-1" y="-1"/>
            <a:chExt cx="1284882" cy="863624"/>
          </a:xfrm>
        </p:grpSpPr>
        <p:sp>
          <p:nvSpPr>
            <p:cNvPr id="307" name="ZoneTexte 119"/>
            <p:cNvSpPr txBox="1"/>
            <p:nvPr/>
          </p:nvSpPr>
          <p:spPr>
            <a:xfrm>
              <a:off x="281173" y="556286"/>
              <a:ext cx="1003708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defRPr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/tchat</a:t>
              </a:r>
            </a:p>
          </p:txBody>
        </p:sp>
        <p:grpSp>
          <p:nvGrpSpPr>
            <p:cNvPr id="310" name="Groupe 202"/>
            <p:cNvGrpSpPr/>
            <p:nvPr/>
          </p:nvGrpSpPr>
          <p:grpSpPr>
            <a:xfrm>
              <a:off x="-2" y="-2"/>
              <a:ext cx="1134283" cy="632051"/>
              <a:chOff x="0" y="-1"/>
              <a:chExt cx="1134282" cy="632050"/>
            </a:xfrm>
          </p:grpSpPr>
          <p:pic>
            <p:nvPicPr>
              <p:cNvPr id="308" name="Image 6" descr="Image 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-2"/>
                <a:ext cx="713756" cy="63205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09" name="Image 192" descr="Image 192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3025" y="207980"/>
                <a:ext cx="351257" cy="21338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grpSp>
        <p:nvGrpSpPr>
          <p:cNvPr id="316" name="Groupe 211"/>
          <p:cNvGrpSpPr/>
          <p:nvPr/>
        </p:nvGrpSpPr>
        <p:grpSpPr>
          <a:xfrm>
            <a:off x="6997999" y="2855753"/>
            <a:ext cx="1327688" cy="1005714"/>
            <a:chOff x="-1" y="-1"/>
            <a:chExt cx="1327686" cy="1005712"/>
          </a:xfrm>
        </p:grpSpPr>
        <p:grpSp>
          <p:nvGrpSpPr>
            <p:cNvPr id="314" name="Groupe 122"/>
            <p:cNvGrpSpPr/>
            <p:nvPr/>
          </p:nvGrpSpPr>
          <p:grpSpPr>
            <a:xfrm>
              <a:off x="129242" y="-2"/>
              <a:ext cx="1198444" cy="1005713"/>
              <a:chOff x="-1" y="-1"/>
              <a:chExt cx="1198443" cy="1005712"/>
            </a:xfrm>
          </p:grpSpPr>
          <p:pic>
            <p:nvPicPr>
              <p:cNvPr id="312" name="Image 13" descr="Image 13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-2" y="-2"/>
                <a:ext cx="1198445" cy="698383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13" name="ZoneTexte 114"/>
              <p:cNvSpPr txBox="1"/>
              <p:nvPr/>
            </p:nvSpPr>
            <p:spPr>
              <a:xfrm>
                <a:off x="386155" y="698375"/>
                <a:ext cx="519120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Front</a:t>
                </a:r>
              </a:p>
            </p:txBody>
          </p:sp>
        </p:grpSp>
        <p:pic>
          <p:nvPicPr>
            <p:cNvPr id="315" name="Image 194" descr="Image 194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-2" y="455336"/>
              <a:ext cx="351256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1" name="Groupe 204"/>
          <p:cNvGrpSpPr/>
          <p:nvPr/>
        </p:nvGrpSpPr>
        <p:grpSpPr>
          <a:xfrm>
            <a:off x="4991806" y="2520990"/>
            <a:ext cx="1184281" cy="913432"/>
            <a:chOff x="-1" y="0"/>
            <a:chExt cx="1184280" cy="913431"/>
          </a:xfrm>
        </p:grpSpPr>
        <p:grpSp>
          <p:nvGrpSpPr>
            <p:cNvPr id="319" name="Groupe 120"/>
            <p:cNvGrpSpPr/>
            <p:nvPr/>
          </p:nvGrpSpPr>
          <p:grpSpPr>
            <a:xfrm>
              <a:off x="-2" y="27495"/>
              <a:ext cx="1184281" cy="885936"/>
              <a:chOff x="-1" y="-1"/>
              <a:chExt cx="1184280" cy="885935"/>
            </a:xfrm>
          </p:grpSpPr>
          <p:pic>
            <p:nvPicPr>
              <p:cNvPr id="317" name="Image 4" descr="Image 4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2" y="-2"/>
                <a:ext cx="713757" cy="632050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18" name="ZoneTexte 117"/>
              <p:cNvSpPr txBox="1"/>
              <p:nvPr/>
            </p:nvSpPr>
            <p:spPr>
              <a:xfrm>
                <a:off x="546483" y="362698"/>
                <a:ext cx="637797" cy="5232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/team</a:t>
                </a:r>
              </a:p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/player</a:t>
                </a:r>
              </a:p>
            </p:txBody>
          </p:sp>
        </p:grpSp>
        <p:pic>
          <p:nvPicPr>
            <p:cNvPr id="320" name="Image 196" descr="Image 19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42633" y="-1"/>
              <a:ext cx="351253" cy="2133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6" name="Groupe 210"/>
          <p:cNvGrpSpPr/>
          <p:nvPr/>
        </p:nvGrpSpPr>
        <p:grpSpPr>
          <a:xfrm>
            <a:off x="5032088" y="3665180"/>
            <a:ext cx="1348456" cy="632051"/>
            <a:chOff x="-2" y="0"/>
            <a:chExt cx="1348455" cy="632050"/>
          </a:xfrm>
        </p:grpSpPr>
        <p:grpSp>
          <p:nvGrpSpPr>
            <p:cNvPr id="324" name="Groupe 121"/>
            <p:cNvGrpSpPr/>
            <p:nvPr/>
          </p:nvGrpSpPr>
          <p:grpSpPr>
            <a:xfrm>
              <a:off x="-3" y="-1"/>
              <a:ext cx="1348457" cy="632052"/>
              <a:chOff x="0" y="0"/>
              <a:chExt cx="1348455" cy="632050"/>
            </a:xfrm>
          </p:grpSpPr>
          <p:pic>
            <p:nvPicPr>
              <p:cNvPr id="322" name="Image 2" descr="Image 2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-1"/>
                <a:ext cx="713757" cy="63205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23" name="ZoneTexte 115"/>
              <p:cNvSpPr txBox="1"/>
              <p:nvPr/>
            </p:nvSpPr>
            <p:spPr>
              <a:xfrm>
                <a:off x="661259" y="289409"/>
                <a:ext cx="687196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+mn-lt"/>
                    <a:ea typeface="+mn-ea"/>
                    <a:cs typeface="+mn-cs"/>
                    <a:sym typeface="Arial"/>
                  </a:defRPr>
                </a:pPr>
                <a:r>
                  <a:t>/</a:t>
                </a:r>
                <a:r>
                  <a:rPr>
                    <a:latin typeface="Inter"/>
                    <a:ea typeface="Inter"/>
                    <a:cs typeface="Inter"/>
                    <a:sym typeface="Inter"/>
                  </a:rPr>
                  <a:t>predict</a:t>
                </a:r>
              </a:p>
            </p:txBody>
          </p:sp>
        </p:grpSp>
        <p:pic>
          <p:nvPicPr>
            <p:cNvPr id="325" name="Image 198" descr="Image 19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18104" y="50390"/>
              <a:ext cx="351256" cy="213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1" name="Groupe 213"/>
          <p:cNvGrpSpPr/>
          <p:nvPr/>
        </p:nvGrpSpPr>
        <p:grpSpPr>
          <a:xfrm>
            <a:off x="2785851" y="936397"/>
            <a:ext cx="1149400" cy="1137745"/>
            <a:chOff x="0" y="-1"/>
            <a:chExt cx="1149399" cy="1137744"/>
          </a:xfrm>
        </p:grpSpPr>
        <p:grpSp>
          <p:nvGrpSpPr>
            <p:cNvPr id="329" name="Groupe 37"/>
            <p:cNvGrpSpPr/>
            <p:nvPr/>
          </p:nvGrpSpPr>
          <p:grpSpPr>
            <a:xfrm>
              <a:off x="209351" y="-2"/>
              <a:ext cx="940048" cy="1137745"/>
              <a:chOff x="0" y="-1"/>
              <a:chExt cx="940047" cy="1137744"/>
            </a:xfrm>
          </p:grpSpPr>
          <p:pic>
            <p:nvPicPr>
              <p:cNvPr id="327" name="Image 27" descr="Image 27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2389" y="-2"/>
                <a:ext cx="571744" cy="63822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28" name="Image 17" descr="Image 17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0" y="555410"/>
                <a:ext cx="940048" cy="5823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30" name="Image 201" descr="Image 20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-1" y="419993"/>
              <a:ext cx="351255" cy="21338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Fond Bayern Munich" descr="Fond Bayern Munich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4" name="Google Shape;75;p16"/>
          <p:cNvSpPr txBox="1">
            <a:spLocks noGrp="1"/>
          </p:cNvSpPr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/>
          <a:p>
            <a: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Conclusion - Evolutions</a:t>
            </a:r>
          </a:p>
        </p:txBody>
      </p:sp>
      <p:pic>
        <p:nvPicPr>
          <p:cNvPr id="335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336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337" name="ZoneTexte 2"/>
          <p:cNvSpPr txBox="1"/>
          <p:nvPr/>
        </p:nvSpPr>
        <p:spPr>
          <a:xfrm>
            <a:off x="345717" y="1274056"/>
            <a:ext cx="8453510" cy="36856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1600" b="1"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Conclusion</a:t>
            </a:r>
            <a:endParaRPr sz="1100" dirty="0"/>
          </a:p>
          <a:p>
            <a:pPr>
              <a:defRPr sz="1100" b="1">
                <a:latin typeface="Inter"/>
                <a:ea typeface="Inter"/>
                <a:cs typeface="Inter"/>
                <a:sym typeface="Inter"/>
              </a:defRPr>
            </a:pPr>
            <a:endParaRPr sz="1100" dirty="0"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solidFill>
                  <a:srgbClr val="3A4950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sz="1600" dirty="0"/>
              <a:t>  </a:t>
            </a:r>
            <a:r>
              <a:rPr sz="1600" dirty="0" err="1"/>
              <a:t>Besoin</a:t>
            </a:r>
            <a:r>
              <a:rPr sz="1600" dirty="0"/>
              <a:t> : assister un </a:t>
            </a:r>
            <a:r>
              <a:rPr sz="1600" dirty="0" err="1"/>
              <a:t>entraineur</a:t>
            </a:r>
            <a:r>
              <a:rPr sz="1600" dirty="0"/>
              <a:t> de foot pour former son équipe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solidFill>
                  <a:srgbClr val="3A4950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sz="1600" dirty="0"/>
              <a:t>  Proposition : </a:t>
            </a:r>
            <a:r>
              <a:rPr sz="1600" dirty="0" err="1"/>
              <a:t>une</a:t>
            </a:r>
            <a:r>
              <a:rPr sz="1600" dirty="0"/>
              <a:t> application pour </a:t>
            </a:r>
            <a:r>
              <a:rPr sz="1600" dirty="0" err="1"/>
              <a:t>l’aider</a:t>
            </a:r>
            <a:r>
              <a:rPr sz="1600" dirty="0"/>
              <a:t> à </a:t>
            </a:r>
            <a:r>
              <a:rPr sz="1600" dirty="0" err="1"/>
              <a:t>choisir</a:t>
            </a:r>
            <a:r>
              <a:rPr sz="1600" dirty="0"/>
              <a:t> </a:t>
            </a:r>
            <a:r>
              <a:rPr sz="1600" dirty="0" err="1"/>
              <a:t>ses</a:t>
            </a:r>
            <a:r>
              <a:rPr sz="1600" dirty="0"/>
              <a:t> </a:t>
            </a:r>
            <a:r>
              <a:rPr sz="1600" dirty="0" err="1"/>
              <a:t>joueurs</a:t>
            </a:r>
            <a:endParaRPr sz="1600" dirty="0"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600" b="1"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Perspectives</a:t>
            </a:r>
            <a:endParaRPr sz="1100" dirty="0"/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sz="1600" dirty="0" err="1"/>
              <a:t>Améliorer</a:t>
            </a:r>
            <a:r>
              <a:rPr sz="1600" dirty="0"/>
              <a:t> le LLM (prompt engineering, les </a:t>
            </a:r>
            <a:r>
              <a:rPr sz="1600" dirty="0" err="1"/>
              <a:t>pré-remplissages</a:t>
            </a:r>
            <a:r>
              <a:rPr sz="1600" dirty="0"/>
              <a:t> des </a:t>
            </a:r>
            <a:r>
              <a:rPr sz="1600" dirty="0" err="1"/>
              <a:t>formulaires</a:t>
            </a:r>
            <a:r>
              <a:rPr sz="1600" dirty="0"/>
              <a:t> sur la </a:t>
            </a:r>
            <a:r>
              <a:rPr sz="1600" dirty="0" err="1"/>
              <a:t>vue</a:t>
            </a:r>
            <a:r>
              <a:rPr sz="1600" dirty="0"/>
              <a:t> « custom team »)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sz="1600" dirty="0" err="1"/>
              <a:t>Amélioration</a:t>
            </a:r>
            <a:r>
              <a:rPr sz="1600" dirty="0"/>
              <a:t> du </a:t>
            </a:r>
            <a:r>
              <a:rPr sz="1600" dirty="0" err="1"/>
              <a:t>modèle</a:t>
            </a:r>
            <a:r>
              <a:rPr sz="1600" dirty="0"/>
              <a:t> : passer à </a:t>
            </a:r>
            <a:r>
              <a:rPr sz="1600" dirty="0" err="1"/>
              <a:t>une</a:t>
            </a:r>
            <a:r>
              <a:rPr sz="1600" dirty="0"/>
              <a:t> target « </a:t>
            </a:r>
            <a:r>
              <a:rPr sz="1600" dirty="0" err="1"/>
              <a:t>probabilité</a:t>
            </a:r>
            <a:r>
              <a:rPr sz="1600" dirty="0"/>
              <a:t> de </a:t>
            </a:r>
            <a:r>
              <a:rPr sz="1600" dirty="0" err="1"/>
              <a:t>gagner</a:t>
            </a:r>
            <a:r>
              <a:rPr sz="1600" dirty="0"/>
              <a:t> un match »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sz="1600" dirty="0"/>
              <a:t>Recherche </a:t>
            </a:r>
            <a:r>
              <a:rPr sz="1600" dirty="0" err="1"/>
              <a:t>d’autres</a:t>
            </a:r>
            <a:r>
              <a:rPr sz="1600" dirty="0"/>
              <a:t> sources de données pour </a:t>
            </a:r>
            <a:r>
              <a:rPr sz="1600" dirty="0" err="1"/>
              <a:t>mieux</a:t>
            </a:r>
            <a:r>
              <a:rPr sz="1600" dirty="0"/>
              <a:t> </a:t>
            </a:r>
            <a:r>
              <a:rPr sz="1600" dirty="0" err="1"/>
              <a:t>jauger</a:t>
            </a:r>
            <a:r>
              <a:rPr sz="1600" dirty="0"/>
              <a:t> les </a:t>
            </a:r>
            <a:r>
              <a:rPr sz="1600" dirty="0" err="1"/>
              <a:t>joueurs</a:t>
            </a:r>
            <a:endParaRPr sz="1600" dirty="0"/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sz="1600" dirty="0" err="1"/>
              <a:t>Ré-entrainement</a:t>
            </a:r>
            <a:r>
              <a:rPr sz="1600" dirty="0"/>
              <a:t> du </a:t>
            </a:r>
            <a:r>
              <a:rPr sz="1600" dirty="0" err="1"/>
              <a:t>modèle</a:t>
            </a:r>
            <a:r>
              <a:rPr sz="1600" dirty="0"/>
              <a:t> après </a:t>
            </a:r>
            <a:r>
              <a:rPr sz="1600" dirty="0" err="1"/>
              <a:t>ajout</a:t>
            </a:r>
            <a:r>
              <a:rPr sz="1600" dirty="0"/>
              <a:t> des nouveaux </a:t>
            </a:r>
            <a:r>
              <a:rPr sz="1600" dirty="0" err="1"/>
              <a:t>matchs</a:t>
            </a:r>
            <a:endParaRPr sz="1600" dirty="0"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 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110;p21"/>
          <p:cNvSpPr txBox="1">
            <a:spLocks noGrp="1"/>
          </p:cNvSpPr>
          <p:nvPr>
            <p:ph type="title"/>
          </p:nvPr>
        </p:nvSpPr>
        <p:spPr>
          <a:xfrm>
            <a:off x="1089725" y="1970775"/>
            <a:ext cx="6269100" cy="698406"/>
          </a:xfrm>
          <a:prstGeom prst="rect">
            <a:avLst/>
          </a:prstGeom>
        </p:spPr>
        <p:txBody>
          <a:bodyPr/>
          <a:lstStyle>
            <a:lvl1pPr defTabSz="576072">
              <a:defRPr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Any questions ?</a:t>
            </a:r>
          </a:p>
        </p:txBody>
      </p:sp>
      <p:pic>
        <p:nvPicPr>
          <p:cNvPr id="340" name="Google Shape;111;p21" descr="Google Shape;111;p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625" y="3006625"/>
            <a:ext cx="4599302" cy="21368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41" name="Google Shape;112;p21" descr="Google Shape;112;p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374" y="915775"/>
            <a:ext cx="797426" cy="839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Fond logo club" descr="Fond logo club"/>
          <p:cNvPicPr>
            <a:picLocks noChangeAspect="1"/>
          </p:cNvPicPr>
          <p:nvPr/>
        </p:nvPicPr>
        <p:blipFill>
          <a:blip r:embed="rId2">
            <a:alphaModFix amt="22000"/>
          </a:blip>
          <a:srcRect t="21875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44" name="Google Shape;75;p16"/>
          <p:cNvSpPr txBox="1">
            <a:spLocks noGrp="1"/>
          </p:cNvSpPr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Annexes</a:t>
            </a:r>
          </a:p>
        </p:txBody>
      </p:sp>
      <p:pic>
        <p:nvPicPr>
          <p:cNvPr id="345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346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sp>
        <p:nvSpPr>
          <p:cNvPr id="347" name="ZoneTexte 2"/>
          <p:cNvSpPr txBox="1"/>
          <p:nvPr/>
        </p:nvSpPr>
        <p:spPr>
          <a:xfrm>
            <a:off x="2089322" y="1450335"/>
            <a:ext cx="4484508" cy="690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LIENS DU PROJET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https://football-predictor-front.onrender.com/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https://github.com/kinpintouche-star/football-predictor</a:t>
            </a:r>
          </a:p>
        </p:txBody>
      </p:sp>
      <p:sp>
        <p:nvSpPr>
          <p:cNvPr id="348" name="ZoneTexte 4"/>
          <p:cNvSpPr txBox="1"/>
          <p:nvPr/>
        </p:nvSpPr>
        <p:spPr>
          <a:xfrm>
            <a:off x="2089323" y="2739058"/>
            <a:ext cx="6646352" cy="927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SOURCES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https://sofifa.com/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https://github.com/dcaribou/transfermarkt-datasets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https://pub-e682421888d945d684bcae8890b0ec20.r2.dev/data/transfermarkt-datasets.zip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75;p16"/>
          <p:cNvSpPr txBox="1">
            <a:spLocks noGrp="1"/>
          </p:cNvSpPr>
          <p:nvPr>
            <p:ph type="title"/>
          </p:nvPr>
        </p:nvSpPr>
        <p:spPr>
          <a:xfrm>
            <a:off x="1192660" y="403307"/>
            <a:ext cx="5315110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– templates formes</a:t>
            </a:r>
          </a:p>
        </p:txBody>
      </p:sp>
      <p:pic>
        <p:nvPicPr>
          <p:cNvPr id="351" name="Google Shape;76;p16" descr="Google Shape;76;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  <a:endParaRPr/>
          </a:p>
        </p:txBody>
      </p:sp>
      <p:pic>
        <p:nvPicPr>
          <p:cNvPr id="353" name="Image 2" descr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621" y="1716950"/>
            <a:ext cx="759825" cy="69837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56" name="Groupe 35"/>
          <p:cNvGrpSpPr/>
          <p:nvPr/>
        </p:nvGrpSpPr>
        <p:grpSpPr>
          <a:xfrm>
            <a:off x="4261161" y="1653240"/>
            <a:ext cx="1508902" cy="1050890"/>
            <a:chOff x="0" y="-1"/>
            <a:chExt cx="1508901" cy="1050888"/>
          </a:xfrm>
        </p:grpSpPr>
        <p:pic>
          <p:nvPicPr>
            <p:cNvPr id="354" name="Image 6" descr="Imag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2"/>
              <a:ext cx="1508903" cy="7620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5" name="ZoneTexte 7"/>
            <p:cNvSpPr txBox="1"/>
            <p:nvPr/>
          </p:nvSpPr>
          <p:spPr>
            <a:xfrm>
              <a:off x="345738" y="762068"/>
              <a:ext cx="779308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n-lt"/>
                  <a:ea typeface="+mn-ea"/>
                  <a:cs typeface="+mn-cs"/>
                  <a:sym typeface="Arial"/>
                </a:defRPr>
              </a:lvl1pPr>
            </a:lstStyle>
            <a:p>
              <a:r>
                <a:t>Tracking</a:t>
              </a:r>
            </a:p>
          </p:txBody>
        </p:sp>
      </p:grpSp>
      <p:grpSp>
        <p:nvGrpSpPr>
          <p:cNvPr id="359" name="Groupe 34"/>
          <p:cNvGrpSpPr/>
          <p:nvPr/>
        </p:nvGrpSpPr>
        <p:grpSpPr>
          <a:xfrm>
            <a:off x="5770053" y="1653240"/>
            <a:ext cx="1508903" cy="1050890"/>
            <a:chOff x="0" y="-1"/>
            <a:chExt cx="1508901" cy="1050888"/>
          </a:xfrm>
        </p:grpSpPr>
        <p:pic>
          <p:nvPicPr>
            <p:cNvPr id="357" name="Image 9" descr="Imag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2"/>
              <a:ext cx="1508903" cy="7620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8" name="ZoneTexte 11"/>
            <p:cNvSpPr txBox="1"/>
            <p:nvPr/>
          </p:nvSpPr>
          <p:spPr>
            <a:xfrm>
              <a:off x="345739" y="762068"/>
              <a:ext cx="588399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n-lt"/>
                  <a:ea typeface="+mn-ea"/>
                  <a:cs typeface="+mn-cs"/>
                  <a:sym typeface="Arial"/>
                </a:defRPr>
              </a:lvl1pPr>
            </a:lstStyle>
            <a:p>
              <a:r>
                <a:t>Model</a:t>
              </a:r>
            </a:p>
          </p:txBody>
        </p:sp>
      </p:grpSp>
      <p:pic>
        <p:nvPicPr>
          <p:cNvPr id="360" name="Image 13" descr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622" y="1680726"/>
            <a:ext cx="1143105" cy="1219312"/>
          </a:xfrm>
          <a:prstGeom prst="rect">
            <a:avLst/>
          </a:prstGeom>
          <a:ln w="12700">
            <a:miter lim="400000"/>
          </a:ln>
        </p:spPr>
      </p:pic>
      <p:pic>
        <p:nvPicPr>
          <p:cNvPr id="361" name="Image 19" descr="Imag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570" y="2928402"/>
            <a:ext cx="1198433" cy="698370"/>
          </a:xfrm>
          <a:prstGeom prst="rect">
            <a:avLst/>
          </a:prstGeom>
          <a:ln w="12700">
            <a:miter lim="400000"/>
          </a:ln>
        </p:spPr>
      </p:pic>
      <p:pic>
        <p:nvPicPr>
          <p:cNvPr id="362" name="Image 21" descr="Imag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2757" y="3564866"/>
            <a:ext cx="713749" cy="6320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3" name="Image 23" descr="Imag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3493" y="3663755"/>
            <a:ext cx="940039" cy="582327"/>
          </a:xfrm>
          <a:prstGeom prst="rect">
            <a:avLst/>
          </a:prstGeom>
          <a:ln w="12700">
            <a:miter lim="400000"/>
          </a:ln>
        </p:spPr>
      </p:pic>
      <p:pic>
        <p:nvPicPr>
          <p:cNvPr id="364" name="Image 25" descr="Imag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5183" y="3812004"/>
            <a:ext cx="1010885" cy="319065"/>
          </a:xfrm>
          <a:prstGeom prst="rect">
            <a:avLst/>
          </a:prstGeom>
          <a:ln w="12700">
            <a:miter lim="400000"/>
          </a:ln>
        </p:spPr>
      </p:pic>
      <p:pic>
        <p:nvPicPr>
          <p:cNvPr id="365" name="Image 27" descr="Image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4293" y="3542217"/>
            <a:ext cx="728055" cy="599038"/>
          </a:xfrm>
          <a:prstGeom prst="rect">
            <a:avLst/>
          </a:prstGeom>
          <a:ln w="12700">
            <a:miter lim="400000"/>
          </a:ln>
        </p:spPr>
      </p:pic>
      <p:pic>
        <p:nvPicPr>
          <p:cNvPr id="366" name="Image 29" descr="Image 2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4663" y="3669243"/>
            <a:ext cx="571737" cy="638217"/>
          </a:xfrm>
          <a:prstGeom prst="rect">
            <a:avLst/>
          </a:prstGeom>
          <a:ln w="12700">
            <a:miter lim="400000"/>
          </a:ln>
        </p:spPr>
      </p:pic>
      <p:pic>
        <p:nvPicPr>
          <p:cNvPr id="367" name="Image 31" descr="Image 3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7028" y="3666204"/>
            <a:ext cx="844697" cy="530702"/>
          </a:xfrm>
          <a:prstGeom prst="rect">
            <a:avLst/>
          </a:prstGeom>
          <a:ln w="12700">
            <a:miter lim="400000"/>
          </a:ln>
        </p:spPr>
      </p:pic>
      <p:pic>
        <p:nvPicPr>
          <p:cNvPr id="368" name="Image 33" descr="Image 3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66616" y="2831400"/>
            <a:ext cx="1196483" cy="577618"/>
          </a:xfrm>
          <a:prstGeom prst="rect">
            <a:avLst/>
          </a:prstGeom>
          <a:ln w="12700">
            <a:miter lim="400000"/>
          </a:ln>
        </p:spPr>
      </p:pic>
      <p:pic>
        <p:nvPicPr>
          <p:cNvPr id="369" name="Image 37" descr="Image 3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047" y="2520892"/>
            <a:ext cx="699806" cy="627213"/>
          </a:xfrm>
          <a:prstGeom prst="rect">
            <a:avLst/>
          </a:prstGeom>
          <a:ln w="12700">
            <a:miter lim="400000"/>
          </a:ln>
        </p:spPr>
      </p:pic>
      <p:pic>
        <p:nvPicPr>
          <p:cNvPr id="370" name="Image 3" descr="Image 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7362" y="3635006"/>
            <a:ext cx="759822" cy="778358"/>
          </a:xfrm>
          <a:prstGeom prst="rect">
            <a:avLst/>
          </a:prstGeom>
          <a:ln w="12700">
            <a:miter lim="400000"/>
          </a:ln>
        </p:spPr>
      </p:pic>
      <p:pic>
        <p:nvPicPr>
          <p:cNvPr id="371" name="Image 8" descr="Image 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36113" y="2855183"/>
            <a:ext cx="707872" cy="681975"/>
          </a:xfrm>
          <a:prstGeom prst="rect">
            <a:avLst/>
          </a:prstGeom>
          <a:ln w="12700">
            <a:miter lim="400000"/>
          </a:ln>
        </p:spPr>
      </p:pic>
      <p:pic>
        <p:nvPicPr>
          <p:cNvPr id="372" name="Image 12" descr="Image 1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51661" y="2901642"/>
            <a:ext cx="301648" cy="1832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3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16589" y="2709552"/>
            <a:ext cx="759826" cy="4106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554</Words>
  <Application>Microsoft Office PowerPoint</Application>
  <PresentationFormat>Affichage à l'écran (16:9)</PresentationFormat>
  <Paragraphs>104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Inter</vt:lpstr>
      <vt:lpstr>Simple Light</vt:lpstr>
      <vt:lpstr>Group members    Franck IDDA Hugo PIERRE Safidy RAMAHERISON</vt:lpstr>
      <vt:lpstr>Pitch</vt:lpstr>
      <vt:lpstr>Description du modèle</vt:lpstr>
      <vt:lpstr>Football predictor application - Démonstration Vidéo </vt:lpstr>
      <vt:lpstr>ETL, EDA et choix de données modèle</vt:lpstr>
      <vt:lpstr>ETL : données passent par trois niveaux clairs</vt:lpstr>
      <vt:lpstr>EDA : sécurise le dataset d'entraînement</vt:lpstr>
      <vt:lpstr>Architecture - Entrainement</vt:lpstr>
      <vt:lpstr>Architecture - Inference</vt:lpstr>
      <vt:lpstr>Conclusion - Evolutions</vt:lpstr>
      <vt:lpstr>Any questions ?</vt:lpstr>
      <vt:lpstr>Annexes</vt:lpstr>
      <vt:lpstr>Architecture – templates formes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Franck IDDA</cp:lastModifiedBy>
  <cp:revision>3</cp:revision>
  <dcterms:modified xsi:type="dcterms:W3CDTF">2026-07-31T14:49:38Z</dcterms:modified>
</cp:coreProperties>
</file>