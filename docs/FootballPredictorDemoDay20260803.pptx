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media/image8.jpeg" ContentType="image/jpeg"/>
  <Override PartName="/ppt/media/image9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E2CD"/>
          </a:solidFill>
        </a:fill>
      </a:tcStyle>
    </a:wholeTbl>
    <a:band2H>
      <a:tcTxStyle b="def" i="def"/>
      <a:tcStyle>
        <a:tcBdr/>
        <a:fill>
          <a:solidFill>
            <a:srgbClr val="FF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5DBDE"/>
          </a:solidFill>
        </a:fill>
      </a:tcStyle>
    </a:wholeTbl>
    <a:band2H>
      <a:tcTxStyle b="def" i="def"/>
      <a:tcStyle>
        <a:tcBdr/>
        <a:fill>
          <a:solidFill>
            <a:srgbClr val="EBEEE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FFCD"/>
          </a:solidFill>
        </a:fill>
      </a:tcStyle>
    </a:wholeTbl>
    <a:band2H>
      <a:tcTxStyle b="def" i="def"/>
      <a:tcStyle>
        <a:tcBdr/>
        <a:fill>
          <a:solidFill>
            <a:srgbClr val="FCFF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6" name="Shape 11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311708" y="744573"/>
            <a:ext cx="8520601" cy="2052604"/>
          </a:xfrm>
          <a:prstGeom prst="rect">
            <a:avLst/>
          </a:prstGeom>
        </p:spPr>
        <p:txBody>
          <a:bodyPr anchor="b"/>
          <a:lstStyle>
            <a:lvl1pPr algn="ctr">
              <a:defRPr sz="5200"/>
            </a:lvl1pPr>
          </a:lstStyle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311698" y="2834125"/>
            <a:ext cx="8520604" cy="792605"/>
          </a:xfrm>
          <a:prstGeom prst="rect">
            <a:avLst/>
          </a:prstGeom>
        </p:spPr>
        <p:txBody>
          <a:bodyPr/>
          <a:lstStyle>
            <a:lvl1pPr marL="0" indent="114300" algn="ctr">
              <a:lnSpc>
                <a:spcPct val="100000"/>
              </a:lnSpc>
              <a:buClrTx/>
              <a:buSzTx/>
              <a:buFontTx/>
              <a:buNone/>
              <a:defRPr sz="2800"/>
            </a:lvl1pPr>
            <a:lvl2pPr marL="0" indent="114300" algn="ctr">
              <a:lnSpc>
                <a:spcPct val="100000"/>
              </a:lnSpc>
              <a:buClrTx/>
              <a:buSzTx/>
              <a:buFontTx/>
              <a:buNone/>
              <a:defRPr sz="2800"/>
            </a:lvl2pPr>
            <a:lvl3pPr marL="0" indent="114300" algn="ctr">
              <a:lnSpc>
                <a:spcPct val="100000"/>
              </a:lnSpc>
              <a:buClrTx/>
              <a:buSzTx/>
              <a:buFontTx/>
              <a:buNone/>
              <a:defRPr sz="2800"/>
            </a:lvl3pPr>
            <a:lvl4pPr marL="0" indent="114300" algn="ctr">
              <a:lnSpc>
                <a:spcPct val="100000"/>
              </a:lnSpc>
              <a:buClrTx/>
              <a:buSzTx/>
              <a:buFontTx/>
              <a:buNone/>
              <a:defRPr sz="2800"/>
            </a:lvl4pPr>
            <a:lvl5pPr marL="0" indent="114300" algn="ctr">
              <a:lnSpc>
                <a:spcPct val="100000"/>
              </a:lnSpc>
              <a:buClrTx/>
              <a:buSzTx/>
              <a:buFontTx/>
              <a:buNone/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311698" y="2150847"/>
            <a:ext cx="8520604" cy="841803"/>
          </a:xfrm>
          <a:prstGeom prst="rect">
            <a:avLst/>
          </a:prstGeom>
        </p:spPr>
        <p:txBody>
          <a:bodyPr anchor="ctr"/>
          <a:lstStyle>
            <a:lvl1pPr algn="ctr">
              <a:defRPr sz="3600"/>
            </a:lvl1pPr>
          </a:lstStyle>
          <a:p>
            <a:pPr/>
            <a:r>
              <a:t>Title Text</a:t>
            </a:r>
          </a:p>
        </p:txBody>
      </p:sp>
      <p:sp>
        <p:nvSpPr>
          <p:cNvPr id="2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1_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9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8" name="Body Level One…"/>
          <p:cNvSpPr txBox="1"/>
          <p:nvPr>
            <p:ph type="body" sz="half" idx="1"/>
          </p:nvPr>
        </p:nvSpPr>
        <p:spPr>
          <a:xfrm>
            <a:off x="311698" y="1152475"/>
            <a:ext cx="3999904" cy="3416400"/>
          </a:xfrm>
          <a:prstGeom prst="rect">
            <a:avLst/>
          </a:prstGeom>
        </p:spPr>
        <p:txBody>
          <a:bodyPr/>
          <a:lstStyle>
            <a:lvl1pPr indent="-317500">
              <a:buSzPts val="1400"/>
              <a:defRPr sz="1400"/>
            </a:lvl1pPr>
            <a:lvl2pPr marL="965200" indent="-355600">
              <a:buSzPts val="1400"/>
              <a:defRPr sz="1400"/>
            </a:lvl2pPr>
            <a:lvl3pPr marL="1422400" indent="-355600">
              <a:buSzPts val="1400"/>
              <a:defRPr sz="1400"/>
            </a:lvl3pPr>
            <a:lvl4pPr marL="1879600" indent="-355600">
              <a:buSzPts val="1400"/>
              <a:defRPr sz="1400"/>
            </a:lvl4pPr>
            <a:lvl5pPr marL="2336800" indent="-355600">
              <a:buSzPts val="1400"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9" name="Google Shape;23;p5"/>
          <p:cNvSpPr txBox="1"/>
          <p:nvPr>
            <p:ph type="body" sz="half" idx="21"/>
          </p:nvPr>
        </p:nvSpPr>
        <p:spPr>
          <a:xfrm>
            <a:off x="4832396" y="1152475"/>
            <a:ext cx="3999906" cy="34164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itle Text"/>
          <p:cNvSpPr txBox="1"/>
          <p:nvPr>
            <p:ph type="title"/>
          </p:nvPr>
        </p:nvSpPr>
        <p:spPr>
          <a:xfrm>
            <a:off x="311698" y="555600"/>
            <a:ext cx="2808004" cy="7557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pPr/>
            <a:r>
              <a:t>Title Text</a:t>
            </a:r>
          </a:p>
        </p:txBody>
      </p:sp>
      <p:sp>
        <p:nvSpPr>
          <p:cNvPr id="56" name="Body Level One…"/>
          <p:cNvSpPr txBox="1"/>
          <p:nvPr>
            <p:ph type="body" sz="quarter" idx="1"/>
          </p:nvPr>
        </p:nvSpPr>
        <p:spPr>
          <a:xfrm>
            <a:off x="311698" y="1389598"/>
            <a:ext cx="2808004" cy="3179405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Text"/>
          <p:cNvSpPr txBox="1"/>
          <p:nvPr>
            <p:ph type="title"/>
          </p:nvPr>
        </p:nvSpPr>
        <p:spPr>
          <a:xfrm>
            <a:off x="490250" y="450148"/>
            <a:ext cx="6367801" cy="4090805"/>
          </a:xfrm>
          <a:prstGeom prst="rect">
            <a:avLst/>
          </a:prstGeom>
        </p:spPr>
        <p:txBody>
          <a:bodyPr anchor="ctr"/>
          <a:lstStyle>
            <a:lvl1pPr>
              <a:defRPr sz="4800"/>
            </a:lvl1pPr>
          </a:lstStyle>
          <a:p>
            <a:pPr/>
            <a:r>
              <a:t>Title Text</a:t>
            </a:r>
          </a:p>
        </p:txBody>
      </p:sp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36;p9"/>
          <p:cNvSpPr/>
          <p:nvPr/>
        </p:nvSpPr>
        <p:spPr>
          <a:xfrm>
            <a:off x="4572000" y="-128"/>
            <a:ext cx="4572000" cy="5143507"/>
          </a:xfrm>
          <a:prstGeom prst="rect">
            <a:avLst/>
          </a:prstGeom>
          <a:solidFill>
            <a:srgbClr val="EEEE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73" name="Title Text"/>
          <p:cNvSpPr txBox="1"/>
          <p:nvPr>
            <p:ph type="title"/>
          </p:nvPr>
        </p:nvSpPr>
        <p:spPr>
          <a:xfrm>
            <a:off x="265500" y="1233175"/>
            <a:ext cx="4045200" cy="1482302"/>
          </a:xfrm>
          <a:prstGeom prst="rect">
            <a:avLst/>
          </a:prstGeom>
        </p:spPr>
        <p:txBody>
          <a:bodyPr anchor="b"/>
          <a:lstStyle>
            <a:lvl1pPr algn="ctr">
              <a:defRPr sz="4200"/>
            </a:lvl1pPr>
          </a:lstStyle>
          <a:p>
            <a:pPr/>
            <a:r>
              <a:t>Title Text</a:t>
            </a:r>
          </a:p>
        </p:txBody>
      </p:sp>
      <p:sp>
        <p:nvSpPr>
          <p:cNvPr id="74" name="Body Level One…"/>
          <p:cNvSpPr txBox="1"/>
          <p:nvPr>
            <p:ph type="body" sz="quarter" idx="1"/>
          </p:nvPr>
        </p:nvSpPr>
        <p:spPr>
          <a:xfrm>
            <a:off x="265500" y="2803075"/>
            <a:ext cx="4045200" cy="1235101"/>
          </a:xfrm>
          <a:prstGeom prst="rect">
            <a:avLst/>
          </a:prstGeom>
        </p:spPr>
        <p:txBody>
          <a:bodyPr/>
          <a:lstStyle>
            <a:lvl1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1pPr>
            <a:lvl2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2pPr>
            <a:lvl3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3pPr>
            <a:lvl4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4pPr>
            <a:lvl5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5" name="Google Shape;39;p9"/>
          <p:cNvSpPr txBox="1"/>
          <p:nvPr>
            <p:ph type="body" sz="half" idx="21"/>
          </p:nvPr>
        </p:nvSpPr>
        <p:spPr>
          <a:xfrm>
            <a:off x="4939500" y="724071"/>
            <a:ext cx="3837000" cy="3695108"/>
          </a:xfrm>
          <a:prstGeom prst="rect">
            <a:avLst/>
          </a:prstGeom>
        </p:spPr>
        <p:txBody>
          <a:bodyPr anchor="ctr"/>
          <a:lstStyle/>
          <a:p>
            <a:pPr/>
          </a:p>
        </p:txBody>
      </p:sp>
      <p:sp>
        <p:nvSpPr>
          <p:cNvPr id="7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Body Level One…"/>
          <p:cNvSpPr txBox="1"/>
          <p:nvPr>
            <p:ph type="body" sz="quarter" idx="1"/>
          </p:nvPr>
        </p:nvSpPr>
        <p:spPr>
          <a:xfrm>
            <a:off x="311698" y="4230575"/>
            <a:ext cx="5998804" cy="605105"/>
          </a:xfrm>
          <a:prstGeom prst="rect">
            <a:avLst/>
          </a:prstGeom>
        </p:spPr>
        <p:txBody>
          <a:bodyPr anchor="ctr"/>
          <a:lstStyle>
            <a:lvl1pPr marL="0" indent="228600">
              <a:lnSpc>
                <a:spcPct val="100000"/>
              </a:lnSpc>
              <a:buClrTx/>
              <a:buSzTx/>
              <a:buFontTx/>
              <a:buNone/>
            </a:lvl1pPr>
            <a:lvl2pPr marL="1690914" indent="-408213">
              <a:lnSpc>
                <a:spcPct val="100000"/>
              </a:lnSpc>
              <a:buClrTx/>
              <a:buFontTx/>
            </a:lvl2pPr>
            <a:lvl3pPr marL="2148114">
              <a:lnSpc>
                <a:spcPct val="100000"/>
              </a:lnSpc>
              <a:buClrTx/>
              <a:buFontTx/>
            </a:lvl3pPr>
            <a:lvl4pPr marL="2605314">
              <a:lnSpc>
                <a:spcPct val="100000"/>
              </a:lnSpc>
              <a:buClrTx/>
              <a:buFontTx/>
            </a:lvl4pPr>
            <a:lvl5pPr marL="3062514">
              <a:lnSpc>
                <a:spcPct val="100000"/>
              </a:lnSpc>
              <a:buClrTx/>
              <a:buFontTx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xx%"/>
          <p:cNvSpPr txBox="1"/>
          <p:nvPr>
            <p:ph type="title" hasCustomPrompt="1"/>
          </p:nvPr>
        </p:nvSpPr>
        <p:spPr>
          <a:xfrm>
            <a:off x="311698" y="1106125"/>
            <a:ext cx="8520604" cy="1963500"/>
          </a:xfrm>
          <a:prstGeom prst="rect">
            <a:avLst/>
          </a:prstGeom>
        </p:spPr>
        <p:txBody>
          <a:bodyPr anchor="b"/>
          <a:lstStyle>
            <a:lvl1pPr algn="ctr">
              <a:defRPr sz="12000"/>
            </a:lvl1pPr>
          </a:lstStyle>
          <a:p>
            <a:pPr/>
            <a:r>
              <a:t>xx%</a:t>
            </a:r>
          </a:p>
        </p:txBody>
      </p:sp>
      <p:sp>
        <p:nvSpPr>
          <p:cNvPr id="92" name="Body Level One…"/>
          <p:cNvSpPr txBox="1"/>
          <p:nvPr>
            <p:ph type="body" sz="half" idx="1"/>
          </p:nvPr>
        </p:nvSpPr>
        <p:spPr>
          <a:xfrm>
            <a:off x="311698" y="3152225"/>
            <a:ext cx="8520604" cy="130080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algn="ctr"/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08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9" name="Slide Number"/>
          <p:cNvSpPr txBox="1"/>
          <p:nvPr>
            <p:ph type="sldNum" sz="quarter" idx="2"/>
          </p:nvPr>
        </p:nvSpPr>
        <p:spPr>
          <a:xfrm>
            <a:off x="8684357" y="4700823"/>
            <a:ext cx="336805" cy="318388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311698" y="445025"/>
            <a:ext cx="8520604" cy="5727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1" tIns="91421" rIns="91421" bIns="91421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311698" y="1152475"/>
            <a:ext cx="8520604" cy="3416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1" tIns="91421" rIns="91421" bIns="91421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684354" y="4700823"/>
            <a:ext cx="336806" cy="318388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 anchor="ctr">
            <a:spAutoFit/>
          </a:bodyPr>
          <a:lstStyle>
            <a:lvl1pPr algn="r">
              <a:defRPr sz="1000">
                <a:solidFill>
                  <a:srgbClr val="585858"/>
                </a:solidFill>
                <a:latin typeface="+mj-lt"/>
                <a:ea typeface="+mj-ea"/>
                <a:cs typeface="+mj-cs"/>
                <a:sym typeface="Arial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457200" marR="0" indent="-34290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b="0" baseline="0" cap="none" i="0" spc="0" strike="noStrike" sz="1800" u="none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1pPr>
      <a:lvl2pPr marL="1005114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b="0" baseline="0" cap="none" i="0" spc="0" strike="noStrike" sz="1800" u="none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2pPr>
      <a:lvl3pPr marL="14623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b="0" baseline="0" cap="none" i="0" spc="0" strike="noStrike" sz="1800" u="none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3pPr>
      <a:lvl4pPr marL="19195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b="0" baseline="0" cap="none" i="0" spc="0" strike="noStrike" sz="1800" u="none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4pPr>
      <a:lvl5pPr marL="23767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b="0" baseline="0" cap="none" i="0" spc="0" strike="noStrike" sz="1800" u="none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5pPr>
      <a:lvl6pPr marL="28339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b="0" baseline="0" cap="none" i="0" spc="0" strike="noStrike" sz="1800" u="none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6pPr>
      <a:lvl7pPr marL="3291113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b="0" baseline="0" cap="none" i="0" spc="0" strike="noStrike" sz="1800" u="none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7pPr>
      <a:lvl8pPr marL="3748313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b="0" baseline="0" cap="none" i="0" spc="0" strike="noStrike" sz="1800" u="none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8pPr>
      <a:lvl9pPr marL="4205513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b="0" baseline="0" cap="none" i="0" spc="0" strike="noStrike" sz="1800" u="none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0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eg"/><Relationship Id="rId3" Type="http://schemas.openxmlformats.org/officeDocument/2006/relationships/hyperlink" Target="https://drive.google.com/file/d/1oMiwZBqVqKz6yZRbg1b6JHPmj1MoXQ21/view" TargetMode="External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9.png"/><Relationship Id="rId7" Type="http://schemas.openxmlformats.org/officeDocument/2006/relationships/image" Target="../media/image4.png"/><Relationship Id="rId8" Type="http://schemas.openxmlformats.org/officeDocument/2006/relationships/image" Target="../media/image10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eg"/><Relationship Id="rId3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e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3.png"/><Relationship Id="rId7" Type="http://schemas.openxmlformats.org/officeDocument/2006/relationships/image" Target="../media/image16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e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22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image" Target="../media/image25.png"/><Relationship Id="rId16" Type="http://schemas.openxmlformats.org/officeDocument/2006/relationships/image" Target="../media/image26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eg"/><Relationship Id="rId3" Type="http://schemas.openxmlformats.org/officeDocument/2006/relationships/image" Target="../media/image2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eg"/><Relationship Id="rId3" Type="http://schemas.openxmlformats.org/officeDocument/2006/relationships/image" Target="../media/image2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7.png"/><Relationship Id="rId3" Type="http://schemas.openxmlformats.org/officeDocument/2006/relationships/image" Target="../media/image1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eg"/><Relationship Id="rId3" Type="http://schemas.openxmlformats.org/officeDocument/2006/relationships/image" Target="../media/image2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7.png"/><Relationship Id="rId5" Type="http://schemas.openxmlformats.org/officeDocument/2006/relationships/image" Target="../media/image14.png"/><Relationship Id="rId6" Type="http://schemas.openxmlformats.org/officeDocument/2006/relationships/image" Target="../media/image24.png"/><Relationship Id="rId7" Type="http://schemas.openxmlformats.org/officeDocument/2006/relationships/image" Target="../media/image23.png"/><Relationship Id="rId8" Type="http://schemas.openxmlformats.org/officeDocument/2006/relationships/image" Target="../media/image26.png"/><Relationship Id="rId9" Type="http://schemas.openxmlformats.org/officeDocument/2006/relationships/image" Target="../media/image21.png"/><Relationship Id="rId10" Type="http://schemas.openxmlformats.org/officeDocument/2006/relationships/image" Target="../media/image18.png"/><Relationship Id="rId11" Type="http://schemas.openxmlformats.org/officeDocument/2006/relationships/image" Target="../media/image25.png"/><Relationship Id="rId12" Type="http://schemas.openxmlformats.org/officeDocument/2006/relationships/image" Target="../media/image15.png"/><Relationship Id="rId13" Type="http://schemas.openxmlformats.org/officeDocument/2006/relationships/image" Target="../media/image13.png"/><Relationship Id="rId14" Type="http://schemas.openxmlformats.org/officeDocument/2006/relationships/image" Target="../media/image16.png"/><Relationship Id="rId15" Type="http://schemas.openxmlformats.org/officeDocument/2006/relationships/image" Target="../media/image12.png"/><Relationship Id="rId16" Type="http://schemas.openxmlformats.org/officeDocument/2006/relationships/image" Target="../media/image22.png"/><Relationship Id="rId17" Type="http://schemas.openxmlformats.org/officeDocument/2006/relationships/image" Target="../media/image19.png"/><Relationship Id="rId18" Type="http://schemas.openxmlformats.org/officeDocument/2006/relationships/image" Target="../media/image20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3FDA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54;p13"/>
          <p:cNvSpPr txBox="1"/>
          <p:nvPr>
            <p:ph type="ctrTitle"/>
          </p:nvPr>
        </p:nvSpPr>
        <p:spPr>
          <a:xfrm>
            <a:off x="1718097" y="866768"/>
            <a:ext cx="6478207" cy="617702"/>
          </a:xfrm>
          <a:prstGeom prst="rect">
            <a:avLst/>
          </a:prstGeom>
        </p:spPr>
        <p:txBody>
          <a:bodyPr/>
          <a:lstStyle>
            <a:lvl1pPr algn="l">
              <a:defRPr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Your Tech Bootcamp</a:t>
            </a:r>
          </a:p>
        </p:txBody>
      </p:sp>
      <p:pic>
        <p:nvPicPr>
          <p:cNvPr id="119" name="Google Shape;55;p13" descr="Google Shape;55;p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44500" y="795925"/>
            <a:ext cx="721025" cy="759376"/>
          </a:xfrm>
          <a:prstGeom prst="rect">
            <a:avLst/>
          </a:prstGeom>
          <a:ln w="12700">
            <a:miter lim="400000"/>
          </a:ln>
        </p:spPr>
      </p:pic>
      <p:sp>
        <p:nvSpPr>
          <p:cNvPr id="120" name="Google Shape;56;p13"/>
          <p:cNvSpPr txBox="1"/>
          <p:nvPr/>
        </p:nvSpPr>
        <p:spPr>
          <a:xfrm>
            <a:off x="844499" y="2225275"/>
            <a:ext cx="7271702" cy="924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21" tIns="91421" rIns="91421" bIns="91421" anchor="b">
            <a:normAutofit fontScale="100000" lnSpcReduction="0"/>
          </a:bodyPr>
          <a:lstStyle>
            <a:lvl1pPr>
              <a:defRPr sz="40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Group # - Football Predictor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61;p14"/>
          <p:cNvSpPr/>
          <p:nvPr/>
        </p:nvSpPr>
        <p:spPr>
          <a:xfrm>
            <a:off x="5500" y="-17777"/>
            <a:ext cx="3335400" cy="5161204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23" name="Google Shape;62;p14"/>
          <p:cNvSpPr txBox="1"/>
          <p:nvPr>
            <p:ph type="title"/>
          </p:nvPr>
        </p:nvSpPr>
        <p:spPr>
          <a:xfrm>
            <a:off x="390595" y="1138673"/>
            <a:ext cx="2513111" cy="3458105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Group members</a:t>
            </a:r>
          </a:p>
          <a:p>
            <a:pPr>
              <a:defRPr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Franck IDDA</a:t>
            </a: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Hugo PIERRE</a:t>
            </a: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Safidy RAMAHERISON</a:t>
            </a:r>
          </a:p>
        </p:txBody>
      </p:sp>
      <p:pic>
        <p:nvPicPr>
          <p:cNvPr id="124" name="Google Shape;63;p14" descr="Google Shape;63;p1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3375" y="482852"/>
            <a:ext cx="576901" cy="385911"/>
          </a:xfrm>
          <a:prstGeom prst="rect">
            <a:avLst/>
          </a:prstGeom>
          <a:ln w="12700">
            <a:miter lim="400000"/>
          </a:ln>
        </p:spPr>
      </p:pic>
      <p:pic>
        <p:nvPicPr>
          <p:cNvPr id="125" name="pasted-movie.png" descr="pasted-movi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605986" y="1081707"/>
            <a:ext cx="5018376" cy="296223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le"/>
          <p:cNvSpPr txBox="1"/>
          <p:nvPr>
            <p:ph type="title"/>
          </p:nvPr>
        </p:nvSpPr>
        <p:spPr>
          <a:xfrm>
            <a:off x="1192660" y="403305"/>
            <a:ext cx="5315110" cy="533109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Pitch</a:t>
            </a:r>
          </a:p>
        </p:txBody>
      </p:sp>
      <p:pic>
        <p:nvPicPr>
          <p:cNvPr id="128" name="logo" descr="logo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129" name="bar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30" name="motiv"/>
          <p:cNvSpPr/>
          <p:nvPr/>
        </p:nvSpPr>
        <p:spPr>
          <a:xfrm>
            <a:off x="550000" y="1149998"/>
            <a:ext cx="8044000" cy="1150003"/>
          </a:xfrm>
          <a:prstGeom prst="roundRect">
            <a:avLst>
              <a:gd name="adj" fmla="val 7000"/>
            </a:avLst>
          </a:prstGeom>
          <a:solidFill>
            <a:srgbClr val="EAF2F6"/>
          </a:solidFill>
          <a:ln w="12700">
            <a:miter lim="400000"/>
          </a:ln>
          <a:effectLst>
            <a:outerShdw sx="100000" sy="100000" kx="0" ky="0" algn="b" rotWithShape="0" blurRad="88900" dist="26000" dir="5400000">
              <a:srgbClr val="0E3449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31" name="mcirc"/>
          <p:cNvSpPr/>
          <p:nvPr/>
        </p:nvSpPr>
        <p:spPr>
          <a:xfrm>
            <a:off x="849998" y="1384998"/>
            <a:ext cx="680009" cy="680009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pic>
        <p:nvPicPr>
          <p:cNvPr id="132" name="micon" descr="micon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90000" y="1525000"/>
            <a:ext cx="400005" cy="400005"/>
          </a:xfrm>
          <a:prstGeom prst="rect">
            <a:avLst/>
          </a:prstGeom>
          <a:ln w="12700">
            <a:miter lim="400000"/>
          </a:ln>
        </p:spPr>
      </p:pic>
      <p:sp>
        <p:nvSpPr>
          <p:cNvPr id="133" name="mtext"/>
          <p:cNvSpPr txBox="1"/>
          <p:nvPr/>
        </p:nvSpPr>
        <p:spPr>
          <a:xfrm>
            <a:off x="1827999" y="1309999"/>
            <a:ext cx="6448005" cy="83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normAutofit fontScale="100000" lnSpcReduction="0"/>
          </a:bodyPr>
          <a:lstStyle/>
          <a:p>
            <a:pPr>
              <a:spcBef>
                <a:spcPts val="300"/>
              </a:spcBef>
              <a:defRPr b="1"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Notre objectif</a:t>
            </a:r>
          </a:p>
          <a:p>
            <a:pPr>
              <a:spcBef>
                <a:spcPts val="300"/>
              </a:spcBef>
              <a:defRPr b="1"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</a:p>
          <a:p>
            <a:pPr>
              <a:spcBef>
                <a:spcPts val="300"/>
              </a:spcBef>
              <a:defRPr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Aider les entraîneurs à prendre les meilleures décisions grâce à la data</a:t>
            </a:r>
          </a:p>
        </p:txBody>
      </p:sp>
      <p:sp>
        <p:nvSpPr>
          <p:cNvPr id="134" name="card"/>
          <p:cNvSpPr/>
          <p:nvPr/>
        </p:nvSpPr>
        <p:spPr>
          <a:xfrm>
            <a:off x="550000" y="2470000"/>
            <a:ext cx="3872001" cy="2130002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sx="100000" sy="100000" kx="0" ky="0" algn="b" rotWithShape="0" blurRad="88900" dist="26000" dir="5400000">
              <a:srgbClr val="0E3449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35" name="card"/>
          <p:cNvSpPr/>
          <p:nvPr/>
        </p:nvSpPr>
        <p:spPr>
          <a:xfrm>
            <a:off x="4722000" y="2470000"/>
            <a:ext cx="3872005" cy="2130002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sx="100000" sy="100000" kx="0" ky="0" algn="b" rotWithShape="0" blurRad="88900" dist="26000" dir="5400000">
              <a:srgbClr val="0E3449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36" name="ccirc"/>
          <p:cNvSpPr/>
          <p:nvPr/>
        </p:nvSpPr>
        <p:spPr>
          <a:xfrm>
            <a:off x="849998" y="2769996"/>
            <a:ext cx="640009" cy="640010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37" name="ccirc"/>
          <p:cNvSpPr/>
          <p:nvPr/>
        </p:nvSpPr>
        <p:spPr>
          <a:xfrm>
            <a:off x="5022000" y="2769996"/>
            <a:ext cx="640009" cy="640010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pic>
        <p:nvPicPr>
          <p:cNvPr id="138" name="cicon" descr="cicon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979998" y="2899997"/>
            <a:ext cx="380006" cy="380005"/>
          </a:xfrm>
          <a:prstGeom prst="rect">
            <a:avLst/>
          </a:prstGeom>
          <a:ln w="12700">
            <a:miter lim="400000"/>
          </a:ln>
        </p:spPr>
      </p:pic>
      <p:pic>
        <p:nvPicPr>
          <p:cNvPr id="139" name="cicon" descr="cicon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151999" y="2899997"/>
            <a:ext cx="380005" cy="380005"/>
          </a:xfrm>
          <a:prstGeom prst="rect">
            <a:avLst/>
          </a:prstGeom>
          <a:ln w="12700">
            <a:miter lim="400000"/>
          </a:ln>
        </p:spPr>
      </p:pic>
      <p:sp>
        <p:nvSpPr>
          <p:cNvPr id="140" name="ctitle"/>
          <p:cNvSpPr txBox="1"/>
          <p:nvPr/>
        </p:nvSpPr>
        <p:spPr>
          <a:xfrm>
            <a:off x="1727998" y="2769997"/>
            <a:ext cx="2376005" cy="6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normAutofit fontScale="100000" lnSpcReduction="0"/>
          </a:bodyPr>
          <a:lstStyle>
            <a:lvl1pPr>
              <a:defRPr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Notre solution</a:t>
            </a:r>
          </a:p>
        </p:txBody>
      </p:sp>
      <p:sp>
        <p:nvSpPr>
          <p:cNvPr id="141" name="cdesc"/>
          <p:cNvSpPr txBox="1"/>
          <p:nvPr/>
        </p:nvSpPr>
        <p:spPr>
          <a:xfrm>
            <a:off x="867997" y="3549998"/>
            <a:ext cx="3236006" cy="75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>
            <a:normAutofit fontScale="100000" lnSpcReduction="0"/>
          </a:bodyPr>
          <a:lstStyle>
            <a:lvl1pPr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Une appli qui exploite les données du foot moderne pour prédire l’issue d’un match, à partir des infos équipes, joueurs et résultats des championnats européens.</a:t>
            </a:r>
          </a:p>
        </p:txBody>
      </p:sp>
      <p:sp>
        <p:nvSpPr>
          <p:cNvPr id="142" name="ctitle"/>
          <p:cNvSpPr txBox="1"/>
          <p:nvPr/>
        </p:nvSpPr>
        <p:spPr>
          <a:xfrm>
            <a:off x="5899999" y="2769997"/>
            <a:ext cx="2376006" cy="6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normAutofit fontScale="100000" lnSpcReduction="0"/>
          </a:bodyPr>
          <a:lstStyle>
            <a:lvl1pPr>
              <a:defRPr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Pour qui ?</a:t>
            </a:r>
          </a:p>
        </p:txBody>
      </p:sp>
      <p:sp>
        <p:nvSpPr>
          <p:cNvPr id="143" name="cdesc"/>
          <p:cNvSpPr txBox="1"/>
          <p:nvPr/>
        </p:nvSpPr>
        <p:spPr>
          <a:xfrm>
            <a:off x="5040000" y="3549998"/>
            <a:ext cx="3236005" cy="75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>
            <a:normAutofit fontScale="100000" lnSpcReduction="0"/>
          </a:bodyPr>
          <a:lstStyle/>
          <a:p>
            <a:pPr marL="110289" indent="-110289">
              <a:buSzPct val="100000"/>
              <a:buChar char="•"/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Les entraîneurs, pour optimiser leur composition et leur stratégie de recrutement.</a:t>
            </a:r>
          </a:p>
          <a:p>
            <a:pPr marL="110289" indent="-110289">
              <a:buSzPct val="100000"/>
              <a:buChar char="•"/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Les détecteurs et chasseurs de tête, pour repérer les joueurs à fort potentiel.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68;p15"/>
          <p:cNvSpPr txBox="1"/>
          <p:nvPr>
            <p:ph type="title"/>
          </p:nvPr>
        </p:nvSpPr>
        <p:spPr>
          <a:xfrm>
            <a:off x="1192660" y="403305"/>
            <a:ext cx="5315110" cy="533109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Description du modèle</a:t>
            </a:r>
          </a:p>
        </p:txBody>
      </p:sp>
      <p:sp>
        <p:nvSpPr>
          <p:cNvPr id="146" name="Google Shape;69;p15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pic>
        <p:nvPicPr>
          <p:cNvPr id="147" name="Google Shape;70;p15" descr="Google Shape;70;p1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148" name="fcard"/>
          <p:cNvSpPr/>
          <p:nvPr/>
        </p:nvSpPr>
        <p:spPr>
          <a:xfrm>
            <a:off x="550000" y="1646749"/>
            <a:ext cx="2441334" cy="1850006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sx="100000" sy="100000" kx="0" ky="0" algn="b" rotWithShape="0" blurRad="88900" dist="26000" dir="540000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49" name="fcard"/>
          <p:cNvSpPr/>
          <p:nvPr/>
        </p:nvSpPr>
        <p:spPr>
          <a:xfrm>
            <a:off x="3351333" y="1646749"/>
            <a:ext cx="2441334" cy="1850006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sx="100000" sy="100000" kx="0" ky="0" algn="b" rotWithShape="0" blurRad="88900" dist="26000" dir="540000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50" name="fcard"/>
          <p:cNvSpPr/>
          <p:nvPr/>
        </p:nvSpPr>
        <p:spPr>
          <a:xfrm>
            <a:off x="6152665" y="1646749"/>
            <a:ext cx="2441338" cy="1850006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sx="100000" sy="100000" kx="0" ky="0" algn="b" rotWithShape="0" blurRad="88900" dist="26000" dir="540000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51" name="arrow304"/>
          <p:cNvSpPr/>
          <p:nvPr/>
        </p:nvSpPr>
        <p:spPr>
          <a:xfrm>
            <a:off x="3041331" y="2066749"/>
            <a:ext cx="260006" cy="120005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BB4C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52" name="arrow305"/>
          <p:cNvSpPr/>
          <p:nvPr/>
        </p:nvSpPr>
        <p:spPr>
          <a:xfrm>
            <a:off x="5842665" y="2066749"/>
            <a:ext cx="260005" cy="120005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BB4C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53" name="fcirc"/>
          <p:cNvSpPr/>
          <p:nvPr/>
        </p:nvSpPr>
        <p:spPr>
          <a:xfrm>
            <a:off x="1460665" y="1816748"/>
            <a:ext cx="620009" cy="620009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54" name="fcirc"/>
          <p:cNvSpPr/>
          <p:nvPr/>
        </p:nvSpPr>
        <p:spPr>
          <a:xfrm>
            <a:off x="4261999" y="1816748"/>
            <a:ext cx="620009" cy="620009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55" name="fcirc"/>
          <p:cNvSpPr/>
          <p:nvPr/>
        </p:nvSpPr>
        <p:spPr>
          <a:xfrm>
            <a:off x="7063330" y="1816748"/>
            <a:ext cx="620009" cy="620009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pic>
        <p:nvPicPr>
          <p:cNvPr id="156" name="ficon" descr="ficon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580666" y="1936749"/>
            <a:ext cx="380005" cy="380005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ficon" descr="ficon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381998" y="1936749"/>
            <a:ext cx="380005" cy="380005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ficon" descr="ficon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7183332" y="1936749"/>
            <a:ext cx="380005" cy="380005"/>
          </a:xfrm>
          <a:prstGeom prst="rect">
            <a:avLst/>
          </a:prstGeom>
          <a:ln w="12700">
            <a:miter lim="400000"/>
          </a:ln>
        </p:spPr>
      </p:pic>
      <p:sp>
        <p:nvSpPr>
          <p:cNvPr id="159" name="flab"/>
          <p:cNvSpPr txBox="1"/>
          <p:nvPr/>
        </p:nvSpPr>
        <p:spPr>
          <a:xfrm>
            <a:off x="638000" y="2546749"/>
            <a:ext cx="2265336" cy="3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normAutofit fontScale="100000" lnSpcReduction="0"/>
          </a:bodyPr>
          <a:lstStyle>
            <a:lvl1pPr algn="ctr">
              <a:defRPr b="1"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Les données</a:t>
            </a:r>
          </a:p>
        </p:txBody>
      </p:sp>
      <p:sp>
        <p:nvSpPr>
          <p:cNvPr id="160" name="fsub"/>
          <p:cNvSpPr txBox="1"/>
          <p:nvPr/>
        </p:nvSpPr>
        <p:spPr>
          <a:xfrm>
            <a:off x="657998" y="2886748"/>
            <a:ext cx="2225340" cy="5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>
            <a:normAutofit fontScale="100000" lnSpcReduction="0"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matchs, équipes et joueurs des championnats européens</a:t>
            </a:r>
          </a:p>
        </p:txBody>
      </p:sp>
      <p:sp>
        <p:nvSpPr>
          <p:cNvPr id="161" name="flab"/>
          <p:cNvSpPr txBox="1"/>
          <p:nvPr/>
        </p:nvSpPr>
        <p:spPr>
          <a:xfrm>
            <a:off x="3439333" y="2546749"/>
            <a:ext cx="2265338" cy="3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normAutofit fontScale="100000" lnSpcReduction="0"/>
          </a:bodyPr>
          <a:lstStyle>
            <a:lvl1pPr algn="ctr">
              <a:defRPr b="1"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Le modèle</a:t>
            </a:r>
          </a:p>
        </p:txBody>
      </p:sp>
      <p:sp>
        <p:nvSpPr>
          <p:cNvPr id="162" name="fsub"/>
          <p:cNvSpPr txBox="1"/>
          <p:nvPr/>
        </p:nvSpPr>
        <p:spPr>
          <a:xfrm>
            <a:off x="3459331" y="2886748"/>
            <a:ext cx="2225339" cy="5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>
            <a:normAutofit fontScale="100000" lnSpcReduction="0"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à partir des notes FIFA 26 des joueurs</a:t>
            </a:r>
          </a:p>
        </p:txBody>
      </p:sp>
      <p:sp>
        <p:nvSpPr>
          <p:cNvPr id="163" name="flab"/>
          <p:cNvSpPr txBox="1"/>
          <p:nvPr/>
        </p:nvSpPr>
        <p:spPr>
          <a:xfrm>
            <a:off x="6240664" y="2546749"/>
            <a:ext cx="2265337" cy="3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normAutofit fontScale="100000" lnSpcReduction="0"/>
          </a:bodyPr>
          <a:lstStyle>
            <a:lvl1pPr algn="ctr">
              <a:defRPr b="1"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La prédiction</a:t>
            </a:r>
          </a:p>
        </p:txBody>
      </p:sp>
      <p:sp>
        <p:nvSpPr>
          <p:cNvPr id="164" name="fsub"/>
          <p:cNvSpPr txBox="1"/>
          <p:nvPr/>
        </p:nvSpPr>
        <p:spPr>
          <a:xfrm>
            <a:off x="6260665" y="2886748"/>
            <a:ext cx="2225338" cy="5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>
            <a:normAutofit fontScale="100000" lnSpcReduction="0"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le résultat d’un match entre deux équipes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Fond Sporting Portugal" descr="Fond Sporting Portugal"/>
          <p:cNvPicPr>
            <a:picLocks noChangeAspect="1"/>
          </p:cNvPicPr>
          <p:nvPr/>
        </p:nvPicPr>
        <p:blipFill>
          <a:blip r:embed="rId2">
            <a:extLst/>
          </a:blip>
          <a:srcRect l="0" t="7813" r="0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7" name="Google Shape;89;p18"/>
          <p:cNvSpPr txBox="1"/>
          <p:nvPr>
            <p:ph type="title"/>
          </p:nvPr>
        </p:nvSpPr>
        <p:spPr>
          <a:xfrm>
            <a:off x="1192659" y="403305"/>
            <a:ext cx="5315111" cy="533110"/>
          </a:xfrm>
          <a:prstGeom prst="rect">
            <a:avLst/>
          </a:prstGeom>
        </p:spPr>
        <p:txBody>
          <a:bodyPr anchor="ctr"/>
          <a:lstStyle/>
          <a:p>
            <a:pPr defTabSz="598125">
              <a:defRPr sz="17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Football predictor application - Démonstration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rPr>
              <a:t>Vidéo </a:t>
            </a:r>
          </a:p>
        </p:txBody>
      </p:sp>
      <p:pic>
        <p:nvPicPr>
          <p:cNvPr id="168" name="Google Shape;90;p18" descr="Google Shape;90;p18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63375" y="482852"/>
            <a:ext cx="576901" cy="385911"/>
          </a:xfrm>
          <a:prstGeom prst="rect">
            <a:avLst/>
          </a:prstGeom>
          <a:ln w="12700">
            <a:miter lim="400000"/>
          </a:ln>
        </p:spPr>
      </p:pic>
      <p:sp>
        <p:nvSpPr>
          <p:cNvPr id="169" name="Google Shape;91;p18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70" name="card"/>
          <p:cNvSpPr/>
          <p:nvPr/>
        </p:nvSpPr>
        <p:spPr>
          <a:xfrm>
            <a:off x="550000" y="1200000"/>
            <a:ext cx="3872001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sx="100000" sy="100000" kx="0" ky="0" algn="b" rotWithShape="0" blurRad="88900" dist="26000" dir="540000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71" name="card"/>
          <p:cNvSpPr/>
          <p:nvPr/>
        </p:nvSpPr>
        <p:spPr>
          <a:xfrm>
            <a:off x="4722000" y="1200000"/>
            <a:ext cx="3872006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sx="100000" sy="100000" kx="0" ky="0" algn="b" rotWithShape="0" blurRad="88900" dist="26000" dir="540000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72" name="card"/>
          <p:cNvSpPr/>
          <p:nvPr/>
        </p:nvSpPr>
        <p:spPr>
          <a:xfrm>
            <a:off x="550000" y="3114999"/>
            <a:ext cx="3872001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sx="100000" sy="100000" kx="0" ky="0" algn="b" rotWithShape="0" blurRad="88900" dist="26000" dir="540000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73" name="card"/>
          <p:cNvSpPr/>
          <p:nvPr/>
        </p:nvSpPr>
        <p:spPr>
          <a:xfrm>
            <a:off x="4722000" y="3114999"/>
            <a:ext cx="3872006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sx="100000" sy="100000" kx="0" ky="0" algn="b" rotWithShape="0" blurRad="88900" dist="26000" dir="540000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74" name="circ"/>
          <p:cNvSpPr/>
          <p:nvPr/>
        </p:nvSpPr>
        <p:spPr>
          <a:xfrm>
            <a:off x="789999" y="1439999"/>
            <a:ext cx="620011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75" name="circ"/>
          <p:cNvSpPr/>
          <p:nvPr/>
        </p:nvSpPr>
        <p:spPr>
          <a:xfrm>
            <a:off x="4961999" y="1439999"/>
            <a:ext cx="620011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76" name="circ"/>
          <p:cNvSpPr/>
          <p:nvPr/>
        </p:nvSpPr>
        <p:spPr>
          <a:xfrm>
            <a:off x="789999" y="3354999"/>
            <a:ext cx="620011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177" name="circ"/>
          <p:cNvSpPr/>
          <p:nvPr/>
        </p:nvSpPr>
        <p:spPr>
          <a:xfrm>
            <a:off x="4961999" y="3354999"/>
            <a:ext cx="620011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pic>
        <p:nvPicPr>
          <p:cNvPr id="178" name="icon" descr="icon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920000" y="1570000"/>
            <a:ext cx="360006" cy="36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79" name="icon" descr="icon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5092000" y="1570000"/>
            <a:ext cx="360006" cy="36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80" name="icon" descr="icon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920000" y="3485000"/>
            <a:ext cx="360006" cy="360006"/>
          </a:xfrm>
          <a:prstGeom prst="rect">
            <a:avLst/>
          </a:prstGeom>
          <a:ln w="12700">
            <a:miter lim="400000"/>
          </a:ln>
        </p:spPr>
      </p:pic>
      <p:pic>
        <p:nvPicPr>
          <p:cNvPr id="181" name="icon" descr="icon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5092000" y="3485000"/>
            <a:ext cx="360006" cy="360006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title"/>
          <p:cNvSpPr txBox="1"/>
          <p:nvPr/>
        </p:nvSpPr>
        <p:spPr>
          <a:xfrm>
            <a:off x="1607997" y="1439999"/>
            <a:ext cx="2556007" cy="62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normAutofit fontScale="100000" lnSpcReduction="0"/>
          </a:bodyPr>
          <a:lstStyle>
            <a:lvl1pPr>
              <a:defRPr b="1"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Équipes &amp; effectifs</a:t>
            </a:r>
          </a:p>
        </p:txBody>
      </p:sp>
      <p:sp>
        <p:nvSpPr>
          <p:cNvPr id="183" name="desc"/>
          <p:cNvSpPr txBox="1"/>
          <p:nvPr/>
        </p:nvSpPr>
        <p:spPr>
          <a:xfrm>
            <a:off x="807999" y="2130000"/>
            <a:ext cx="3356002" cy="545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>
            <a:normAutofit fontScale="100000" lnSpcReduction="0"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effectif de la saison, notes &amp; valeur marchande, dernière composition officielle</a:t>
            </a:r>
          </a:p>
        </p:txBody>
      </p:sp>
      <p:sp>
        <p:nvSpPr>
          <p:cNvPr id="184" name="title"/>
          <p:cNvSpPr txBox="1"/>
          <p:nvPr/>
        </p:nvSpPr>
        <p:spPr>
          <a:xfrm>
            <a:off x="5779999" y="1439999"/>
            <a:ext cx="2556006" cy="62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normAutofit fontScale="100000" lnSpcReduction="0"/>
          </a:bodyPr>
          <a:lstStyle>
            <a:lvl1pPr>
              <a:defRPr b="1"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Prédiction de match</a:t>
            </a:r>
          </a:p>
        </p:txBody>
      </p:sp>
      <p:sp>
        <p:nvSpPr>
          <p:cNvPr id="185" name="desc"/>
          <p:cNvSpPr txBox="1"/>
          <p:nvPr/>
        </p:nvSpPr>
        <p:spPr>
          <a:xfrm>
            <a:off x="4979999" y="2130000"/>
            <a:ext cx="3356002" cy="545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>
            <a:normAutofit fontScale="100000" lnSpcReduction="0"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résultat prédit entre deux équipes données</a:t>
            </a:r>
          </a:p>
        </p:txBody>
      </p:sp>
      <p:sp>
        <p:nvSpPr>
          <p:cNvPr id="186" name="title"/>
          <p:cNvSpPr txBox="1"/>
          <p:nvPr/>
        </p:nvSpPr>
        <p:spPr>
          <a:xfrm>
            <a:off x="1607997" y="3354999"/>
            <a:ext cx="2556007" cy="62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normAutofit fontScale="100000" lnSpcReduction="0"/>
          </a:bodyPr>
          <a:lstStyle>
            <a:lvl1pPr>
              <a:defRPr b="1"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Mode Fantasy</a:t>
            </a:r>
          </a:p>
        </p:txBody>
      </p:sp>
      <p:sp>
        <p:nvSpPr>
          <p:cNvPr id="187" name="desc"/>
          <p:cNvSpPr txBox="1"/>
          <p:nvPr/>
        </p:nvSpPr>
        <p:spPr>
          <a:xfrm>
            <a:off x="807999" y="4044998"/>
            <a:ext cx="3356002" cy="545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>
            <a:normAutofit fontScale="100000" lnSpcReduction="0"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créer sa dream team et lancer un tournoi (équipes fictives ou réelles)</a:t>
            </a:r>
          </a:p>
        </p:txBody>
      </p:sp>
      <p:sp>
        <p:nvSpPr>
          <p:cNvPr id="188" name="title"/>
          <p:cNvSpPr txBox="1"/>
          <p:nvPr/>
        </p:nvSpPr>
        <p:spPr>
          <a:xfrm>
            <a:off x="5779999" y="3354999"/>
            <a:ext cx="2556006" cy="62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 anchor="ctr">
            <a:normAutofit fontScale="100000" lnSpcReduction="0"/>
          </a:bodyPr>
          <a:lstStyle>
            <a:lvl1pPr>
              <a:defRPr b="1"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Chatbot IA</a:t>
            </a:r>
          </a:p>
        </p:txBody>
      </p:sp>
      <p:sp>
        <p:nvSpPr>
          <p:cNvPr id="189" name="desc"/>
          <p:cNvSpPr txBox="1"/>
          <p:nvPr/>
        </p:nvSpPr>
        <p:spPr>
          <a:xfrm>
            <a:off x="4979999" y="4044998"/>
            <a:ext cx="3356002" cy="545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000" tIns="18000" rIns="18000" bIns="18000">
            <a:normAutofit fontScale="100000" lnSpcReduction="0"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réponses générées depuis les bases neondb &amp; Transfermarkt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Fond Paris Saint-Germain" descr="Fond Paris Saint-Germain"/>
          <p:cNvPicPr>
            <a:picLocks noChangeAspect="1"/>
          </p:cNvPicPr>
          <p:nvPr/>
        </p:nvPicPr>
        <p:blipFill>
          <a:blip r:embed="rId2">
            <a:extLst/>
          </a:blip>
          <a:srcRect l="0" t="7813" r="0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92" name="Google Shape;75;p16"/>
          <p:cNvSpPr txBox="1"/>
          <p:nvPr>
            <p:ph type="title"/>
          </p:nvPr>
        </p:nvSpPr>
        <p:spPr>
          <a:xfrm>
            <a:off x="1192663" y="403307"/>
            <a:ext cx="6786772" cy="533106"/>
          </a:xfrm>
          <a:prstGeom prst="rect">
            <a:avLst/>
          </a:prstGeom>
        </p:spPr>
        <p:txBody>
          <a:bodyPr anchor="ctr"/>
          <a:lstStyle>
            <a:lvl1pPr defTabSz="859536">
              <a:defRPr sz="2200"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ETL, EDA et choix de données modèle</a:t>
            </a:r>
          </a:p>
        </p:txBody>
      </p:sp>
      <p:pic>
        <p:nvPicPr>
          <p:cNvPr id="193" name="Google Shape;76;p16" descr="Google Shape;76;p1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194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grpSp>
        <p:nvGrpSpPr>
          <p:cNvPr id="197" name="Groupe 13"/>
          <p:cNvGrpSpPr/>
          <p:nvPr/>
        </p:nvGrpSpPr>
        <p:grpSpPr>
          <a:xfrm>
            <a:off x="817144" y="2657187"/>
            <a:ext cx="5680337" cy="1343040"/>
            <a:chOff x="-1" y="0"/>
            <a:chExt cx="5680336" cy="1343039"/>
          </a:xfrm>
        </p:grpSpPr>
        <p:sp>
          <p:nvSpPr>
            <p:cNvPr id="195" name="Groupe 12"/>
            <p:cNvSpPr/>
            <p:nvPr/>
          </p:nvSpPr>
          <p:spPr>
            <a:xfrm>
              <a:off x="-2" y="-1"/>
              <a:ext cx="5680337" cy="1343040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196" name="Conserver l'information joueur détaillée, puis tester si les abstractions apportent vraiment de la performance."/>
            <p:cNvSpPr txBox="1"/>
            <p:nvPr/>
          </p:nvSpPr>
          <p:spPr>
            <a:xfrm>
              <a:off x="56181" y="332429"/>
              <a:ext cx="5392026" cy="6781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/>
            <a:p>
              <a:pPr>
                <a:defRPr b="1"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Décision structurante</a:t>
              </a:r>
            </a:p>
            <a:p>
              <a:pPr>
                <a:defRPr sz="1000">
                  <a:latin typeface="Inter"/>
                  <a:ea typeface="Inter"/>
                  <a:cs typeface="Inter"/>
                  <a:sym typeface="Inter"/>
                </a:defRPr>
              </a:pPr>
            </a:p>
            <a:p>
              <a:pPr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Conserver l'information joueur détaillée, puis tester si les abstractions apportent vraiment de la performance.</a:t>
              </a:r>
            </a:p>
          </p:txBody>
        </p:sp>
      </p:grpSp>
      <p:grpSp>
        <p:nvGrpSpPr>
          <p:cNvPr id="200" name="Rectangle"/>
          <p:cNvGrpSpPr/>
          <p:nvPr/>
        </p:nvGrpSpPr>
        <p:grpSpPr>
          <a:xfrm>
            <a:off x="817144" y="1284864"/>
            <a:ext cx="5778396" cy="911264"/>
            <a:chOff x="-1" y="0"/>
            <a:chExt cx="5778394" cy="911262"/>
          </a:xfrm>
        </p:grpSpPr>
        <p:sp>
          <p:nvSpPr>
            <p:cNvPr id="198" name="Rectangle"/>
            <p:cNvSpPr/>
            <p:nvPr/>
          </p:nvSpPr>
          <p:spPr>
            <a:xfrm>
              <a:off x="-2" y="-1"/>
              <a:ext cx="5778396" cy="911264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199" name="Objectif: transformer des données football hétérogènes en datasets fiables pour entraîner et comparer les modèles."/>
            <p:cNvSpPr txBox="1"/>
            <p:nvPr/>
          </p:nvSpPr>
          <p:spPr>
            <a:xfrm>
              <a:off x="110617" y="74628"/>
              <a:ext cx="5557160" cy="762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 lvl="3">
                <a:defRPr b="1" sz="1000">
                  <a:latin typeface="Inter"/>
                  <a:ea typeface="Inter"/>
                  <a:cs typeface="Inter"/>
                  <a:sym typeface="Inter"/>
                </a:defRPr>
              </a:pPr>
            </a:p>
            <a:p>
              <a:pPr lvl="3">
                <a:defRPr b="1"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Objectif</a:t>
              </a:r>
            </a:p>
            <a:p>
              <a:pPr lvl="3">
                <a:defRPr sz="1000">
                  <a:latin typeface="Inter"/>
                  <a:ea typeface="Inter"/>
                  <a:cs typeface="Inter"/>
                  <a:sym typeface="Inter"/>
                </a:defRPr>
              </a:pPr>
            </a:p>
            <a:p>
              <a:pPr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Transformer des données football hétérogènes en datasets fiables pour entraîner et comparer les modèles.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Fond Girondins de Bordeaux" descr="Fond Girondins de Bordeaux"/>
          <p:cNvPicPr>
            <a:picLocks noChangeAspect="1"/>
          </p:cNvPicPr>
          <p:nvPr/>
        </p:nvPicPr>
        <p:blipFill>
          <a:blip r:embed="rId2">
            <a:extLst/>
          </a:blip>
          <a:srcRect l="0" t="2750" r="5496" b="1287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03" name="Google Shape;75;p16"/>
          <p:cNvSpPr txBox="1"/>
          <p:nvPr>
            <p:ph type="title"/>
          </p:nvPr>
        </p:nvSpPr>
        <p:spPr>
          <a:xfrm>
            <a:off x="1192663" y="403307"/>
            <a:ext cx="8097985" cy="533106"/>
          </a:xfrm>
          <a:prstGeom prst="rect">
            <a:avLst/>
          </a:prstGeom>
        </p:spPr>
        <p:txBody>
          <a:bodyPr anchor="ctr"/>
          <a:lstStyle/>
          <a:p>
            <a:pPr defTabSz="740662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ETL : </a:t>
            </a:r>
            <a:r>
              <a:rPr>
                <a:solidFill>
                  <a:srgbClr val="000000"/>
                </a:solidFill>
              </a:rPr>
              <a:t>données passent par trois niveaux clairs</a:t>
            </a:r>
          </a:p>
        </p:txBody>
      </p:sp>
      <p:pic>
        <p:nvPicPr>
          <p:cNvPr id="204" name="Google Shape;76;p16" descr="Google Shape;76;p1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205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grpSp>
        <p:nvGrpSpPr>
          <p:cNvPr id="211" name="Groupe 42"/>
          <p:cNvGrpSpPr/>
          <p:nvPr/>
        </p:nvGrpSpPr>
        <p:grpSpPr>
          <a:xfrm>
            <a:off x="340854" y="1191899"/>
            <a:ext cx="2510130" cy="1476058"/>
            <a:chOff x="-2" y="0"/>
            <a:chExt cx="2510128" cy="1476057"/>
          </a:xfrm>
        </p:grpSpPr>
        <p:sp>
          <p:nvSpPr>
            <p:cNvPr id="206" name="Sources"/>
            <p:cNvSpPr txBox="1"/>
            <p:nvPr/>
          </p:nvSpPr>
          <p:spPr>
            <a:xfrm>
              <a:off x="351035" y="-1"/>
              <a:ext cx="2159092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b="1" sz="1100">
                  <a:solidFill>
                    <a:srgbClr val="555555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pPr/>
              <a:r>
                <a:t>Sources</a:t>
              </a:r>
            </a:p>
          </p:txBody>
        </p:sp>
        <p:grpSp>
          <p:nvGrpSpPr>
            <p:cNvPr id="210" name="Groupe 29"/>
            <p:cNvGrpSpPr/>
            <p:nvPr/>
          </p:nvGrpSpPr>
          <p:grpSpPr>
            <a:xfrm>
              <a:off x="-3" y="379058"/>
              <a:ext cx="2320758" cy="1096999"/>
              <a:chOff x="0" y="0"/>
              <a:chExt cx="2320756" cy="1096997"/>
            </a:xfrm>
          </p:grpSpPr>
          <p:sp>
            <p:nvSpPr>
              <p:cNvPr id="207" name="Rectangle"/>
              <p:cNvSpPr/>
              <p:nvPr/>
            </p:nvSpPr>
            <p:spPr>
              <a:xfrm>
                <a:off x="-1" y="-1"/>
                <a:ext cx="2320758" cy="1096998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j-lt"/>
                    <a:ea typeface="+mj-ea"/>
                    <a:cs typeface="+mj-cs"/>
                    <a:sym typeface="Arial"/>
                  </a:defRPr>
                </a:pPr>
              </a:p>
            </p:txBody>
          </p:sp>
          <p:sp>
            <p:nvSpPr>
              <p:cNvPr id="208" name="SoFIFA"/>
              <p:cNvSpPr txBox="1"/>
              <p:nvPr/>
            </p:nvSpPr>
            <p:spPr>
              <a:xfrm>
                <a:off x="110338" y="97963"/>
                <a:ext cx="1564883" cy="2336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b="1" sz="1100">
                    <a:solidFill>
                      <a:srgbClr val="FF4B4B"/>
                    </a:solidFill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pPr/>
                <a:r>
                  <a:t>SoFIFA</a:t>
                </a:r>
              </a:p>
            </p:txBody>
          </p:sp>
          <p:sp>
            <p:nvSpPr>
              <p:cNvPr id="209" name="Scraping des notes détaillées joueurs: attaque, technique, mouvement, défense, gardien."/>
              <p:cNvSpPr txBox="1"/>
              <p:nvPr/>
            </p:nvSpPr>
            <p:spPr>
              <a:xfrm>
                <a:off x="110337" y="387561"/>
                <a:ext cx="2096160" cy="5257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0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pPr/>
                <a:r>
                  <a:t>Scraping des notes détaillées joueurs: attaque, technique, mouvement, défense, gardien.</a:t>
                </a:r>
              </a:p>
            </p:txBody>
          </p:sp>
        </p:grpSp>
      </p:grpSp>
      <p:grpSp>
        <p:nvGrpSpPr>
          <p:cNvPr id="216" name="Groupe 28"/>
          <p:cNvGrpSpPr/>
          <p:nvPr/>
        </p:nvGrpSpPr>
        <p:grpSpPr>
          <a:xfrm>
            <a:off x="340853" y="3612986"/>
            <a:ext cx="2540377" cy="1071579"/>
            <a:chOff x="-1" y="-1"/>
            <a:chExt cx="2540376" cy="1071577"/>
          </a:xfrm>
        </p:grpSpPr>
        <p:grpSp>
          <p:nvGrpSpPr>
            <p:cNvPr id="214" name="Groupe 27"/>
            <p:cNvGrpSpPr/>
            <p:nvPr/>
          </p:nvGrpSpPr>
          <p:grpSpPr>
            <a:xfrm>
              <a:off x="-2" y="-2"/>
              <a:ext cx="2540377" cy="1071579"/>
              <a:chOff x="0" y="0"/>
              <a:chExt cx="2540376" cy="1071577"/>
            </a:xfrm>
          </p:grpSpPr>
          <p:sp>
            <p:nvSpPr>
              <p:cNvPr id="212" name="Rectangle"/>
              <p:cNvSpPr/>
              <p:nvPr/>
            </p:nvSpPr>
            <p:spPr>
              <a:xfrm>
                <a:off x="-1" y="-1"/>
                <a:ext cx="2305924" cy="1071578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j-lt"/>
                    <a:ea typeface="+mj-ea"/>
                    <a:cs typeface="+mj-cs"/>
                    <a:sym typeface="Arial"/>
                  </a:defRPr>
                </a:pPr>
              </a:p>
            </p:txBody>
          </p:sp>
          <p:sp>
            <p:nvSpPr>
              <p:cNvPr id="213" name="Transfermarkt"/>
              <p:cNvSpPr txBox="1"/>
              <p:nvPr/>
            </p:nvSpPr>
            <p:spPr>
              <a:xfrm>
                <a:off x="127364" y="124925"/>
                <a:ext cx="2413012" cy="2336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b="1" sz="1100">
                    <a:solidFill>
                      <a:srgbClr val="FF4B4B"/>
                    </a:solidFill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pPr/>
                <a:r>
                  <a:t>Transfermarkt</a:t>
                </a:r>
              </a:p>
            </p:txBody>
          </p:sp>
        </p:grpSp>
        <p:sp>
          <p:nvSpPr>
            <p:cNvPr id="215" name="CSV GitHub: matchs, lineups, joueurs, clubs et transferts. Mise à jour régulière."/>
            <p:cNvSpPr txBox="1"/>
            <p:nvPr/>
          </p:nvSpPr>
          <p:spPr>
            <a:xfrm>
              <a:off x="111579" y="452480"/>
              <a:ext cx="2082761" cy="525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0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pPr/>
              <a:r>
                <a:t>CSV GitHub: matchs, lineups, joueurs, clubs et transferts. Mise à jour régulière.</a:t>
              </a:r>
            </a:p>
          </p:txBody>
        </p:sp>
      </p:grpSp>
      <p:grpSp>
        <p:nvGrpSpPr>
          <p:cNvPr id="219" name="Groupe 31"/>
          <p:cNvGrpSpPr/>
          <p:nvPr/>
        </p:nvGrpSpPr>
        <p:grpSpPr>
          <a:xfrm>
            <a:off x="3010215" y="3001968"/>
            <a:ext cx="866920" cy="418802"/>
            <a:chOff x="0" y="-1"/>
            <a:chExt cx="866918" cy="418800"/>
          </a:xfrm>
        </p:grpSpPr>
        <p:sp>
          <p:nvSpPr>
            <p:cNvPr id="217" name="Rectangle"/>
            <p:cNvSpPr/>
            <p:nvPr/>
          </p:nvSpPr>
          <p:spPr>
            <a:xfrm>
              <a:off x="-1" y="-2"/>
              <a:ext cx="866920" cy="418802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218" name="/raw"/>
            <p:cNvSpPr txBox="1"/>
            <p:nvPr/>
          </p:nvSpPr>
          <p:spPr>
            <a:xfrm>
              <a:off x="81357" y="11430"/>
              <a:ext cx="661526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b="1" sz="1100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pPr/>
              <a:r>
                <a:t>/raw</a:t>
              </a:r>
            </a:p>
          </p:txBody>
        </p:sp>
      </p:grpSp>
      <p:grpSp>
        <p:nvGrpSpPr>
          <p:cNvPr id="223" name="Groupe 30"/>
          <p:cNvGrpSpPr/>
          <p:nvPr/>
        </p:nvGrpSpPr>
        <p:grpSpPr>
          <a:xfrm>
            <a:off x="3776909" y="1101845"/>
            <a:ext cx="2894658" cy="1071573"/>
            <a:chOff x="0" y="0"/>
            <a:chExt cx="2894657" cy="1071571"/>
          </a:xfrm>
        </p:grpSpPr>
        <p:sp>
          <p:nvSpPr>
            <p:cNvPr id="220" name="Rectangle"/>
            <p:cNvSpPr/>
            <p:nvPr/>
          </p:nvSpPr>
          <p:spPr>
            <a:xfrm>
              <a:off x="-1" y="-1"/>
              <a:ext cx="2894658" cy="1071573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j-lt"/>
                  <a:ea typeface="+mj-ea"/>
                  <a:cs typeface="+mj-cs"/>
                  <a:sym typeface="Arial"/>
                </a:defRPr>
              </a:pPr>
            </a:p>
          </p:txBody>
        </p:sp>
        <p:sp>
          <p:nvSpPr>
            <p:cNvPr id="221" name="/staging"/>
            <p:cNvSpPr txBox="1"/>
            <p:nvPr/>
          </p:nvSpPr>
          <p:spPr>
            <a:xfrm>
              <a:off x="209306" y="102169"/>
              <a:ext cx="2208845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b="1" sz="1100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pPr/>
              <a:r>
                <a:t>/staging</a:t>
              </a:r>
            </a:p>
          </p:txBody>
        </p:sp>
        <p:sp>
          <p:nvSpPr>
            <p:cNvPr id="222" name="training_match_dataset et match_outcome_team_ratings dans NeonDB."/>
            <p:cNvSpPr txBox="1"/>
            <p:nvPr/>
          </p:nvSpPr>
          <p:spPr>
            <a:xfrm>
              <a:off x="209306" y="309196"/>
              <a:ext cx="2535003" cy="6781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/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training_match_dataset</a:t>
              </a:r>
            </a:p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match_outcome_team_ratings</a:t>
              </a:r>
            </a:p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Clé de passage: réconciliation player_id SoFIFA et Transfermarkt.</a:t>
              </a:r>
            </a:p>
          </p:txBody>
        </p:sp>
      </p:grpSp>
      <p:grpSp>
        <p:nvGrpSpPr>
          <p:cNvPr id="230" name="Groupe 34"/>
          <p:cNvGrpSpPr/>
          <p:nvPr/>
        </p:nvGrpSpPr>
        <p:grpSpPr>
          <a:xfrm>
            <a:off x="7019894" y="2015009"/>
            <a:ext cx="1931694" cy="1386373"/>
            <a:chOff x="-2" y="-1"/>
            <a:chExt cx="1931692" cy="1386371"/>
          </a:xfrm>
        </p:grpSpPr>
        <p:sp>
          <p:nvSpPr>
            <p:cNvPr id="224" name="Analyse et modeles"/>
            <p:cNvSpPr/>
            <p:nvPr/>
          </p:nvSpPr>
          <p:spPr>
            <a:xfrm>
              <a:off x="106704" y="-2"/>
              <a:ext cx="1788806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b="1" sz="1100">
                  <a:solidFill>
                    <a:srgbClr val="555555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pPr/>
              <a:r>
                <a:t>Analyse et modèles</a:t>
              </a:r>
            </a:p>
          </p:txBody>
        </p:sp>
        <p:grpSp>
          <p:nvGrpSpPr>
            <p:cNvPr id="229" name="Groupe 33"/>
            <p:cNvGrpSpPr/>
            <p:nvPr/>
          </p:nvGrpSpPr>
          <p:grpSpPr>
            <a:xfrm>
              <a:off x="-3" y="314794"/>
              <a:ext cx="1931693" cy="1071577"/>
              <a:chOff x="-1" y="-1"/>
              <a:chExt cx="1931692" cy="1071575"/>
            </a:xfrm>
          </p:grpSpPr>
          <p:grpSp>
            <p:nvGrpSpPr>
              <p:cNvPr id="227" name="Groupe 32"/>
              <p:cNvGrpSpPr/>
              <p:nvPr/>
            </p:nvGrpSpPr>
            <p:grpSpPr>
              <a:xfrm>
                <a:off x="-2" y="-2"/>
                <a:ext cx="1931694" cy="1071577"/>
                <a:chOff x="0" y="0"/>
                <a:chExt cx="1931692" cy="1071575"/>
              </a:xfrm>
            </p:grpSpPr>
            <p:sp>
              <p:nvSpPr>
                <p:cNvPr id="225" name="Rectangle"/>
                <p:cNvSpPr/>
                <p:nvPr/>
              </p:nvSpPr>
              <p:spPr>
                <a:xfrm>
                  <a:off x="-1" y="-1"/>
                  <a:ext cx="1931694" cy="1071576"/>
                </a:xfrm>
                <a:prstGeom prst="rect">
                  <a:avLst/>
                </a:prstGeom>
                <a:solidFill>
                  <a:schemeClr val="accent2">
                    <a:lumOff val="80020"/>
                  </a:scheme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 sz="1000">
                      <a:latin typeface="+mj-lt"/>
                      <a:ea typeface="+mj-ea"/>
                      <a:cs typeface="+mj-cs"/>
                      <a:sym typeface="Arial"/>
                    </a:defRPr>
                  </a:pPr>
                </a:p>
              </p:txBody>
            </p:sp>
            <p:sp>
              <p:nvSpPr>
                <p:cNvPr id="226" name="/curated"/>
                <p:cNvSpPr/>
                <p:nvPr/>
              </p:nvSpPr>
              <p:spPr>
                <a:xfrm>
                  <a:off x="78125" y="112065"/>
                  <a:ext cx="1845967" cy="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0" fill="norm" stroke="1" extrusionOk="0">
                      <a:moveTo>
                        <a:pt x="0" y="0"/>
                      </a:moveTo>
                      <a:lnTo>
                        <a:pt x="21600" y="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val="1"/>
                  </a:ext>
                </a:extLst>
              </p:spPr>
              <p:txBody>
                <a:bodyPr wrap="square" lIns="34289" tIns="34289" rIns="34289" bIns="34289" numCol="1" anchor="t">
                  <a:spAutoFit/>
                </a:bodyPr>
                <a:lstStyle>
                  <a:lvl1pPr>
                    <a:defRPr b="1" sz="1100">
                      <a:solidFill>
                        <a:srgbClr val="15803D"/>
                      </a:solidFill>
                      <a:latin typeface="Inter"/>
                      <a:ea typeface="Inter"/>
                      <a:cs typeface="Inter"/>
                      <a:sym typeface="Inter"/>
                    </a:defRPr>
                  </a:lvl1pPr>
                </a:lstStyle>
                <a:p>
                  <a:pPr/>
                  <a:r>
                    <a:t>/curated</a:t>
                  </a:r>
                </a:p>
              </p:txBody>
            </p:sp>
          </p:grpSp>
          <p:sp>
            <p:nvSpPr>
              <p:cNvPr id="228" name="Datasets locaux de notebook pour entraînement ML, dont training_dataset_df."/>
              <p:cNvSpPr/>
              <p:nvPr/>
            </p:nvSpPr>
            <p:spPr>
              <a:xfrm>
                <a:off x="42865" y="327650"/>
                <a:ext cx="1845963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0" fill="norm" stroke="1" extrusionOk="0">
                    <a:moveTo>
                      <a:pt x="0" y="0"/>
                    </a:moveTo>
                    <a:lnTo>
                      <a:pt x="21600" y="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0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pPr/>
                <a:r>
                  <a:t>Datasets locaux de notebook pour entraînement ML, dont training_dataset_df.</a:t>
                </a:r>
              </a:p>
            </p:txBody>
          </p:sp>
        </p:grpSp>
      </p:grpSp>
      <p:grpSp>
        <p:nvGrpSpPr>
          <p:cNvPr id="233" name="Groupe 35"/>
          <p:cNvGrpSpPr/>
          <p:nvPr/>
        </p:nvGrpSpPr>
        <p:grpSpPr>
          <a:xfrm>
            <a:off x="3132919" y="1101843"/>
            <a:ext cx="621512" cy="1071576"/>
            <a:chOff x="0" y="-1"/>
            <a:chExt cx="621511" cy="1071575"/>
          </a:xfrm>
        </p:grpSpPr>
        <p:pic>
          <p:nvPicPr>
            <p:cNvPr id="231" name="Image 36" descr="Image 36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-1" y="-2"/>
              <a:ext cx="585757" cy="53838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32" name="Image 37" descr="Image 37"/>
            <p:cNvPicPr>
              <a:picLocks noChangeAspect="1"/>
            </p:cNvPicPr>
            <p:nvPr/>
          </p:nvPicPr>
          <p:blipFill>
            <a:blip r:embed="rId5">
              <a:extLst/>
            </a:blip>
            <a:stretch>
              <a:fillRect/>
            </a:stretch>
          </p:blipFill>
          <p:spPr>
            <a:xfrm>
              <a:off x="35755" y="471532"/>
              <a:ext cx="585756" cy="60004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34" name="Image 57" descr="Image 57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7387500" y="3484202"/>
            <a:ext cx="1196487" cy="577617"/>
          </a:xfrm>
          <a:prstGeom prst="rect">
            <a:avLst/>
          </a:prstGeom>
          <a:ln w="12700">
            <a:miter lim="400000"/>
          </a:ln>
        </p:spPr>
      </p:pic>
      <p:sp>
        <p:nvSpPr>
          <p:cNvPr id="235" name="Fleche FastAPI vers Render"/>
          <p:cNvSpPr/>
          <p:nvPr/>
        </p:nvSpPr>
        <p:spPr>
          <a:xfrm>
            <a:off x="5293038" y="2249170"/>
            <a:ext cx="1726872" cy="616427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6" name="Fleche FastAPI vers Render"/>
          <p:cNvSpPr/>
          <p:nvPr/>
        </p:nvSpPr>
        <p:spPr>
          <a:xfrm flipV="1">
            <a:off x="3443675" y="2249845"/>
            <a:ext cx="1810039" cy="752127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7" name="Fleche FastAPI vers Render"/>
          <p:cNvSpPr/>
          <p:nvPr/>
        </p:nvSpPr>
        <p:spPr>
          <a:xfrm>
            <a:off x="2661604" y="2119458"/>
            <a:ext cx="348620" cy="1091915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8" name="Fleche FastAPI vers Render"/>
          <p:cNvSpPr/>
          <p:nvPr/>
        </p:nvSpPr>
        <p:spPr>
          <a:xfrm flipV="1">
            <a:off x="2646770" y="3211367"/>
            <a:ext cx="363453" cy="937406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Fond Pau FC" descr="Fond Pau FC"/>
          <p:cNvPicPr>
            <a:picLocks noChangeAspect="1"/>
          </p:cNvPicPr>
          <p:nvPr/>
        </p:nvPicPr>
        <p:blipFill>
          <a:blip r:embed="rId2">
            <a:extLst/>
          </a:blip>
          <a:srcRect l="0" t="7813" r="0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41" name="Google Shape;75;p16"/>
          <p:cNvSpPr txBox="1"/>
          <p:nvPr>
            <p:ph type="title"/>
          </p:nvPr>
        </p:nvSpPr>
        <p:spPr>
          <a:xfrm>
            <a:off x="1192662" y="403307"/>
            <a:ext cx="8218755" cy="533106"/>
          </a:xfrm>
          <a:prstGeom prst="rect">
            <a:avLst/>
          </a:prstGeom>
        </p:spPr>
        <p:txBody>
          <a:bodyPr anchor="ctr"/>
          <a:lstStyle>
            <a:lvl1pPr defTabSz="740662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EDA : sécurise le dataset d'entraînement</a:t>
            </a:r>
          </a:p>
        </p:txBody>
      </p:sp>
      <p:pic>
        <p:nvPicPr>
          <p:cNvPr id="242" name="Google Shape;76;p16" descr="Google Shape;76;p1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243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244" name="Périmètre: matchs UEFA des 5 dernières années, entre les 100 meilleurs clubs UEFA."/>
          <p:cNvSpPr txBox="1"/>
          <p:nvPr/>
        </p:nvSpPr>
        <p:spPr>
          <a:xfrm>
            <a:off x="800100" y="1147038"/>
            <a:ext cx="6789423" cy="2336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>
                <a:solidFill>
                  <a:srgbClr val="555555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Périmètre: matchs UEFA des 5 dernières années, entre les 100 meilleurs clubs UEFA.</a:t>
            </a:r>
          </a:p>
        </p:txBody>
      </p:sp>
      <p:grpSp>
        <p:nvGrpSpPr>
          <p:cNvPr id="249" name="Groupe 33"/>
          <p:cNvGrpSpPr/>
          <p:nvPr/>
        </p:nvGrpSpPr>
        <p:grpSpPr>
          <a:xfrm>
            <a:off x="751814" y="1784178"/>
            <a:ext cx="1928830" cy="1985977"/>
            <a:chOff x="-1" y="-1"/>
            <a:chExt cx="1928829" cy="1985976"/>
          </a:xfrm>
        </p:grpSpPr>
        <p:grpSp>
          <p:nvGrpSpPr>
            <p:cNvPr id="247" name="Groupe 32"/>
            <p:cNvGrpSpPr/>
            <p:nvPr/>
          </p:nvGrpSpPr>
          <p:grpSpPr>
            <a:xfrm>
              <a:off x="-2" y="-2"/>
              <a:ext cx="1928831" cy="1985977"/>
              <a:chOff x="0" y="-1"/>
              <a:chExt cx="1928829" cy="1985976"/>
            </a:xfrm>
          </p:grpSpPr>
          <p:sp>
            <p:nvSpPr>
              <p:cNvPr id="245" name="Rectangle"/>
              <p:cNvSpPr/>
              <p:nvPr/>
            </p:nvSpPr>
            <p:spPr>
              <a:xfrm>
                <a:off x="-1" y="-2"/>
                <a:ext cx="1928830" cy="1985978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j-lt"/>
                    <a:ea typeface="+mj-ea"/>
                    <a:cs typeface="+mj-cs"/>
                    <a:sym typeface="Arial"/>
                  </a:defRPr>
                </a:pPr>
              </a:p>
            </p:txBody>
          </p:sp>
          <p:sp>
            <p:nvSpPr>
              <p:cNvPr id="246" name="100"/>
              <p:cNvSpPr txBox="1"/>
              <p:nvPr/>
            </p:nvSpPr>
            <p:spPr>
              <a:xfrm>
                <a:off x="234317" y="268608"/>
                <a:ext cx="1503062" cy="5988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b="1" sz="3800">
                    <a:latin typeface="+mj-lt"/>
                    <a:ea typeface="+mj-ea"/>
                    <a:cs typeface="+mj-cs"/>
                    <a:sym typeface="Arial"/>
                  </a:defRPr>
                </a:lvl1pPr>
              </a:lstStyle>
              <a:p>
                <a:pPr/>
                <a:r>
                  <a:t>100</a:t>
                </a:r>
              </a:p>
            </p:txBody>
          </p:sp>
        </p:grpSp>
        <p:sp>
          <p:nvSpPr>
            <p:cNvPr id="248" name="meilleures équipes UEFA comme base de comparaison"/>
            <p:cNvSpPr txBox="1"/>
            <p:nvPr/>
          </p:nvSpPr>
          <p:spPr>
            <a:xfrm>
              <a:off x="248607" y="1154435"/>
              <a:ext cx="1431617" cy="5638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pPr/>
              <a:r>
                <a:t>meilleures équipes UEFA comme base de comparaison</a:t>
              </a:r>
            </a:p>
          </p:txBody>
        </p:sp>
      </p:grpSp>
      <p:grpSp>
        <p:nvGrpSpPr>
          <p:cNvPr id="254" name="Groupe 31"/>
          <p:cNvGrpSpPr/>
          <p:nvPr/>
        </p:nvGrpSpPr>
        <p:grpSpPr>
          <a:xfrm>
            <a:off x="3135517" y="1798524"/>
            <a:ext cx="1928829" cy="1985977"/>
            <a:chOff x="-2" y="-1"/>
            <a:chExt cx="1928828" cy="1985976"/>
          </a:xfrm>
        </p:grpSpPr>
        <p:grpSp>
          <p:nvGrpSpPr>
            <p:cNvPr id="252" name="Groupe 30"/>
            <p:cNvGrpSpPr/>
            <p:nvPr/>
          </p:nvGrpSpPr>
          <p:grpSpPr>
            <a:xfrm>
              <a:off x="-3" y="-2"/>
              <a:ext cx="1928829" cy="1985977"/>
              <a:chOff x="-1" y="-1"/>
              <a:chExt cx="1928828" cy="1985976"/>
            </a:xfrm>
          </p:grpSpPr>
          <p:sp>
            <p:nvSpPr>
              <p:cNvPr id="250" name="Rectangle"/>
              <p:cNvSpPr/>
              <p:nvPr/>
            </p:nvSpPr>
            <p:spPr>
              <a:xfrm>
                <a:off x="-2" y="-2"/>
                <a:ext cx="1928829" cy="1985978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j-lt"/>
                    <a:ea typeface="+mj-ea"/>
                    <a:cs typeface="+mj-cs"/>
                    <a:sym typeface="Arial"/>
                  </a:defRPr>
                </a:pPr>
              </a:p>
            </p:txBody>
          </p:sp>
          <p:sp>
            <p:nvSpPr>
              <p:cNvPr id="251" name="6000"/>
              <p:cNvSpPr txBox="1"/>
              <p:nvPr/>
            </p:nvSpPr>
            <p:spPr>
              <a:xfrm>
                <a:off x="234315" y="268608"/>
                <a:ext cx="1503062" cy="5988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b="1" sz="3800">
                    <a:latin typeface="+mj-lt"/>
                    <a:ea typeface="+mj-ea"/>
                    <a:cs typeface="+mj-cs"/>
                    <a:sym typeface="Arial"/>
                  </a:defRPr>
                </a:lvl1pPr>
              </a:lstStyle>
              <a:p>
                <a:pPr/>
                <a:r>
                  <a:t>6000</a:t>
                </a:r>
              </a:p>
            </p:txBody>
          </p:sp>
        </p:grpSp>
        <p:sp>
          <p:nvSpPr>
            <p:cNvPr id="253" name="matchs environ avant jointure complète"/>
            <p:cNvSpPr txBox="1"/>
            <p:nvPr/>
          </p:nvSpPr>
          <p:spPr>
            <a:xfrm>
              <a:off x="248605" y="1154435"/>
              <a:ext cx="1431617" cy="398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pPr/>
              <a:r>
                <a:t>matchs environ avant jointure complète</a:t>
              </a:r>
            </a:p>
          </p:txBody>
        </p:sp>
      </p:grpSp>
      <p:grpSp>
        <p:nvGrpSpPr>
          <p:cNvPr id="259" name="Groupe 29"/>
          <p:cNvGrpSpPr/>
          <p:nvPr/>
        </p:nvGrpSpPr>
        <p:grpSpPr>
          <a:xfrm>
            <a:off x="5915152" y="1784178"/>
            <a:ext cx="1928828" cy="1985977"/>
            <a:chOff x="-1" y="-1"/>
            <a:chExt cx="1928827" cy="1985976"/>
          </a:xfrm>
        </p:grpSpPr>
        <p:grpSp>
          <p:nvGrpSpPr>
            <p:cNvPr id="257" name="Groupe 28"/>
            <p:cNvGrpSpPr/>
            <p:nvPr/>
          </p:nvGrpSpPr>
          <p:grpSpPr>
            <a:xfrm>
              <a:off x="-2" y="-2"/>
              <a:ext cx="1928828" cy="1985977"/>
              <a:chOff x="0" y="-1"/>
              <a:chExt cx="1928827" cy="1985976"/>
            </a:xfrm>
          </p:grpSpPr>
          <p:sp>
            <p:nvSpPr>
              <p:cNvPr id="255" name="Rectangle"/>
              <p:cNvSpPr/>
              <p:nvPr/>
            </p:nvSpPr>
            <p:spPr>
              <a:xfrm>
                <a:off x="-1" y="-2"/>
                <a:ext cx="1928828" cy="1985978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j-lt"/>
                    <a:ea typeface="+mj-ea"/>
                    <a:cs typeface="+mj-cs"/>
                    <a:sym typeface="Arial"/>
                  </a:defRPr>
                </a:pPr>
              </a:p>
            </p:txBody>
          </p:sp>
          <p:sp>
            <p:nvSpPr>
              <p:cNvPr id="256" name="3800"/>
              <p:cNvSpPr txBox="1"/>
              <p:nvPr/>
            </p:nvSpPr>
            <p:spPr>
              <a:xfrm>
                <a:off x="212886" y="268608"/>
                <a:ext cx="1503060" cy="5988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b="1" sz="3800">
                    <a:latin typeface="+mj-lt"/>
                    <a:ea typeface="+mj-ea"/>
                    <a:cs typeface="+mj-cs"/>
                    <a:sym typeface="Arial"/>
                  </a:defRPr>
                </a:lvl1pPr>
              </a:lstStyle>
              <a:p>
                <a:pPr/>
                <a:r>
                  <a:t>3800</a:t>
                </a:r>
              </a:p>
            </p:txBody>
          </p:sp>
        </p:grpSp>
        <p:sp>
          <p:nvSpPr>
            <p:cNvPr id="258" name="matchs exploitables après retrait des NaN"/>
            <p:cNvSpPr txBox="1"/>
            <p:nvPr/>
          </p:nvSpPr>
          <p:spPr>
            <a:xfrm>
              <a:off x="227175" y="1154435"/>
              <a:ext cx="1431615" cy="398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pPr/>
              <a:r>
                <a:t>matchs exploitables après retrait des NaN</a:t>
              </a:r>
            </a:p>
          </p:txBody>
        </p:sp>
      </p:grpSp>
      <p:sp>
        <p:nvSpPr>
          <p:cNvPr id="260" name="Conclusion modele"/>
          <p:cNvSpPr txBox="1"/>
          <p:nvPr/>
        </p:nvSpPr>
        <p:spPr>
          <a:xfrm>
            <a:off x="334327" y="4240531"/>
            <a:ext cx="1931673" cy="2336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b="1" sz="11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Conclusion modèle</a:t>
            </a:r>
          </a:p>
        </p:txBody>
      </p:sp>
      <p:sp>
        <p:nvSpPr>
          <p:cNvPr id="261" name="Le clustering joueurs a surtout séparé les niveaux de force, pas des profils techniques nets. Dans cette version, il réduit l'information et dégrade la performance."/>
          <p:cNvSpPr txBox="1"/>
          <p:nvPr/>
        </p:nvSpPr>
        <p:spPr>
          <a:xfrm>
            <a:off x="2384983" y="4168549"/>
            <a:ext cx="5646430" cy="3987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Le clustering joueurs a surtout séparé les niveaux de force, pas des profils techniques nets. Dans cette version, il réduit l'information et dégrade la performance.</a:t>
            </a:r>
          </a:p>
        </p:txBody>
      </p:sp>
      <p:sp>
        <p:nvSpPr>
          <p:cNvPr id="262" name="3"/>
          <p:cNvSpPr txBox="1"/>
          <p:nvPr/>
        </p:nvSpPr>
        <p:spPr>
          <a:xfrm>
            <a:off x="8492489" y="4726306"/>
            <a:ext cx="317189" cy="154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4289" tIns="34289" rIns="34289" bIns="34289">
            <a:spAutoFit/>
          </a:bodyPr>
          <a:lstStyle>
            <a:lvl1pPr algn="r">
              <a:defRPr sz="700">
                <a:solidFill>
                  <a:srgbClr val="555555"/>
                </a:solidFill>
                <a:latin typeface="+mj-lt"/>
                <a:ea typeface="+mj-ea"/>
                <a:cs typeface="+mj-cs"/>
                <a:sym typeface="Arial"/>
              </a:defRPr>
            </a:lvl1pPr>
          </a:lstStyle>
          <a:p>
            <a:pPr/>
            <a:r>
              <a:t>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Fond FC Barcelone" descr="Fond FC Barcelone"/>
          <p:cNvPicPr>
            <a:picLocks noChangeAspect="1"/>
          </p:cNvPicPr>
          <p:nvPr/>
        </p:nvPicPr>
        <p:blipFill>
          <a:blip r:embed="rId2">
            <a:extLst/>
          </a:blip>
          <a:srcRect l="0" t="7812" r="8100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65" name="Google Shape;75;p16"/>
          <p:cNvSpPr txBox="1"/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Architecture - Entrainement</a:t>
            </a:r>
          </a:p>
        </p:txBody>
      </p:sp>
      <p:pic>
        <p:nvPicPr>
          <p:cNvPr id="266" name="Google Shape;76;p16" descr="Google Shape;76;p1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grpSp>
        <p:nvGrpSpPr>
          <p:cNvPr id="270" name="Groupe 27"/>
          <p:cNvGrpSpPr/>
          <p:nvPr/>
        </p:nvGrpSpPr>
        <p:grpSpPr>
          <a:xfrm>
            <a:off x="7096703" y="1678898"/>
            <a:ext cx="1143109" cy="1615655"/>
            <a:chOff x="0" y="-1"/>
            <a:chExt cx="1143107" cy="1615654"/>
          </a:xfrm>
        </p:grpSpPr>
        <p:pic>
          <p:nvPicPr>
            <p:cNvPr id="268" name="Image 7" descr="Image 7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0" y="396341"/>
              <a:ext cx="1143108" cy="121931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69" name="Image 13" descr="Image 13"/>
            <p:cNvPicPr>
              <a:picLocks noChangeAspect="1"/>
            </p:cNvPicPr>
            <p:nvPr/>
          </p:nvPicPr>
          <p:blipFill>
            <a:blip r:embed="rId5">
              <a:extLst/>
            </a:blip>
            <a:stretch>
              <a:fillRect/>
            </a:stretch>
          </p:blipFill>
          <p:spPr>
            <a:xfrm>
              <a:off x="220147" y="-2"/>
              <a:ext cx="844699" cy="5307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274" name="Groupe 17"/>
          <p:cNvGrpSpPr/>
          <p:nvPr/>
        </p:nvGrpSpPr>
        <p:grpSpPr>
          <a:xfrm>
            <a:off x="2546640" y="1488945"/>
            <a:ext cx="2278627" cy="2356461"/>
            <a:chOff x="0" y="0"/>
            <a:chExt cx="2278626" cy="2356460"/>
          </a:xfrm>
        </p:grpSpPr>
        <p:pic>
          <p:nvPicPr>
            <p:cNvPr id="271" name="Image 2" descr="Image 2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143865" y="837871"/>
              <a:ext cx="1196490" cy="57761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72" name="Image 15" descr="Image 15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392206" y="-1"/>
              <a:ext cx="699806" cy="62721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73" name="ZoneTexte 16"/>
            <p:cNvSpPr txBox="1"/>
            <p:nvPr/>
          </p:nvSpPr>
          <p:spPr>
            <a:xfrm>
              <a:off x="-1" y="1617323"/>
              <a:ext cx="2278627" cy="7391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/>
            <a:p>
              <a:pPr>
                <a:defRPr>
                  <a:latin typeface="Inter"/>
                  <a:ea typeface="Inter"/>
                  <a:cs typeface="Inter"/>
                  <a:sym typeface="Inter"/>
                </a:defRPr>
              </a:pPr>
              <a:r>
                <a:t>Construction des datasets</a:t>
              </a:r>
              <a:br/>
              <a:r>
                <a:t>et entraînement du modèle </a:t>
              </a:r>
            </a:p>
            <a:p>
              <a:pPr>
                <a:defRPr>
                  <a:latin typeface="Inter"/>
                  <a:ea typeface="Inter"/>
                  <a:cs typeface="Inter"/>
                  <a:sym typeface="Inter"/>
                </a:defRPr>
              </a:pPr>
              <a:r>
                <a:t>en local</a:t>
              </a:r>
            </a:p>
          </p:txBody>
        </p:sp>
      </p:grpSp>
      <p:sp>
        <p:nvSpPr>
          <p:cNvPr id="275" name="Fleche FastAPI vers Render"/>
          <p:cNvSpPr/>
          <p:nvPr/>
        </p:nvSpPr>
        <p:spPr>
          <a:xfrm flipV="1">
            <a:off x="1664018" y="2785792"/>
            <a:ext cx="1026493" cy="122925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6" name="Fleche FastAPI vers Render"/>
          <p:cNvSpPr/>
          <p:nvPr/>
        </p:nvSpPr>
        <p:spPr>
          <a:xfrm flipV="1">
            <a:off x="3886991" y="2579290"/>
            <a:ext cx="863916" cy="70976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7" name="Fleche FastAPI vers Render"/>
          <p:cNvSpPr/>
          <p:nvPr/>
        </p:nvSpPr>
        <p:spPr>
          <a:xfrm flipV="1">
            <a:off x="6259795" y="2494807"/>
            <a:ext cx="836910" cy="11840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280" name="Groupe 36"/>
          <p:cNvGrpSpPr/>
          <p:nvPr/>
        </p:nvGrpSpPr>
        <p:grpSpPr>
          <a:xfrm>
            <a:off x="904193" y="2278921"/>
            <a:ext cx="759832" cy="1350578"/>
            <a:chOff x="-1" y="-1"/>
            <a:chExt cx="759830" cy="1350577"/>
          </a:xfrm>
        </p:grpSpPr>
        <p:pic>
          <p:nvPicPr>
            <p:cNvPr id="278" name="Image 9" descr="Image 9"/>
            <p:cNvPicPr>
              <a:picLocks noChangeAspect="1"/>
            </p:cNvPicPr>
            <p:nvPr/>
          </p:nvPicPr>
          <p:blipFill>
            <a:blip r:embed="rId8">
              <a:extLst/>
            </a:blip>
            <a:stretch>
              <a:fillRect/>
            </a:stretch>
          </p:blipFill>
          <p:spPr>
            <a:xfrm>
              <a:off x="-2" y="-2"/>
              <a:ext cx="759832" cy="69837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79" name="Image 35" descr="Image 35"/>
            <p:cNvPicPr>
              <a:picLocks noChangeAspect="1"/>
            </p:cNvPicPr>
            <p:nvPr/>
          </p:nvPicPr>
          <p:blipFill>
            <a:blip r:embed="rId9">
              <a:extLst/>
            </a:blip>
            <a:stretch>
              <a:fillRect/>
            </a:stretch>
          </p:blipFill>
          <p:spPr>
            <a:xfrm>
              <a:off x="-2" y="572217"/>
              <a:ext cx="759832" cy="77836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287" name="Groupe 39"/>
          <p:cNvGrpSpPr/>
          <p:nvPr/>
        </p:nvGrpSpPr>
        <p:grpSpPr>
          <a:xfrm>
            <a:off x="4750905" y="1740504"/>
            <a:ext cx="1508909" cy="1553612"/>
            <a:chOff x="0" y="-2"/>
            <a:chExt cx="1508907" cy="1553610"/>
          </a:xfrm>
        </p:grpSpPr>
        <p:grpSp>
          <p:nvGrpSpPr>
            <p:cNvPr id="285" name="Groupe 26"/>
            <p:cNvGrpSpPr/>
            <p:nvPr/>
          </p:nvGrpSpPr>
          <p:grpSpPr>
            <a:xfrm>
              <a:off x="-1" y="-3"/>
              <a:ext cx="1508908" cy="1553612"/>
              <a:chOff x="0" y="-1"/>
              <a:chExt cx="1508907" cy="1553610"/>
            </a:xfrm>
          </p:grpSpPr>
          <p:grpSp>
            <p:nvGrpSpPr>
              <p:cNvPr id="283" name="Groupe 3"/>
              <p:cNvGrpSpPr/>
              <p:nvPr/>
            </p:nvGrpSpPr>
            <p:grpSpPr>
              <a:xfrm>
                <a:off x="0" y="484197"/>
                <a:ext cx="1508908" cy="1069413"/>
                <a:chOff x="0" y="-1"/>
                <a:chExt cx="1508907" cy="1069411"/>
              </a:xfrm>
            </p:grpSpPr>
            <p:pic>
              <p:nvPicPr>
                <p:cNvPr id="281" name="Image 4" descr="Image 4"/>
                <p:cNvPicPr>
                  <a:picLocks noChangeAspect="1"/>
                </p:cNvPicPr>
                <p:nvPr/>
              </p:nvPicPr>
              <p:blipFill>
                <a:blip r:embed="rId10">
                  <a:extLst/>
                </a:blip>
                <a:stretch>
                  <a:fillRect/>
                </a:stretch>
              </p:blipFill>
              <p:spPr>
                <a:xfrm>
                  <a:off x="0" y="-2"/>
                  <a:ext cx="1508908" cy="7620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sp>
              <p:nvSpPr>
                <p:cNvPr id="282" name="ZoneTexte 5"/>
                <p:cNvSpPr txBox="1"/>
                <p:nvPr/>
              </p:nvSpPr>
              <p:spPr>
                <a:xfrm>
                  <a:off x="345739" y="762074"/>
                  <a:ext cx="779395" cy="307337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val="1"/>
                  </a:ext>
                </a:extLst>
              </p:spPr>
              <p:txBody>
                <a:bodyPr wrap="none" lIns="45718" tIns="45718" rIns="45718" bIns="45718" numCol="1" anchor="t">
                  <a:spAutoFit/>
                </a:bodyPr>
                <a:lstStyle>
                  <a:lvl1pPr>
                    <a:defRPr>
                      <a:latin typeface="Inter"/>
                      <a:ea typeface="Inter"/>
                      <a:cs typeface="Inter"/>
                      <a:sym typeface="Inter"/>
                    </a:defRPr>
                  </a:lvl1pPr>
                </a:lstStyle>
                <a:p>
                  <a:pPr/>
                  <a:r>
                    <a:t>Tracking</a:t>
                  </a:r>
                </a:p>
              </p:txBody>
            </p:sp>
          </p:grpSp>
          <p:pic>
            <p:nvPicPr>
              <p:cNvPr id="284" name="Image 11" descr="Image 11"/>
              <p:cNvPicPr>
                <a:picLocks noChangeAspect="1"/>
              </p:cNvPicPr>
              <p:nvPr/>
            </p:nvPicPr>
            <p:blipFill>
              <a:blip r:embed="rId11">
                <a:extLst/>
              </a:blip>
              <a:stretch>
                <a:fillRect/>
              </a:stretch>
            </p:blipFill>
            <p:spPr>
              <a:xfrm>
                <a:off x="390420" y="-2"/>
                <a:ext cx="728065" cy="59904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286" name="Image 38" descr="Image 38"/>
            <p:cNvPicPr>
              <a:picLocks noChangeAspect="1"/>
            </p:cNvPicPr>
            <p:nvPr/>
          </p:nvPicPr>
          <p:blipFill>
            <a:blip r:embed="rId12">
              <a:extLst/>
            </a:blip>
            <a:stretch>
              <a:fillRect/>
            </a:stretch>
          </p:blipFill>
          <p:spPr>
            <a:xfrm>
              <a:off x="1138061" y="320058"/>
              <a:ext cx="351252" cy="21338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88" name="Image 41" descr="Image 41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3092480" y="3816081"/>
            <a:ext cx="759825" cy="41065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Fond OM" descr="Fond OM"/>
          <p:cNvPicPr>
            <a:picLocks noChangeAspect="1"/>
          </p:cNvPicPr>
          <p:nvPr/>
        </p:nvPicPr>
        <p:blipFill>
          <a:blip r:embed="rId2">
            <a:extLst/>
          </a:blip>
          <a:srcRect l="0" t="7813" r="0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Zone API-Front"/>
          <p:cNvSpPr/>
          <p:nvPr/>
        </p:nvSpPr>
        <p:spPr>
          <a:xfrm>
            <a:off x="4857472" y="1433652"/>
            <a:ext cx="3777005" cy="3123615"/>
          </a:xfrm>
          <a:prstGeom prst="roundRect">
            <a:avLst>
              <a:gd name="adj" fmla="val 5500"/>
            </a:avLst>
          </a:prstGeom>
          <a:ln w="28575" cap="rnd">
            <a:solidFill>
              <a:srgbClr val="0FB2BE"/>
            </a:solidFill>
          </a:ln>
          <a:effectLst>
            <a:outerShdw sx="100000" sy="100000" kx="0" ky="0" algn="b" rotWithShape="0" blurRad="76200" dist="20000" dir="5400000">
              <a:srgbClr val="0E3449">
                <a:alpha val="16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292" name="Google Shape;75;p16"/>
          <p:cNvSpPr txBox="1"/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Architecture - Inference</a:t>
            </a:r>
          </a:p>
        </p:txBody>
      </p:sp>
      <p:pic>
        <p:nvPicPr>
          <p:cNvPr id="293" name="Google Shape;76;p16" descr="Google Shape;76;p1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294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pic>
        <p:nvPicPr>
          <p:cNvPr id="295" name="Image 19" descr="Image 19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074482" y="1035810"/>
            <a:ext cx="1010884" cy="31906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98" name="Groupe 83"/>
          <p:cNvGrpSpPr/>
          <p:nvPr/>
        </p:nvGrpSpPr>
        <p:grpSpPr>
          <a:xfrm>
            <a:off x="372627" y="3143063"/>
            <a:ext cx="1143113" cy="1543948"/>
            <a:chOff x="-1" y="-1"/>
            <a:chExt cx="1143111" cy="1543947"/>
          </a:xfrm>
        </p:grpSpPr>
        <p:pic>
          <p:nvPicPr>
            <p:cNvPr id="296" name="Image 11" descr="Image 11"/>
            <p:cNvPicPr>
              <a:picLocks noChangeAspect="1"/>
            </p:cNvPicPr>
            <p:nvPr/>
          </p:nvPicPr>
          <p:blipFill>
            <a:blip r:embed="rId5">
              <a:extLst/>
            </a:blip>
            <a:stretch>
              <a:fillRect/>
            </a:stretch>
          </p:blipFill>
          <p:spPr>
            <a:xfrm>
              <a:off x="-2" y="324632"/>
              <a:ext cx="1143113" cy="121931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97" name="Image 23" descr="Image 23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204526" y="-2"/>
              <a:ext cx="844698" cy="53070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99" name="Fleche FastAPI vers LLM"/>
          <p:cNvSpPr/>
          <p:nvPr/>
        </p:nvSpPr>
        <p:spPr>
          <a:xfrm flipV="1">
            <a:off x="5789912" y="3528815"/>
            <a:ext cx="1337340" cy="425772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00" name="Fleche FastAPI vers App"/>
          <p:cNvSpPr/>
          <p:nvPr/>
        </p:nvSpPr>
        <p:spPr>
          <a:xfrm flipV="1">
            <a:off x="2994767" y="2074135"/>
            <a:ext cx="125592" cy="297453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01" name="Fleche FastAPI vers App"/>
          <p:cNvSpPr/>
          <p:nvPr/>
        </p:nvSpPr>
        <p:spPr>
          <a:xfrm flipV="1">
            <a:off x="4321883" y="4040701"/>
            <a:ext cx="710217" cy="62687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02" name="Fleche FastAPI vers App"/>
          <p:cNvSpPr/>
          <p:nvPr/>
        </p:nvSpPr>
        <p:spPr>
          <a:xfrm flipV="1">
            <a:off x="3104418" y="2995964"/>
            <a:ext cx="1887400" cy="58199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03" name="Fleche FastAPI vers Render"/>
          <p:cNvSpPr/>
          <p:nvPr/>
        </p:nvSpPr>
        <p:spPr>
          <a:xfrm>
            <a:off x="3935236" y="1606811"/>
            <a:ext cx="1139250" cy="201293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04" name="Fleche FastAPI vers LLM"/>
          <p:cNvSpPr/>
          <p:nvPr/>
        </p:nvSpPr>
        <p:spPr>
          <a:xfrm>
            <a:off x="5788223" y="1974294"/>
            <a:ext cx="1339028" cy="989341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05" name="Fleche FastAPI vers LLM"/>
          <p:cNvSpPr/>
          <p:nvPr/>
        </p:nvSpPr>
        <p:spPr>
          <a:xfrm>
            <a:off x="6176093" y="3086255"/>
            <a:ext cx="951157" cy="174367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06" name="Fleche FastAPI vers Render"/>
          <p:cNvSpPr/>
          <p:nvPr/>
        </p:nvSpPr>
        <p:spPr>
          <a:xfrm>
            <a:off x="1515729" y="3970582"/>
            <a:ext cx="1297267" cy="126075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309" name="Groupe 91"/>
          <p:cNvGrpSpPr/>
          <p:nvPr/>
        </p:nvGrpSpPr>
        <p:grpSpPr>
          <a:xfrm>
            <a:off x="2298216" y="2371578"/>
            <a:ext cx="806211" cy="1390023"/>
            <a:chOff x="0" y="-1"/>
            <a:chExt cx="806209" cy="1390022"/>
          </a:xfrm>
        </p:grpSpPr>
        <p:pic>
          <p:nvPicPr>
            <p:cNvPr id="307" name="Image 15" descr="Image 15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-1" y="-2"/>
              <a:ext cx="759829" cy="69837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08" name="Image 90" descr="Image 90"/>
            <p:cNvPicPr>
              <a:picLocks noChangeAspect="1"/>
            </p:cNvPicPr>
            <p:nvPr/>
          </p:nvPicPr>
          <p:blipFill>
            <a:blip r:embed="rId8">
              <a:extLst/>
            </a:blip>
            <a:stretch>
              <a:fillRect/>
            </a:stretch>
          </p:blipFill>
          <p:spPr>
            <a:xfrm>
              <a:off x="46381" y="611661"/>
              <a:ext cx="759829" cy="77836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310" name="Image 93" descr="Image 93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7307905" y="328872"/>
            <a:ext cx="707871" cy="681975"/>
          </a:xfrm>
          <a:prstGeom prst="rect">
            <a:avLst/>
          </a:prstGeom>
          <a:ln w="12700">
            <a:miter lim="400000"/>
          </a:ln>
        </p:spPr>
      </p:pic>
      <p:sp>
        <p:nvSpPr>
          <p:cNvPr id="311" name="Fleche FastAPI vers Render"/>
          <p:cNvSpPr/>
          <p:nvPr/>
        </p:nvSpPr>
        <p:spPr>
          <a:xfrm flipH="1">
            <a:off x="6015517" y="979022"/>
            <a:ext cx="1652007" cy="216319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318" name="Groupe 212"/>
          <p:cNvGrpSpPr/>
          <p:nvPr/>
        </p:nvGrpSpPr>
        <p:grpSpPr>
          <a:xfrm>
            <a:off x="2812990" y="3443890"/>
            <a:ext cx="1508909" cy="1452153"/>
            <a:chOff x="-1" y="-1"/>
            <a:chExt cx="1508908" cy="1452152"/>
          </a:xfrm>
        </p:grpSpPr>
        <p:grpSp>
          <p:nvGrpSpPr>
            <p:cNvPr id="316" name="Groupe 52"/>
            <p:cNvGrpSpPr/>
            <p:nvPr/>
          </p:nvGrpSpPr>
          <p:grpSpPr>
            <a:xfrm>
              <a:off x="-2" y="-2"/>
              <a:ext cx="1508909" cy="1452153"/>
              <a:chOff x="0" y="-1"/>
              <a:chExt cx="1508908" cy="1452152"/>
            </a:xfrm>
          </p:grpSpPr>
          <p:grpSp>
            <p:nvGrpSpPr>
              <p:cNvPr id="314" name="Groupe 7"/>
              <p:cNvGrpSpPr/>
              <p:nvPr/>
            </p:nvGrpSpPr>
            <p:grpSpPr>
              <a:xfrm>
                <a:off x="-1" y="401256"/>
                <a:ext cx="1508909" cy="1050896"/>
                <a:chOff x="0" y="-1"/>
                <a:chExt cx="1508908" cy="1050894"/>
              </a:xfrm>
            </p:grpSpPr>
            <p:pic>
              <p:nvPicPr>
                <p:cNvPr id="312" name="Image 8" descr="Image 8"/>
                <p:cNvPicPr>
                  <a:picLocks noChangeAspect="1"/>
                </p:cNvPicPr>
                <p:nvPr/>
              </p:nvPicPr>
              <p:blipFill>
                <a:blip r:embed="rId10">
                  <a:extLst/>
                </a:blip>
                <a:stretch>
                  <a:fillRect/>
                </a:stretch>
              </p:blipFill>
              <p:spPr>
                <a:xfrm>
                  <a:off x="0" y="-2"/>
                  <a:ext cx="1508909" cy="7620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sp>
              <p:nvSpPr>
                <p:cNvPr id="313" name="ZoneTexte 9"/>
                <p:cNvSpPr txBox="1"/>
                <p:nvPr/>
              </p:nvSpPr>
              <p:spPr>
                <a:xfrm>
                  <a:off x="345740" y="762074"/>
                  <a:ext cx="588399" cy="288820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val="1"/>
                  </a:ext>
                </a:extLst>
              </p:spPr>
              <p:txBody>
                <a:bodyPr wrap="none" lIns="45718" tIns="45718" rIns="45718" bIns="45718" numCol="1" anchor="t">
                  <a:spAutoFit/>
                </a:bodyPr>
                <a:lstStyle>
                  <a:lvl1pPr>
                    <a:defRPr>
                      <a:latin typeface="+mj-lt"/>
                      <a:ea typeface="+mj-ea"/>
                      <a:cs typeface="+mj-cs"/>
                      <a:sym typeface="Arial"/>
                    </a:defRPr>
                  </a:lvl1pPr>
                </a:lstStyle>
                <a:p>
                  <a:pPr/>
                  <a:r>
                    <a:t>Model</a:t>
                  </a:r>
                </a:p>
              </p:txBody>
            </p:sp>
          </p:grpSp>
          <p:pic>
            <p:nvPicPr>
              <p:cNvPr id="315" name="Image 21" descr="Image 21"/>
              <p:cNvPicPr>
                <a:picLocks noChangeAspect="1"/>
              </p:cNvPicPr>
              <p:nvPr/>
            </p:nvPicPr>
            <p:blipFill>
              <a:blip r:embed="rId11">
                <a:extLst/>
              </a:blip>
              <a:stretch>
                <a:fillRect/>
              </a:stretch>
            </p:blipFill>
            <p:spPr>
              <a:xfrm>
                <a:off x="422991" y="-2"/>
                <a:ext cx="728066" cy="59904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317" name="Image 126" descr="Image 126"/>
            <p:cNvPicPr>
              <a:picLocks noChangeAspect="1"/>
            </p:cNvPicPr>
            <p:nvPr/>
          </p:nvPicPr>
          <p:blipFill>
            <a:blip r:embed="rId12">
              <a:extLst/>
            </a:blip>
            <a:stretch>
              <a:fillRect/>
            </a:stretch>
          </p:blipFill>
          <p:spPr>
            <a:xfrm>
              <a:off x="1086755" y="271675"/>
              <a:ext cx="351252" cy="2133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23" name="Groupe 203"/>
          <p:cNvGrpSpPr/>
          <p:nvPr/>
        </p:nvGrpSpPr>
        <p:grpSpPr>
          <a:xfrm>
            <a:off x="5074475" y="1489790"/>
            <a:ext cx="1284881" cy="863624"/>
            <a:chOff x="-1" y="-1"/>
            <a:chExt cx="1284880" cy="863622"/>
          </a:xfrm>
        </p:grpSpPr>
        <p:sp>
          <p:nvSpPr>
            <p:cNvPr id="319" name="ZoneTexte 119"/>
            <p:cNvSpPr txBox="1"/>
            <p:nvPr/>
          </p:nvSpPr>
          <p:spPr>
            <a:xfrm>
              <a:off x="281172" y="556284"/>
              <a:ext cx="1003707" cy="307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defRPr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pPr/>
              <a:r>
                <a:t>/tchat</a:t>
              </a:r>
            </a:p>
          </p:txBody>
        </p:sp>
        <p:grpSp>
          <p:nvGrpSpPr>
            <p:cNvPr id="322" name="Groupe 202"/>
            <p:cNvGrpSpPr/>
            <p:nvPr/>
          </p:nvGrpSpPr>
          <p:grpSpPr>
            <a:xfrm>
              <a:off x="-2" y="-2"/>
              <a:ext cx="1134281" cy="632048"/>
              <a:chOff x="0" y="0"/>
              <a:chExt cx="1134280" cy="632047"/>
            </a:xfrm>
          </p:grpSpPr>
          <p:pic>
            <p:nvPicPr>
              <p:cNvPr id="320" name="Image 6" descr="Image 6"/>
              <p:cNvPicPr>
                <a:picLocks noChangeAspect="1"/>
              </p:cNvPicPr>
              <p:nvPr/>
            </p:nvPicPr>
            <p:blipFill>
              <a:blip r:embed="rId13">
                <a:extLst/>
              </a:blip>
              <a:stretch>
                <a:fillRect/>
              </a:stretch>
            </p:blipFill>
            <p:spPr>
              <a:xfrm>
                <a:off x="-1" y="-1"/>
                <a:ext cx="713754" cy="632048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21" name="Image 192" descr="Image 192"/>
              <p:cNvPicPr>
                <a:picLocks noChangeAspect="1"/>
              </p:cNvPicPr>
              <p:nvPr/>
            </p:nvPicPr>
            <p:blipFill>
              <a:blip r:embed="rId12">
                <a:extLst/>
              </a:blip>
              <a:stretch>
                <a:fillRect/>
              </a:stretch>
            </p:blipFill>
            <p:spPr>
              <a:xfrm>
                <a:off x="783024" y="207980"/>
                <a:ext cx="351256" cy="21338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</p:grpSp>
      <p:grpSp>
        <p:nvGrpSpPr>
          <p:cNvPr id="328" name="Groupe 211"/>
          <p:cNvGrpSpPr/>
          <p:nvPr/>
        </p:nvGrpSpPr>
        <p:grpSpPr>
          <a:xfrm>
            <a:off x="6998001" y="2855756"/>
            <a:ext cx="1327684" cy="1005711"/>
            <a:chOff x="-1" y="-2"/>
            <a:chExt cx="1327683" cy="1005709"/>
          </a:xfrm>
        </p:grpSpPr>
        <p:grpSp>
          <p:nvGrpSpPr>
            <p:cNvPr id="326" name="Groupe 122"/>
            <p:cNvGrpSpPr/>
            <p:nvPr/>
          </p:nvGrpSpPr>
          <p:grpSpPr>
            <a:xfrm>
              <a:off x="129242" y="-3"/>
              <a:ext cx="1198441" cy="1005711"/>
              <a:chOff x="-1" y="-1"/>
              <a:chExt cx="1198439" cy="1005709"/>
            </a:xfrm>
          </p:grpSpPr>
          <p:pic>
            <p:nvPicPr>
              <p:cNvPr id="324" name="Image 13" descr="Image 13"/>
              <p:cNvPicPr>
                <a:picLocks noChangeAspect="1"/>
              </p:cNvPicPr>
              <p:nvPr/>
            </p:nvPicPr>
            <p:blipFill>
              <a:blip r:embed="rId14">
                <a:extLst/>
              </a:blip>
              <a:stretch>
                <a:fillRect/>
              </a:stretch>
            </p:blipFill>
            <p:spPr>
              <a:xfrm>
                <a:off x="-2" y="-2"/>
                <a:ext cx="1198441" cy="698379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25" name="ZoneTexte 114"/>
              <p:cNvSpPr txBox="1"/>
              <p:nvPr/>
            </p:nvSpPr>
            <p:spPr>
              <a:xfrm>
                <a:off x="386154" y="698372"/>
                <a:ext cx="519120" cy="30733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pPr/>
                <a:r>
                  <a:t>Front</a:t>
                </a:r>
              </a:p>
            </p:txBody>
          </p:sp>
        </p:grpSp>
        <p:pic>
          <p:nvPicPr>
            <p:cNvPr id="327" name="Image 194" descr="Image 194"/>
            <p:cNvPicPr>
              <a:picLocks noChangeAspect="1"/>
            </p:cNvPicPr>
            <p:nvPr/>
          </p:nvPicPr>
          <p:blipFill>
            <a:blip r:embed="rId12">
              <a:extLst/>
            </a:blip>
            <a:stretch>
              <a:fillRect/>
            </a:stretch>
          </p:blipFill>
          <p:spPr>
            <a:xfrm>
              <a:off x="-2" y="455334"/>
              <a:ext cx="351254" cy="2133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33" name="Groupe 204"/>
          <p:cNvGrpSpPr/>
          <p:nvPr/>
        </p:nvGrpSpPr>
        <p:grpSpPr>
          <a:xfrm>
            <a:off x="4991808" y="2520991"/>
            <a:ext cx="1184282" cy="913432"/>
            <a:chOff x="-1" y="-1"/>
            <a:chExt cx="1184280" cy="913430"/>
          </a:xfrm>
        </p:grpSpPr>
        <p:grpSp>
          <p:nvGrpSpPr>
            <p:cNvPr id="331" name="Groupe 120"/>
            <p:cNvGrpSpPr/>
            <p:nvPr/>
          </p:nvGrpSpPr>
          <p:grpSpPr>
            <a:xfrm>
              <a:off x="-2" y="27495"/>
              <a:ext cx="1184281" cy="885935"/>
              <a:chOff x="0" y="0"/>
              <a:chExt cx="1184280" cy="885934"/>
            </a:xfrm>
          </p:grpSpPr>
          <p:pic>
            <p:nvPicPr>
              <p:cNvPr id="329" name="Image 4" descr="Image 4"/>
              <p:cNvPicPr>
                <a:picLocks noChangeAspect="1"/>
              </p:cNvPicPr>
              <p:nvPr/>
            </p:nvPicPr>
            <p:blipFill>
              <a:blip r:embed="rId13">
                <a:extLst/>
              </a:blip>
              <a:stretch>
                <a:fillRect/>
              </a:stretch>
            </p:blipFill>
            <p:spPr>
              <a:xfrm>
                <a:off x="-1" y="-1"/>
                <a:ext cx="713754" cy="63204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30" name="ZoneTexte 117"/>
              <p:cNvSpPr txBox="1"/>
              <p:nvPr/>
            </p:nvSpPr>
            <p:spPr>
              <a:xfrm>
                <a:off x="546482" y="362697"/>
                <a:ext cx="637798" cy="52323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/>
              <a:p>
                <a:pPr>
                  <a:defRPr>
                    <a:latin typeface="Inter"/>
                    <a:ea typeface="Inter"/>
                    <a:cs typeface="Inter"/>
                    <a:sym typeface="Inter"/>
                  </a:defRPr>
                </a:pPr>
                <a:r>
                  <a:t>/team</a:t>
                </a:r>
              </a:p>
              <a:p>
                <a:pPr>
                  <a:defRPr>
                    <a:latin typeface="Inter"/>
                    <a:ea typeface="Inter"/>
                    <a:cs typeface="Inter"/>
                    <a:sym typeface="Inter"/>
                  </a:defRPr>
                </a:pPr>
                <a:r>
                  <a:t>/player</a:t>
                </a:r>
              </a:p>
            </p:txBody>
          </p:sp>
        </p:grpSp>
        <p:pic>
          <p:nvPicPr>
            <p:cNvPr id="332" name="Image 196" descr="Image 196"/>
            <p:cNvPicPr>
              <a:picLocks noChangeAspect="1"/>
            </p:cNvPicPr>
            <p:nvPr/>
          </p:nvPicPr>
          <p:blipFill>
            <a:blip r:embed="rId12">
              <a:extLst/>
            </a:blip>
            <a:stretch>
              <a:fillRect/>
            </a:stretch>
          </p:blipFill>
          <p:spPr>
            <a:xfrm>
              <a:off x="642631" y="-2"/>
              <a:ext cx="351252" cy="21338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38" name="Groupe 210"/>
          <p:cNvGrpSpPr/>
          <p:nvPr/>
        </p:nvGrpSpPr>
        <p:grpSpPr>
          <a:xfrm>
            <a:off x="5032090" y="3665180"/>
            <a:ext cx="1348456" cy="632048"/>
            <a:chOff x="-1" y="0"/>
            <a:chExt cx="1348454" cy="632046"/>
          </a:xfrm>
        </p:grpSpPr>
        <p:grpSp>
          <p:nvGrpSpPr>
            <p:cNvPr id="336" name="Groupe 121"/>
            <p:cNvGrpSpPr/>
            <p:nvPr/>
          </p:nvGrpSpPr>
          <p:grpSpPr>
            <a:xfrm>
              <a:off x="-2" y="0"/>
              <a:ext cx="1348455" cy="632047"/>
              <a:chOff x="0" y="0"/>
              <a:chExt cx="1348454" cy="632046"/>
            </a:xfrm>
          </p:grpSpPr>
          <p:pic>
            <p:nvPicPr>
              <p:cNvPr id="334" name="Image 2" descr="Image 2"/>
              <p:cNvPicPr>
                <a:picLocks noChangeAspect="1"/>
              </p:cNvPicPr>
              <p:nvPr/>
            </p:nvPicPr>
            <p:blipFill>
              <a:blip r:embed="rId13">
                <a:extLst/>
              </a:blip>
              <a:stretch>
                <a:fillRect/>
              </a:stretch>
            </p:blipFill>
            <p:spPr>
              <a:xfrm>
                <a:off x="-1" y="0"/>
                <a:ext cx="713755" cy="63204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35" name="ZoneTexte 115"/>
              <p:cNvSpPr txBox="1"/>
              <p:nvPr/>
            </p:nvSpPr>
            <p:spPr>
              <a:xfrm>
                <a:off x="661258" y="289408"/>
                <a:ext cx="687196" cy="30733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/>
              <a:p>
                <a:pPr>
                  <a:defRPr>
                    <a:latin typeface="+mj-lt"/>
                    <a:ea typeface="+mj-ea"/>
                    <a:cs typeface="+mj-cs"/>
                    <a:sym typeface="Arial"/>
                  </a:defRPr>
                </a:pPr>
                <a:r>
                  <a:t>/</a:t>
                </a:r>
                <a:r>
                  <a:rPr>
                    <a:latin typeface="Inter"/>
                    <a:ea typeface="Inter"/>
                    <a:cs typeface="Inter"/>
                    <a:sym typeface="Inter"/>
                  </a:rPr>
                  <a:t>predict</a:t>
                </a:r>
              </a:p>
            </p:txBody>
          </p:sp>
        </p:grpSp>
        <p:pic>
          <p:nvPicPr>
            <p:cNvPr id="337" name="Image 198" descr="Image 198"/>
            <p:cNvPicPr>
              <a:picLocks noChangeAspect="1"/>
            </p:cNvPicPr>
            <p:nvPr/>
          </p:nvPicPr>
          <p:blipFill>
            <a:blip r:embed="rId12">
              <a:extLst/>
            </a:blip>
            <a:stretch>
              <a:fillRect/>
            </a:stretch>
          </p:blipFill>
          <p:spPr>
            <a:xfrm>
              <a:off x="618103" y="50390"/>
              <a:ext cx="351254" cy="2133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43" name="Groupe 213"/>
          <p:cNvGrpSpPr/>
          <p:nvPr/>
        </p:nvGrpSpPr>
        <p:grpSpPr>
          <a:xfrm>
            <a:off x="2785852" y="936399"/>
            <a:ext cx="1149397" cy="1137743"/>
            <a:chOff x="-1" y="-1"/>
            <a:chExt cx="1149396" cy="1137741"/>
          </a:xfrm>
        </p:grpSpPr>
        <p:grpSp>
          <p:nvGrpSpPr>
            <p:cNvPr id="341" name="Groupe 37"/>
            <p:cNvGrpSpPr/>
            <p:nvPr/>
          </p:nvGrpSpPr>
          <p:grpSpPr>
            <a:xfrm>
              <a:off x="209350" y="-2"/>
              <a:ext cx="940046" cy="1137742"/>
              <a:chOff x="0" y="0"/>
              <a:chExt cx="940044" cy="1137741"/>
            </a:xfrm>
          </p:grpSpPr>
          <p:pic>
            <p:nvPicPr>
              <p:cNvPr id="339" name="Image 27" descr="Image 27"/>
              <p:cNvPicPr>
                <a:picLocks noChangeAspect="1"/>
              </p:cNvPicPr>
              <p:nvPr/>
            </p:nvPicPr>
            <p:blipFill>
              <a:blip r:embed="rId15">
                <a:extLst/>
              </a:blip>
              <a:stretch>
                <a:fillRect/>
              </a:stretch>
            </p:blipFill>
            <p:spPr>
              <a:xfrm>
                <a:off x="152389" y="-1"/>
                <a:ext cx="571741" cy="63822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40" name="Image 17" descr="Image 17"/>
              <p:cNvPicPr>
                <a:picLocks noChangeAspect="1"/>
              </p:cNvPicPr>
              <p:nvPr/>
            </p:nvPicPr>
            <p:blipFill>
              <a:blip r:embed="rId16">
                <a:extLst/>
              </a:blip>
              <a:stretch>
                <a:fillRect/>
              </a:stretch>
            </p:blipFill>
            <p:spPr>
              <a:xfrm>
                <a:off x="0" y="555409"/>
                <a:ext cx="940045" cy="58233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342" name="Image 201" descr="Image 201"/>
            <p:cNvPicPr>
              <a:picLocks noChangeAspect="1"/>
            </p:cNvPicPr>
            <p:nvPr/>
          </p:nvPicPr>
          <p:blipFill>
            <a:blip r:embed="rId12">
              <a:extLst/>
            </a:blip>
            <a:stretch>
              <a:fillRect/>
            </a:stretch>
          </p:blipFill>
          <p:spPr>
            <a:xfrm>
              <a:off x="-2" y="419992"/>
              <a:ext cx="351254" cy="21338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Fond Manchester United" descr="Fond Manchester United"/>
          <p:cNvPicPr>
            <a:picLocks noChangeAspect="1"/>
          </p:cNvPicPr>
          <p:nvPr/>
        </p:nvPicPr>
        <p:blipFill>
          <a:blip r:embed="rId2">
            <a:extLst/>
          </a:blip>
          <a:srcRect l="0" t="7813" r="0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46" name="Google Shape;75;p16"/>
          <p:cNvSpPr txBox="1"/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Evolutions</a:t>
            </a:r>
          </a:p>
        </p:txBody>
      </p:sp>
      <p:pic>
        <p:nvPicPr>
          <p:cNvPr id="347" name="Google Shape;76;p16" descr="Google Shape;76;p1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348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349" name="ZoneTexte 2"/>
          <p:cNvSpPr txBox="1"/>
          <p:nvPr/>
        </p:nvSpPr>
        <p:spPr>
          <a:xfrm>
            <a:off x="1238384" y="1975180"/>
            <a:ext cx="7036935" cy="16357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Améliorer le LLM (prompt engineering, les pré-remplissages des formulaires sur la vue « custom team »)</a:t>
            </a:r>
          </a:p>
          <a:p>
            <a:pPr>
              <a:lnSpc>
                <a:spcPct val="120000"/>
              </a:lnSpc>
              <a:spcBef>
                <a:spcPts val="300"/>
              </a:spcBef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Amélioration du modèle : passer à une target « probabilité de gagner un match »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Recherche d’autres sources de données pour mieux jauger les joueurs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Ré-entrainement du modèle après ajout des nouveaux matchs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Fond Bayern Munich" descr="Fond Bayern Munich"/>
          <p:cNvPicPr>
            <a:picLocks noChangeAspect="1"/>
          </p:cNvPicPr>
          <p:nvPr/>
        </p:nvPicPr>
        <p:blipFill>
          <a:blip r:embed="rId2">
            <a:extLst/>
          </a:blip>
          <a:srcRect l="0" t="7813" r="0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Google Shape;75;p16"/>
          <p:cNvSpPr txBox="1"/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Conclusion</a:t>
            </a:r>
          </a:p>
        </p:txBody>
      </p:sp>
      <p:pic>
        <p:nvPicPr>
          <p:cNvPr id="353" name="Google Shape;76;p16" descr="Google Shape;76;p1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354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355" name="ZoneTexte 2"/>
          <p:cNvSpPr txBox="1"/>
          <p:nvPr/>
        </p:nvSpPr>
        <p:spPr>
          <a:xfrm>
            <a:off x="1238383" y="1937023"/>
            <a:ext cx="6974090" cy="19075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t>Besoin : assister un entraineur de foot pour former son équipe</a:t>
            </a: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t>Proposition : une application pour l’aider à choisir ses joueurs</a:t>
            </a: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</a:p>
          <a:p>
            <a:pPr>
              <a:defRPr sz="1100">
                <a:latin typeface="Inter"/>
                <a:ea typeface="Inter"/>
                <a:cs typeface="Inter"/>
                <a:sym typeface="Inter"/>
              </a:defRPr>
            </a:pP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t>Plusieurs perspectives d’évolution</a:t>
            </a: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t>Point fort du projet : ETL, EDA, comparaison modèles ML, intégration, déploiement sur Render</a:t>
            </a:r>
          </a:p>
          <a:p>
            <a:pPr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t>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DB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110;p21"/>
          <p:cNvSpPr txBox="1"/>
          <p:nvPr>
            <p:ph type="title"/>
          </p:nvPr>
        </p:nvSpPr>
        <p:spPr>
          <a:xfrm>
            <a:off x="1089725" y="1970775"/>
            <a:ext cx="6269100" cy="698405"/>
          </a:xfrm>
          <a:prstGeom prst="rect">
            <a:avLst/>
          </a:prstGeom>
        </p:spPr>
        <p:txBody>
          <a:bodyPr/>
          <a:lstStyle>
            <a:lvl1pPr defTabSz="576072">
              <a:defRPr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Any questions ?</a:t>
            </a:r>
          </a:p>
        </p:txBody>
      </p:sp>
      <p:pic>
        <p:nvPicPr>
          <p:cNvPr id="358" name="Google Shape;111;p21" descr="Google Shape;111;p2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918625" y="3006625"/>
            <a:ext cx="4599302" cy="2136876"/>
          </a:xfrm>
          <a:prstGeom prst="rect">
            <a:avLst/>
          </a:prstGeom>
          <a:ln w="12700">
            <a:miter lim="400000"/>
          </a:ln>
        </p:spPr>
      </p:pic>
      <p:pic>
        <p:nvPicPr>
          <p:cNvPr id="359" name="Google Shape;112;p21" descr="Google Shape;112;p2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232374" y="915775"/>
            <a:ext cx="797426" cy="8398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1" name="Fond logo club" descr="Fond logo club"/>
          <p:cNvPicPr>
            <a:picLocks noChangeAspect="1"/>
          </p:cNvPicPr>
          <p:nvPr/>
        </p:nvPicPr>
        <p:blipFill>
          <a:blip r:embed="rId2">
            <a:alphaModFix amt="22000"/>
            <a:extLst/>
          </a:blip>
          <a:srcRect l="0" t="21875" r="0" b="2187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62" name="Google Shape;75;p16"/>
          <p:cNvSpPr txBox="1"/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Annexes</a:t>
            </a:r>
          </a:p>
        </p:txBody>
      </p:sp>
      <p:pic>
        <p:nvPicPr>
          <p:cNvPr id="363" name="Google Shape;76;p16" descr="Google Shape;76;p1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364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sp>
        <p:nvSpPr>
          <p:cNvPr id="365" name="ZoneTexte 2"/>
          <p:cNvSpPr txBox="1"/>
          <p:nvPr/>
        </p:nvSpPr>
        <p:spPr>
          <a:xfrm>
            <a:off x="2089322" y="1450335"/>
            <a:ext cx="4484507" cy="690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spcBef>
                <a:spcPts val="500"/>
              </a:spcBef>
              <a:defRPr b="1" spc="60" sz="11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LES LIENS DU PROJET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https://football-predictor-front.onrender.com/</a:t>
            </a: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https://github.com/kinpintouche-star/football-predictor</a:t>
            </a:r>
          </a:p>
        </p:txBody>
      </p:sp>
      <p:sp>
        <p:nvSpPr>
          <p:cNvPr id="366" name="ZoneTexte 4"/>
          <p:cNvSpPr txBox="1"/>
          <p:nvPr/>
        </p:nvSpPr>
        <p:spPr>
          <a:xfrm>
            <a:off x="2089323" y="2739058"/>
            <a:ext cx="6646352" cy="9270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spcBef>
                <a:spcPts val="500"/>
              </a:spcBef>
              <a:defRPr b="1" spc="60" sz="11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LES SOURCES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https://sofifa.com/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https://github.com/dcaribou/transfermarkt-datasets</a:t>
            </a: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https://pub-e682421888d945d684bcae8890b0ec20.r2.dev/data/transfermarkt-datasets.zip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75;p16"/>
          <p:cNvSpPr txBox="1"/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pPr/>
            <a:r>
              <a:t>Architecture – templates formes</a:t>
            </a:r>
          </a:p>
        </p:txBody>
      </p:sp>
      <p:pic>
        <p:nvPicPr>
          <p:cNvPr id="369" name="Google Shape;76;p16" descr="Google Shape;76;p1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370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</a:p>
        </p:txBody>
      </p:sp>
      <p:pic>
        <p:nvPicPr>
          <p:cNvPr id="371" name="Image 2" descr="Image 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919621" y="1716950"/>
            <a:ext cx="759825" cy="69836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74" name="Groupe 35"/>
          <p:cNvGrpSpPr/>
          <p:nvPr/>
        </p:nvGrpSpPr>
        <p:grpSpPr>
          <a:xfrm>
            <a:off x="4261162" y="1653242"/>
            <a:ext cx="1508901" cy="1050889"/>
            <a:chOff x="0" y="0"/>
            <a:chExt cx="1508899" cy="1050888"/>
          </a:xfrm>
        </p:grpSpPr>
        <p:pic>
          <p:nvPicPr>
            <p:cNvPr id="372" name="Image 6" descr="Image 6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-1" y="-1"/>
              <a:ext cx="1508900" cy="76207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73" name="ZoneTexte 7"/>
            <p:cNvSpPr txBox="1"/>
            <p:nvPr/>
          </p:nvSpPr>
          <p:spPr>
            <a:xfrm>
              <a:off x="345738" y="762068"/>
              <a:ext cx="779308" cy="2888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  <a:sym typeface="Arial"/>
                </a:defRPr>
              </a:lvl1pPr>
            </a:lstStyle>
            <a:p>
              <a:pPr/>
              <a:r>
                <a:t>Tracking</a:t>
              </a:r>
            </a:p>
          </p:txBody>
        </p:sp>
      </p:grpSp>
      <p:grpSp>
        <p:nvGrpSpPr>
          <p:cNvPr id="377" name="Groupe 34"/>
          <p:cNvGrpSpPr/>
          <p:nvPr/>
        </p:nvGrpSpPr>
        <p:grpSpPr>
          <a:xfrm>
            <a:off x="5770054" y="1653242"/>
            <a:ext cx="1508901" cy="1050889"/>
            <a:chOff x="0" y="0"/>
            <a:chExt cx="1508899" cy="1050888"/>
          </a:xfrm>
        </p:grpSpPr>
        <p:pic>
          <p:nvPicPr>
            <p:cNvPr id="375" name="Image 9" descr="Image 9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-1" y="-1"/>
              <a:ext cx="1508900" cy="76207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76" name="ZoneTexte 11"/>
            <p:cNvSpPr txBox="1"/>
            <p:nvPr/>
          </p:nvSpPr>
          <p:spPr>
            <a:xfrm>
              <a:off x="345739" y="762068"/>
              <a:ext cx="588399" cy="2888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  <a:sym typeface="Arial"/>
                </a:defRPr>
              </a:lvl1pPr>
            </a:lstStyle>
            <a:p>
              <a:pPr/>
              <a:r>
                <a:t>Model</a:t>
              </a:r>
            </a:p>
          </p:txBody>
        </p:sp>
      </p:grpSp>
      <p:pic>
        <p:nvPicPr>
          <p:cNvPr id="378" name="Image 13" descr="Image 1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7318622" y="1680726"/>
            <a:ext cx="1143104" cy="1219311"/>
          </a:xfrm>
          <a:prstGeom prst="rect">
            <a:avLst/>
          </a:prstGeom>
          <a:ln w="12700">
            <a:miter lim="400000"/>
          </a:ln>
        </p:spPr>
      </p:pic>
      <p:pic>
        <p:nvPicPr>
          <p:cNvPr id="379" name="Image 19" descr="Image 19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6699570" y="2928402"/>
            <a:ext cx="1198432" cy="698369"/>
          </a:xfrm>
          <a:prstGeom prst="rect">
            <a:avLst/>
          </a:prstGeom>
          <a:ln w="12700">
            <a:miter lim="400000"/>
          </a:ln>
        </p:spPr>
      </p:pic>
      <p:pic>
        <p:nvPicPr>
          <p:cNvPr id="380" name="Image 21" descr="Image 21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782757" y="3564866"/>
            <a:ext cx="713748" cy="632040"/>
          </a:xfrm>
          <a:prstGeom prst="rect">
            <a:avLst/>
          </a:prstGeom>
          <a:ln w="12700">
            <a:miter lim="400000"/>
          </a:ln>
        </p:spPr>
      </p:pic>
      <p:pic>
        <p:nvPicPr>
          <p:cNvPr id="381" name="Image 23" descr="Image 23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3883493" y="3663755"/>
            <a:ext cx="940038" cy="582326"/>
          </a:xfrm>
          <a:prstGeom prst="rect">
            <a:avLst/>
          </a:prstGeom>
          <a:ln w="12700">
            <a:miter lim="400000"/>
          </a:ln>
        </p:spPr>
      </p:pic>
      <p:pic>
        <p:nvPicPr>
          <p:cNvPr id="382" name="Image 25" descr="Image 25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5395183" y="3812004"/>
            <a:ext cx="1010884" cy="319064"/>
          </a:xfrm>
          <a:prstGeom prst="rect">
            <a:avLst/>
          </a:prstGeom>
          <a:ln w="12700">
            <a:miter lim="400000"/>
          </a:ln>
        </p:spPr>
      </p:pic>
      <p:pic>
        <p:nvPicPr>
          <p:cNvPr id="383" name="Image 27" descr="Image 27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2724293" y="3542217"/>
            <a:ext cx="728055" cy="599037"/>
          </a:xfrm>
          <a:prstGeom prst="rect">
            <a:avLst/>
          </a:prstGeom>
          <a:ln w="12700">
            <a:miter lim="400000"/>
          </a:ln>
        </p:spPr>
      </p:pic>
      <p:pic>
        <p:nvPicPr>
          <p:cNvPr id="384" name="Image 29" descr="Image 29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6634663" y="3669243"/>
            <a:ext cx="571736" cy="638216"/>
          </a:xfrm>
          <a:prstGeom prst="rect">
            <a:avLst/>
          </a:prstGeom>
          <a:ln w="12700">
            <a:miter lim="400000"/>
          </a:ln>
        </p:spPr>
      </p:pic>
      <p:pic>
        <p:nvPicPr>
          <p:cNvPr id="385" name="Image 31" descr="Image 31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7617028" y="3666204"/>
            <a:ext cx="844696" cy="5307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86" name="Image 33" descr="Image 33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3566616" y="2831400"/>
            <a:ext cx="1196483" cy="577617"/>
          </a:xfrm>
          <a:prstGeom prst="rect">
            <a:avLst/>
          </a:prstGeom>
          <a:ln w="12700">
            <a:miter lim="400000"/>
          </a:ln>
        </p:spPr>
      </p:pic>
      <p:pic>
        <p:nvPicPr>
          <p:cNvPr id="387" name="Image 37" descr="Image 37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583047" y="2520892"/>
            <a:ext cx="699806" cy="627212"/>
          </a:xfrm>
          <a:prstGeom prst="rect">
            <a:avLst/>
          </a:prstGeom>
          <a:ln w="12700">
            <a:miter lim="400000"/>
          </a:ln>
        </p:spPr>
      </p:pic>
      <p:pic>
        <p:nvPicPr>
          <p:cNvPr id="388" name="Image 3" descr="Image 3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807362" y="3635006"/>
            <a:ext cx="759822" cy="778357"/>
          </a:xfrm>
          <a:prstGeom prst="rect">
            <a:avLst/>
          </a:prstGeom>
          <a:ln w="12700">
            <a:miter lim="400000"/>
          </a:ln>
        </p:spPr>
      </p:pic>
      <p:pic>
        <p:nvPicPr>
          <p:cNvPr id="389" name="Image 8" descr="Image 8"/>
          <p:cNvPicPr>
            <a:picLocks noChangeAspect="1"/>
          </p:cNvPicPr>
          <p:nvPr/>
        </p:nvPicPr>
        <p:blipFill>
          <a:blip r:embed="rId16">
            <a:extLst/>
          </a:blip>
          <a:stretch>
            <a:fillRect/>
          </a:stretch>
        </p:blipFill>
        <p:spPr>
          <a:xfrm>
            <a:off x="5736113" y="2855183"/>
            <a:ext cx="707871" cy="681974"/>
          </a:xfrm>
          <a:prstGeom prst="rect">
            <a:avLst/>
          </a:prstGeom>
          <a:ln w="12700">
            <a:miter lim="400000"/>
          </a:ln>
        </p:spPr>
      </p:pic>
      <p:pic>
        <p:nvPicPr>
          <p:cNvPr id="390" name="Image 12" descr="Image 12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5151661" y="2901642"/>
            <a:ext cx="301647" cy="183245"/>
          </a:xfrm>
          <a:prstGeom prst="rect">
            <a:avLst/>
          </a:prstGeom>
          <a:ln w="12700">
            <a:miter lim="400000"/>
          </a:ln>
        </p:spPr>
      </p:pic>
      <p:pic>
        <p:nvPicPr>
          <p:cNvPr id="391" name="Image 16" descr="Image 16"/>
          <p:cNvPicPr>
            <a:picLocks noChangeAspect="1"/>
          </p:cNvPicPr>
          <p:nvPr/>
        </p:nvPicPr>
        <p:blipFill>
          <a:blip r:embed="rId18">
            <a:extLst/>
          </a:blip>
          <a:stretch>
            <a:fillRect/>
          </a:stretch>
        </p:blipFill>
        <p:spPr>
          <a:xfrm>
            <a:off x="2116589" y="2709552"/>
            <a:ext cx="759825" cy="41065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