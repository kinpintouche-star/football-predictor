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71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E2CD"/>
          </a:solidFill>
        </a:fill>
      </a:tcStyle>
    </a:wholeTbl>
    <a:band2H>
      <a:tcTxStyle/>
      <a:tcStyle>
        <a:tcBdr/>
        <a:fill>
          <a:solidFill>
            <a:srgbClr val="FF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5DBDE"/>
          </a:solidFill>
        </a:fill>
      </a:tcStyle>
    </a:wholeTbl>
    <a:band2H>
      <a:tcTxStyle/>
      <a:tcStyle>
        <a:tcBdr/>
        <a:fill>
          <a:solidFill>
            <a:srgbClr val="EBEEE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FFCD"/>
          </a:solidFill>
        </a:fill>
      </a:tcStyle>
    </a:wholeTbl>
    <a:band2H>
      <a:tcTxStyle/>
      <a:tcStyle>
        <a:tcBdr/>
        <a:fill>
          <a:solidFill>
            <a:srgbClr val="FCFF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4" d="100"/>
          <a:sy n="94" d="100"/>
        </p:scale>
        <p:origin x="109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6" name="Shape 11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n-lt"/>
        <a:ea typeface="+mn-ea"/>
        <a:cs typeface="+mn-cs"/>
        <a:sym typeface="Arial"/>
      </a:defRPr>
    </a:lvl1pPr>
    <a:lvl2pPr indent="228600" latinLnBrk="0">
      <a:defRPr sz="1400">
        <a:latin typeface="+mn-lt"/>
        <a:ea typeface="+mn-ea"/>
        <a:cs typeface="+mn-cs"/>
        <a:sym typeface="Arial"/>
      </a:defRPr>
    </a:lvl2pPr>
    <a:lvl3pPr indent="457200" latinLnBrk="0">
      <a:defRPr sz="1400">
        <a:latin typeface="+mn-lt"/>
        <a:ea typeface="+mn-ea"/>
        <a:cs typeface="+mn-cs"/>
        <a:sym typeface="Arial"/>
      </a:defRPr>
    </a:lvl3pPr>
    <a:lvl4pPr indent="685800" latinLnBrk="0">
      <a:defRPr sz="1400">
        <a:latin typeface="+mn-lt"/>
        <a:ea typeface="+mn-ea"/>
        <a:cs typeface="+mn-cs"/>
        <a:sym typeface="Arial"/>
      </a:defRPr>
    </a:lvl4pPr>
    <a:lvl5pPr indent="914400" latinLnBrk="0">
      <a:defRPr sz="1400">
        <a:latin typeface="+mn-lt"/>
        <a:ea typeface="+mn-ea"/>
        <a:cs typeface="+mn-cs"/>
        <a:sym typeface="Arial"/>
      </a:defRPr>
    </a:lvl5pPr>
    <a:lvl6pPr indent="1143000" latinLnBrk="0">
      <a:defRPr sz="1400">
        <a:latin typeface="+mn-lt"/>
        <a:ea typeface="+mn-ea"/>
        <a:cs typeface="+mn-cs"/>
        <a:sym typeface="Arial"/>
      </a:defRPr>
    </a:lvl6pPr>
    <a:lvl7pPr indent="1371600" latinLnBrk="0">
      <a:defRPr sz="1400">
        <a:latin typeface="+mn-lt"/>
        <a:ea typeface="+mn-ea"/>
        <a:cs typeface="+mn-cs"/>
        <a:sym typeface="Arial"/>
      </a:defRPr>
    </a:lvl7pPr>
    <a:lvl8pPr indent="1600200" latinLnBrk="0">
      <a:defRPr sz="1400">
        <a:latin typeface="+mn-lt"/>
        <a:ea typeface="+mn-ea"/>
        <a:cs typeface="+mn-cs"/>
        <a:sym typeface="Arial"/>
      </a:defRPr>
    </a:lvl8pPr>
    <a:lvl9pPr indent="1828800" latinLnBrk="0">
      <a:defRPr sz="14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311708" y="744574"/>
            <a:ext cx="8520601" cy="2052601"/>
          </a:xfrm>
          <a:prstGeom prst="rect">
            <a:avLst/>
          </a:prstGeom>
        </p:spPr>
        <p:txBody>
          <a:bodyPr anchor="b"/>
          <a:lstStyle>
            <a:lvl1pPr algn="ctr">
              <a:defRPr sz="5200"/>
            </a:lvl1pPr>
          </a:lstStyle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11699" y="2834125"/>
            <a:ext cx="8520602" cy="792601"/>
          </a:xfrm>
          <a:prstGeom prst="rect">
            <a:avLst/>
          </a:prstGeom>
        </p:spPr>
        <p:txBody>
          <a:bodyPr/>
          <a:lstStyle>
            <a:lvl1pPr marL="342900" indent="-228600" algn="ctr">
              <a:lnSpc>
                <a:spcPct val="100000"/>
              </a:lnSpc>
              <a:buClrTx/>
              <a:buSzTx/>
              <a:buFontTx/>
              <a:buNone/>
              <a:defRPr sz="2800"/>
            </a:lvl1pPr>
            <a:lvl2pPr marL="342900" indent="254000" algn="ctr">
              <a:lnSpc>
                <a:spcPct val="100000"/>
              </a:lnSpc>
              <a:buClrTx/>
              <a:buSzTx/>
              <a:buFontTx/>
              <a:buNone/>
              <a:defRPr sz="2800"/>
            </a:lvl2pPr>
            <a:lvl3pPr marL="342900" indent="711200" algn="ctr">
              <a:lnSpc>
                <a:spcPct val="100000"/>
              </a:lnSpc>
              <a:buClrTx/>
              <a:buSzTx/>
              <a:buFontTx/>
              <a:buNone/>
              <a:defRPr sz="2800"/>
            </a:lvl3pPr>
            <a:lvl4pPr marL="342900" indent="1168400" algn="ctr">
              <a:lnSpc>
                <a:spcPct val="100000"/>
              </a:lnSpc>
              <a:buClrTx/>
              <a:buSzTx/>
              <a:buFontTx/>
              <a:buNone/>
              <a:defRPr sz="2800"/>
            </a:lvl4pPr>
            <a:lvl5pPr marL="342900" indent="1625600" algn="ctr">
              <a:lnSpc>
                <a:spcPct val="100000"/>
              </a:lnSpc>
              <a:buClrTx/>
              <a:buSzTx/>
              <a:buFontTx/>
              <a:buNone/>
              <a:defRPr sz="28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>
            <a:spLocks noGrp="1"/>
          </p:cNvSpPr>
          <p:nvPr>
            <p:ph type="title"/>
          </p:nvPr>
        </p:nvSpPr>
        <p:spPr>
          <a:xfrm>
            <a:off x="311699" y="2150849"/>
            <a:ext cx="8520602" cy="841801"/>
          </a:xfrm>
          <a:prstGeom prst="rect">
            <a:avLst/>
          </a:prstGeom>
        </p:spPr>
        <p:txBody>
          <a:bodyPr anchor="ctr"/>
          <a:lstStyle>
            <a:lvl1pPr algn="ctr">
              <a:defRPr sz="3600"/>
            </a:lvl1pPr>
          </a:lstStyle>
          <a:p>
            <a:r>
              <a:t>Title Text</a:t>
            </a:r>
          </a:p>
        </p:txBody>
      </p:sp>
      <p:sp>
        <p:nvSpPr>
          <p:cNvPr id="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9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8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11699" y="1152475"/>
            <a:ext cx="3999902" cy="3416400"/>
          </a:xfrm>
          <a:prstGeom prst="rect">
            <a:avLst/>
          </a:prstGeom>
        </p:spPr>
        <p:txBody>
          <a:bodyPr/>
          <a:lstStyle>
            <a:lvl1pPr indent="-317500">
              <a:buSzPts val="1400"/>
              <a:defRPr sz="1400"/>
            </a:lvl1pPr>
            <a:lvl2pPr marL="965200" indent="-355600">
              <a:buSzPts val="1400"/>
              <a:defRPr sz="1400"/>
            </a:lvl2pPr>
            <a:lvl3pPr marL="1422400" indent="-355600">
              <a:buSzPts val="1400"/>
              <a:defRPr sz="1400"/>
            </a:lvl3pPr>
            <a:lvl4pPr marL="1879600" indent="-355600">
              <a:buSzPts val="1400"/>
              <a:defRPr sz="1400"/>
            </a:lvl4pPr>
            <a:lvl5pPr marL="2336800" indent="-355600">
              <a:buSzPts val="1400"/>
              <a:defRPr sz="1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9" name="Google Shape;23;p5"/>
          <p:cNvSpPr txBox="1">
            <a:spLocks noGrp="1"/>
          </p:cNvSpPr>
          <p:nvPr>
            <p:ph type="body" sz="half" idx="21"/>
          </p:nvPr>
        </p:nvSpPr>
        <p:spPr>
          <a:xfrm>
            <a:off x="4832399" y="1152475"/>
            <a:ext cx="3999902" cy="3416400"/>
          </a:xfrm>
          <a:prstGeom prst="rect">
            <a:avLst/>
          </a:prstGeom>
        </p:spPr>
        <p:txBody>
          <a:bodyPr/>
          <a:lstStyle/>
          <a:p>
            <a:pPr indent="-317500">
              <a:buSzPts val="1400"/>
              <a:defRPr sz="1400"/>
            </a:pPr>
            <a:endParaRPr/>
          </a:p>
        </p:txBody>
      </p:sp>
      <p:sp>
        <p:nvSpPr>
          <p:cNvPr id="4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itle Text"/>
          <p:cNvSpPr txBox="1">
            <a:spLocks noGrp="1"/>
          </p:cNvSpPr>
          <p:nvPr>
            <p:ph type="title"/>
          </p:nvPr>
        </p:nvSpPr>
        <p:spPr>
          <a:xfrm>
            <a:off x="311699" y="555600"/>
            <a:ext cx="2808001" cy="7557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Title Text</a:t>
            </a:r>
          </a:p>
        </p:txBody>
      </p:sp>
      <p:sp>
        <p:nvSpPr>
          <p:cNvPr id="5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11699" y="1389599"/>
            <a:ext cx="2808001" cy="3179401"/>
          </a:xfrm>
          <a:prstGeom prst="rect">
            <a:avLst/>
          </a:prstGeom>
        </p:spPr>
        <p:txBody>
          <a:bodyPr/>
          <a:lstStyle>
            <a:lvl1pPr indent="-304800">
              <a:buSzPts val="1200"/>
              <a:defRPr sz="1200"/>
            </a:lvl1pPr>
            <a:lvl2pPr marL="914400" indent="-304800">
              <a:buSzPts val="1200"/>
              <a:defRPr sz="1200"/>
            </a:lvl2pPr>
            <a:lvl3pPr marL="1371600" indent="-304800">
              <a:buSzPts val="1200"/>
              <a:defRPr sz="1200"/>
            </a:lvl3pPr>
            <a:lvl4pPr marL="1828800" indent="-304800">
              <a:buSzPts val="1200"/>
              <a:defRPr sz="1200"/>
            </a:lvl4pPr>
            <a:lvl5pPr marL="2286000" indent="-304800">
              <a:buSzPts val="1200"/>
              <a:defRPr sz="1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Text"/>
          <p:cNvSpPr txBox="1">
            <a:spLocks noGrp="1"/>
          </p:cNvSpPr>
          <p:nvPr>
            <p:ph type="title"/>
          </p:nvPr>
        </p:nvSpPr>
        <p:spPr>
          <a:xfrm>
            <a:off x="490250" y="450149"/>
            <a:ext cx="6367801" cy="4090801"/>
          </a:xfrm>
          <a:prstGeom prst="rect">
            <a:avLst/>
          </a:prstGeom>
        </p:spPr>
        <p:txBody>
          <a:bodyPr anchor="ctr"/>
          <a:lstStyle>
            <a:lvl1pPr>
              <a:defRPr sz="4800"/>
            </a:lvl1pPr>
          </a:lstStyle>
          <a:p>
            <a:r>
              <a:t>Title Text</a:t>
            </a:r>
          </a:p>
        </p:txBody>
      </p:sp>
      <p:sp>
        <p:nvSpPr>
          <p:cNvPr id="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36;p9"/>
          <p:cNvSpPr/>
          <p:nvPr/>
        </p:nvSpPr>
        <p:spPr>
          <a:xfrm>
            <a:off x="4572000" y="-125"/>
            <a:ext cx="4572000" cy="5143501"/>
          </a:xfrm>
          <a:prstGeom prst="rect">
            <a:avLst/>
          </a:prstGeom>
          <a:solidFill>
            <a:srgbClr val="EEEEEE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73" name="Title Text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1"/>
          </a:xfrm>
          <a:prstGeom prst="rect">
            <a:avLst/>
          </a:prstGeom>
        </p:spPr>
        <p:txBody>
          <a:bodyPr anchor="b"/>
          <a:lstStyle>
            <a:lvl1pPr algn="ctr">
              <a:defRPr sz="4200"/>
            </a:lvl1pPr>
          </a:lstStyle>
          <a:p>
            <a:r>
              <a:t>Title Text</a:t>
            </a:r>
          </a:p>
        </p:txBody>
      </p:sp>
      <p:sp>
        <p:nvSpPr>
          <p:cNvPr id="7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265500" y="2803075"/>
            <a:ext cx="4045200" cy="1235101"/>
          </a:xfrm>
          <a:prstGeom prst="rect">
            <a:avLst/>
          </a:prstGeom>
        </p:spPr>
        <p:txBody>
          <a:bodyPr/>
          <a:lstStyle>
            <a:lvl1pPr marL="342900" indent="-228600" algn="ctr">
              <a:lnSpc>
                <a:spcPct val="100000"/>
              </a:lnSpc>
              <a:buClrTx/>
              <a:buSzTx/>
              <a:buFontTx/>
              <a:buNone/>
              <a:defRPr sz="2100"/>
            </a:lvl1pPr>
            <a:lvl2pPr marL="342900" indent="254000" algn="ctr">
              <a:lnSpc>
                <a:spcPct val="100000"/>
              </a:lnSpc>
              <a:buClrTx/>
              <a:buSzTx/>
              <a:buFontTx/>
              <a:buNone/>
              <a:defRPr sz="2100"/>
            </a:lvl2pPr>
            <a:lvl3pPr marL="342900" indent="711200" algn="ctr">
              <a:lnSpc>
                <a:spcPct val="100000"/>
              </a:lnSpc>
              <a:buClrTx/>
              <a:buSzTx/>
              <a:buFontTx/>
              <a:buNone/>
              <a:defRPr sz="2100"/>
            </a:lvl3pPr>
            <a:lvl4pPr marL="342900" indent="1168400" algn="ctr">
              <a:lnSpc>
                <a:spcPct val="100000"/>
              </a:lnSpc>
              <a:buClrTx/>
              <a:buSzTx/>
              <a:buFontTx/>
              <a:buNone/>
              <a:defRPr sz="2100"/>
            </a:lvl4pPr>
            <a:lvl5pPr marL="342900" indent="1625600" algn="ctr">
              <a:lnSpc>
                <a:spcPct val="100000"/>
              </a:lnSpc>
              <a:buClrTx/>
              <a:buSzTx/>
              <a:buFontTx/>
              <a:buNone/>
              <a:defRPr sz="21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5" name="Google Shape;39;p9"/>
          <p:cNvSpPr txBox="1">
            <a:spLocks noGrp="1"/>
          </p:cNvSpPr>
          <p:nvPr>
            <p:ph type="body" sz="half" idx="21"/>
          </p:nvPr>
        </p:nvSpPr>
        <p:spPr>
          <a:xfrm>
            <a:off x="4939500" y="724074"/>
            <a:ext cx="3837000" cy="3695102"/>
          </a:xfrm>
          <a:prstGeom prst="rect">
            <a:avLst/>
          </a:prstGeom>
        </p:spPr>
        <p:txBody>
          <a:bodyPr anchor="ctr"/>
          <a:lstStyle/>
          <a:p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11699" y="4230575"/>
            <a:ext cx="5998802" cy="605101"/>
          </a:xfrm>
          <a:prstGeom prst="rect">
            <a:avLst/>
          </a:prstGeom>
        </p:spPr>
        <p:txBody>
          <a:bodyPr anchor="ctr"/>
          <a:lstStyle>
            <a:lvl1pPr marL="228600" indent="0">
              <a:lnSpc>
                <a:spcPct val="100000"/>
              </a:lnSpc>
              <a:buClrTx/>
              <a:buSzTx/>
              <a:buFontTx/>
              <a:buNone/>
            </a:lvl1pPr>
            <a:lvl2pPr>
              <a:lnSpc>
                <a:spcPct val="100000"/>
              </a:lnSpc>
              <a:buClrTx/>
              <a:buFontTx/>
            </a:lvl2pPr>
            <a:lvl3pPr>
              <a:lnSpc>
                <a:spcPct val="100000"/>
              </a:lnSpc>
              <a:buClrTx/>
              <a:buFontTx/>
            </a:lvl3pPr>
            <a:lvl4pPr>
              <a:lnSpc>
                <a:spcPct val="100000"/>
              </a:lnSpc>
              <a:buClrTx/>
              <a:buFontTx/>
            </a:lvl4pPr>
            <a:lvl5pPr>
              <a:lnSpc>
                <a:spcPct val="100000"/>
              </a:lnSpc>
              <a:buClrTx/>
              <a:buFontTx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xx%"/>
          <p:cNvSpPr txBox="1">
            <a:spLocks noGrp="1"/>
          </p:cNvSpPr>
          <p:nvPr>
            <p:ph type="title" hasCustomPrompt="1"/>
          </p:nvPr>
        </p:nvSpPr>
        <p:spPr>
          <a:xfrm>
            <a:off x="311699" y="1106125"/>
            <a:ext cx="8520602" cy="1963500"/>
          </a:xfrm>
          <a:prstGeom prst="rect">
            <a:avLst/>
          </a:prstGeom>
        </p:spPr>
        <p:txBody>
          <a:bodyPr anchor="b"/>
          <a:lstStyle>
            <a:lvl1pPr algn="ctr">
              <a:defRPr sz="12000"/>
            </a:lvl1pPr>
          </a:lstStyle>
          <a:p>
            <a:r>
              <a:t>xx%</a:t>
            </a:r>
          </a:p>
        </p:txBody>
      </p:sp>
      <p:sp>
        <p:nvSpPr>
          <p:cNvPr id="92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11699" y="3152225"/>
            <a:ext cx="8520602" cy="130080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algn="ctr"/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itle Text"/>
          <p:cNvSpPr txBox="1">
            <a:spLocks noGrp="1"/>
          </p:cNvSpPr>
          <p:nvPr>
            <p:ph type="title"/>
          </p:nvPr>
        </p:nvSpPr>
        <p:spPr>
          <a:xfrm>
            <a:off x="311698" y="445025"/>
            <a:ext cx="8520603" cy="572702"/>
          </a:xfrm>
          <a:prstGeom prst="rect">
            <a:avLst/>
          </a:prstGeom>
        </p:spPr>
        <p:txBody>
          <a:bodyPr lIns="91423" tIns="91423" rIns="91423" bIns="91423"/>
          <a:lstStyle/>
          <a:p>
            <a:r>
              <a:t>Title Text</a:t>
            </a:r>
          </a:p>
        </p:txBody>
      </p:sp>
      <p:sp>
        <p:nvSpPr>
          <p:cNvPr id="108" name="Body Level One…"/>
          <p:cNvSpPr txBox="1">
            <a:spLocks noGrp="1"/>
          </p:cNvSpPr>
          <p:nvPr>
            <p:ph type="body" idx="1"/>
          </p:nvPr>
        </p:nvSpPr>
        <p:spPr>
          <a:xfrm>
            <a:off x="311698" y="1152475"/>
            <a:ext cx="8520603" cy="3416400"/>
          </a:xfrm>
          <a:prstGeom prst="rect">
            <a:avLst/>
          </a:prstGeom>
        </p:spPr>
        <p:txBody>
          <a:bodyPr lIns="91423" tIns="91423" rIns="91423" bIns="91423"/>
          <a:lstStyle>
            <a:lvl1pPr>
              <a:buClr>
                <a:srgbClr val="585858"/>
              </a:buClr>
              <a:defRPr>
                <a:solidFill>
                  <a:srgbClr val="585858"/>
                </a:solidFill>
              </a:defRPr>
            </a:lvl1pPr>
            <a:lvl2pPr marL="1005114" indent="-408213">
              <a:buClr>
                <a:srgbClr val="585858"/>
              </a:buClr>
              <a:defRPr>
                <a:solidFill>
                  <a:srgbClr val="585858"/>
                </a:solidFill>
              </a:defRPr>
            </a:lvl2pPr>
            <a:lvl3pPr marL="1462314" indent="-408214">
              <a:buClr>
                <a:srgbClr val="585858"/>
              </a:buClr>
              <a:defRPr>
                <a:solidFill>
                  <a:srgbClr val="585858"/>
                </a:solidFill>
              </a:defRPr>
            </a:lvl3pPr>
            <a:lvl4pPr marL="1919514" indent="-408214">
              <a:buClr>
                <a:srgbClr val="585858"/>
              </a:buClr>
              <a:defRPr>
                <a:solidFill>
                  <a:srgbClr val="585858"/>
                </a:solidFill>
              </a:defRPr>
            </a:lvl4pPr>
            <a:lvl5pPr marL="2376714" indent="-408214">
              <a:buClr>
                <a:srgbClr val="585858"/>
              </a:buClr>
              <a:defRPr>
                <a:solidFill>
                  <a:srgbClr val="58585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684348" y="4700820"/>
            <a:ext cx="336812" cy="318394"/>
          </a:xfrm>
          <a:prstGeom prst="rect">
            <a:avLst/>
          </a:prstGeom>
        </p:spPr>
        <p:txBody>
          <a:bodyPr lIns="91423" tIns="91423" rIns="91423" bIns="91423"/>
          <a:lstStyle>
            <a:lvl1pPr>
              <a:defRPr>
                <a:solidFill>
                  <a:srgbClr val="585858"/>
                </a:solidFill>
              </a:defRPr>
            </a:lvl1pPr>
          </a:lstStyle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311699" y="445025"/>
            <a:ext cx="8520602" cy="57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4" tIns="91424" rIns="91424" bIns="91424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311699" y="1152475"/>
            <a:ext cx="8520602" cy="3416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4" tIns="91424" rIns="91424" bIns="91424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684345" y="4700819"/>
            <a:ext cx="336813" cy="318396"/>
          </a:xfrm>
          <a:prstGeom prst="rect">
            <a:avLst/>
          </a:prstGeom>
          <a:ln w="12700">
            <a:miter lim="400000"/>
          </a:ln>
        </p:spPr>
        <p:txBody>
          <a:bodyPr wrap="none" lIns="91424" tIns="91424" rIns="91424" bIns="91424" anchor="ctr">
            <a:spAutoFit/>
          </a:bodyPr>
          <a:lstStyle>
            <a:lvl1pPr algn="r">
              <a:defRPr sz="1000">
                <a:solidFill>
                  <a:schemeClr val="accent2">
                    <a:lumOff val="21764"/>
                  </a:schemeClr>
                </a:solidFill>
              </a:defRPr>
            </a:lvl1pPr>
          </a:lstStyle>
          <a:p>
            <a:fld id="{86CB4B4D-7CA3-9044-876B-883B54F8677D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med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457200" marR="0" indent="-34290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●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1pPr>
      <a:lvl2pPr marL="10051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○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2pPr>
      <a:lvl3pPr marL="14623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■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3pPr>
      <a:lvl4pPr marL="19195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●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4pPr>
      <a:lvl5pPr marL="23767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○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5pPr>
      <a:lvl6pPr marL="28339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■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6pPr>
      <a:lvl7pPr marL="32911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●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7pPr>
      <a:lvl8pPr marL="37483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○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8pPr>
      <a:lvl9pPr marL="42055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■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25.png"/><Relationship Id="rId3" Type="http://schemas.openxmlformats.org/officeDocument/2006/relationships/image" Target="../media/image2.png"/><Relationship Id="rId7" Type="http://schemas.openxmlformats.org/officeDocument/2006/relationships/image" Target="../media/image21.png"/><Relationship Id="rId12" Type="http://schemas.openxmlformats.org/officeDocument/2006/relationships/image" Target="../media/image24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11" Type="http://schemas.openxmlformats.org/officeDocument/2006/relationships/image" Target="../media/image23.png"/><Relationship Id="rId5" Type="http://schemas.openxmlformats.org/officeDocument/2006/relationships/image" Target="../media/image20.png"/><Relationship Id="rId10" Type="http://schemas.openxmlformats.org/officeDocument/2006/relationships/image" Target="../media/image22.png"/><Relationship Id="rId4" Type="http://schemas.openxmlformats.org/officeDocument/2006/relationships/image" Target="../media/image19.png"/><Relationship Id="rId9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4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12" Type="http://schemas.openxmlformats.org/officeDocument/2006/relationships/image" Target="../media/image23.png"/><Relationship Id="rId17" Type="http://schemas.openxmlformats.org/officeDocument/2006/relationships/image" Target="../media/image33.png"/><Relationship Id="rId2" Type="http://schemas.openxmlformats.org/officeDocument/2006/relationships/image" Target="../media/image26.jpeg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11" Type="http://schemas.openxmlformats.org/officeDocument/2006/relationships/image" Target="../media/image22.png"/><Relationship Id="rId5" Type="http://schemas.openxmlformats.org/officeDocument/2006/relationships/image" Target="../media/image19.png"/><Relationship Id="rId15" Type="http://schemas.openxmlformats.org/officeDocument/2006/relationships/image" Target="../media/image31.png"/><Relationship Id="rId10" Type="http://schemas.openxmlformats.org/officeDocument/2006/relationships/image" Target="../media/image29.png"/><Relationship Id="rId4" Type="http://schemas.openxmlformats.org/officeDocument/2006/relationships/image" Target="../media/image27.png"/><Relationship Id="rId9" Type="http://schemas.openxmlformats.org/officeDocument/2006/relationships/image" Target="../media/image28.png"/><Relationship Id="rId1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16.png"/><Relationship Id="rId18" Type="http://schemas.openxmlformats.org/officeDocument/2006/relationships/image" Target="../media/image25.png"/><Relationship Id="rId3" Type="http://schemas.openxmlformats.org/officeDocument/2006/relationships/image" Target="../media/image14.png"/><Relationship Id="rId7" Type="http://schemas.openxmlformats.org/officeDocument/2006/relationships/image" Target="../media/image30.png"/><Relationship Id="rId12" Type="http://schemas.openxmlformats.org/officeDocument/2006/relationships/image" Target="../media/image20.png"/><Relationship Id="rId17" Type="http://schemas.openxmlformats.org/officeDocument/2006/relationships/image" Target="../media/image24.png"/><Relationship Id="rId2" Type="http://schemas.openxmlformats.org/officeDocument/2006/relationships/image" Target="../media/image2.png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11" Type="http://schemas.openxmlformats.org/officeDocument/2006/relationships/image" Target="../media/image32.png"/><Relationship Id="rId5" Type="http://schemas.openxmlformats.org/officeDocument/2006/relationships/image" Target="../media/image19.png"/><Relationship Id="rId15" Type="http://schemas.openxmlformats.org/officeDocument/2006/relationships/image" Target="../media/image15.png"/><Relationship Id="rId10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54;p13"/>
          <p:cNvSpPr txBox="1">
            <a:spLocks noGrp="1"/>
          </p:cNvSpPr>
          <p:nvPr>
            <p:ph type="ctrTitle"/>
          </p:nvPr>
        </p:nvSpPr>
        <p:spPr>
          <a:xfrm>
            <a:off x="1718099" y="866768"/>
            <a:ext cx="6478201" cy="617701"/>
          </a:xfrm>
          <a:prstGeom prst="rect">
            <a:avLst/>
          </a:prstGeom>
        </p:spPr>
        <p:txBody>
          <a:bodyPr/>
          <a:lstStyle>
            <a:lvl1pPr algn="l">
              <a:defRPr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Your Tech Bootcamp</a:t>
            </a:r>
          </a:p>
        </p:txBody>
      </p:sp>
      <p:pic>
        <p:nvPicPr>
          <p:cNvPr id="119" name="Google Shape;55;p13" descr="Google Shape;55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00" y="795925"/>
            <a:ext cx="721025" cy="759376"/>
          </a:xfrm>
          <a:prstGeom prst="rect">
            <a:avLst/>
          </a:prstGeom>
          <a:ln w="12700">
            <a:miter lim="400000"/>
          </a:ln>
        </p:spPr>
      </p:pic>
      <p:sp>
        <p:nvSpPr>
          <p:cNvPr id="120" name="Google Shape;56;p13"/>
          <p:cNvSpPr txBox="1"/>
          <p:nvPr/>
        </p:nvSpPr>
        <p:spPr>
          <a:xfrm>
            <a:off x="844499" y="2225275"/>
            <a:ext cx="7271702" cy="924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4" tIns="91424" rIns="91424" bIns="91424" anchor="b">
            <a:normAutofit/>
          </a:bodyPr>
          <a:lstStyle>
            <a:lvl1pPr>
              <a:defRPr sz="40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Group # - FootBall Predictor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61;p14"/>
          <p:cNvSpPr/>
          <p:nvPr/>
        </p:nvSpPr>
        <p:spPr>
          <a:xfrm>
            <a:off x="5500" y="-17777"/>
            <a:ext cx="3335400" cy="5161204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23" name="Google Shape;62;p14"/>
          <p:cNvSpPr txBox="1">
            <a:spLocks noGrp="1"/>
          </p:cNvSpPr>
          <p:nvPr>
            <p:ph type="title"/>
          </p:nvPr>
        </p:nvSpPr>
        <p:spPr>
          <a:xfrm>
            <a:off x="390598" y="1138673"/>
            <a:ext cx="2513105" cy="3458105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dirty="0"/>
              <a:t>Group members</a:t>
            </a:r>
          </a:p>
          <a:p>
            <a:pPr>
              <a:defRPr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dirty="0"/>
              <a:t>Fran</a:t>
            </a:r>
            <a:r>
              <a:rPr lang="fr-FR" dirty="0"/>
              <a:t>c</a:t>
            </a:r>
            <a:r>
              <a:rPr dirty="0"/>
              <a:t>k IDDA</a:t>
            </a: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dirty="0"/>
              <a:t>Hugo PIERRE</a:t>
            </a: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dirty="0" err="1"/>
              <a:t>Safidy</a:t>
            </a:r>
            <a:r>
              <a:rPr dirty="0"/>
              <a:t> RAMAHERISON</a:t>
            </a:r>
          </a:p>
        </p:txBody>
      </p:sp>
      <p:pic>
        <p:nvPicPr>
          <p:cNvPr id="124" name="Google Shape;63;p14" descr="Google Shape;63;p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07"/>
          </a:xfrm>
          <a:prstGeom prst="rect">
            <a:avLst/>
          </a:prstGeom>
          <a:ln w="12700">
            <a:miter lim="400000"/>
          </a:ln>
        </p:spPr>
      </p:pic>
      <p:pic>
        <p:nvPicPr>
          <p:cNvPr id="125" name="pasted-movie.png" descr="pasted-mov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5986" y="1081707"/>
            <a:ext cx="5018376" cy="296223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le"/>
          <p:cNvSpPr txBox="1">
            <a:spLocks noGrp="1"/>
          </p:cNvSpPr>
          <p:nvPr>
            <p:ph type="title"/>
          </p:nvPr>
        </p:nvSpPr>
        <p:spPr>
          <a:xfrm>
            <a:off x="1192663" y="403307"/>
            <a:ext cx="5315103" cy="533103"/>
          </a:xfrm>
          <a:prstGeom prst="rect">
            <a:avLst/>
          </a:prstGeom>
        </p:spPr>
        <p:txBody>
          <a:bodyPr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Pitch</a:t>
            </a:r>
          </a:p>
        </p:txBody>
      </p:sp>
      <p:pic>
        <p:nvPicPr>
          <p:cNvPr id="128" name="logo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06"/>
          </a:xfrm>
          <a:prstGeom prst="rect">
            <a:avLst/>
          </a:prstGeom>
          <a:ln w="12700">
            <a:miter lim="400000"/>
          </a:ln>
        </p:spPr>
      </p:pic>
      <p:sp>
        <p:nvSpPr>
          <p:cNvPr id="129" name="bar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130" name="motiv"/>
          <p:cNvSpPr/>
          <p:nvPr/>
        </p:nvSpPr>
        <p:spPr>
          <a:xfrm>
            <a:off x="550000" y="1149999"/>
            <a:ext cx="8044000" cy="1150001"/>
          </a:xfrm>
          <a:prstGeom prst="roundRect">
            <a:avLst>
              <a:gd name="adj" fmla="val 7000"/>
            </a:avLst>
          </a:prstGeom>
          <a:solidFill>
            <a:srgbClr val="EAF2F6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2000"/>
              </a:srgbClr>
            </a:outerShdw>
          </a:effectLst>
        </p:spPr>
        <p:txBody>
          <a:bodyPr lIns="0" tIns="0" rIns="0" bIns="0"/>
          <a:lstStyle/>
          <a:p>
            <a:endParaRPr/>
          </a:p>
        </p:txBody>
      </p:sp>
      <p:sp>
        <p:nvSpPr>
          <p:cNvPr id="131" name="mcirc"/>
          <p:cNvSpPr/>
          <p:nvPr/>
        </p:nvSpPr>
        <p:spPr>
          <a:xfrm>
            <a:off x="849999" y="1384999"/>
            <a:ext cx="680001" cy="68000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0" tIns="0" rIns="0" bIns="0"/>
          <a:lstStyle/>
          <a:p>
            <a:endParaRPr/>
          </a:p>
        </p:txBody>
      </p:sp>
      <p:pic>
        <p:nvPicPr>
          <p:cNvPr id="132" name="micon" descr="m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000" y="1525000"/>
            <a:ext cx="400001" cy="400001"/>
          </a:xfrm>
          <a:prstGeom prst="rect">
            <a:avLst/>
          </a:prstGeom>
          <a:ln w="12700">
            <a:miter lim="400000"/>
          </a:ln>
        </p:spPr>
      </p:pic>
      <p:sp>
        <p:nvSpPr>
          <p:cNvPr id="133" name="mtext"/>
          <p:cNvSpPr txBox="1"/>
          <p:nvPr/>
        </p:nvSpPr>
        <p:spPr>
          <a:xfrm>
            <a:off x="1828000" y="1309999"/>
            <a:ext cx="6448000" cy="83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/>
          <a:p>
            <a:pPr>
              <a:spcBef>
                <a:spcPts val="300"/>
              </a:spcBef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Notre objectif</a:t>
            </a:r>
          </a:p>
          <a:p>
            <a:pPr>
              <a:spcBef>
                <a:spcPts val="300"/>
              </a:spcBef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endParaRPr/>
          </a:p>
          <a:p>
            <a:pPr>
              <a:spcBef>
                <a:spcPts val="300"/>
              </a:spcBef>
              <a:defRPr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Aider les entraîneurs à prendre les meilleures décisions grâce à la data</a:t>
            </a:r>
          </a:p>
        </p:txBody>
      </p:sp>
      <p:sp>
        <p:nvSpPr>
          <p:cNvPr id="134" name="card"/>
          <p:cNvSpPr/>
          <p:nvPr/>
        </p:nvSpPr>
        <p:spPr>
          <a:xfrm>
            <a:off x="550000" y="2470000"/>
            <a:ext cx="3872001" cy="2130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2000"/>
              </a:srgbClr>
            </a:outerShdw>
          </a:effectLst>
        </p:spPr>
        <p:txBody>
          <a:bodyPr lIns="0" tIns="0" rIns="0" bIns="0"/>
          <a:lstStyle/>
          <a:p>
            <a:endParaRPr/>
          </a:p>
        </p:txBody>
      </p:sp>
      <p:sp>
        <p:nvSpPr>
          <p:cNvPr id="135" name="card"/>
          <p:cNvSpPr/>
          <p:nvPr/>
        </p:nvSpPr>
        <p:spPr>
          <a:xfrm>
            <a:off x="4722000" y="2470000"/>
            <a:ext cx="3872001" cy="2130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2000"/>
              </a:srgbClr>
            </a:outerShdw>
          </a:effectLst>
        </p:spPr>
        <p:txBody>
          <a:bodyPr lIns="0" tIns="0" rIns="0" bIns="0"/>
          <a:lstStyle/>
          <a:p>
            <a:endParaRPr/>
          </a:p>
        </p:txBody>
      </p:sp>
      <p:sp>
        <p:nvSpPr>
          <p:cNvPr id="136" name="ccirc"/>
          <p:cNvSpPr/>
          <p:nvPr/>
        </p:nvSpPr>
        <p:spPr>
          <a:xfrm>
            <a:off x="849999" y="2769999"/>
            <a:ext cx="640001" cy="64000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0" tIns="0" rIns="0" bIns="0"/>
          <a:lstStyle/>
          <a:p>
            <a:endParaRPr/>
          </a:p>
        </p:txBody>
      </p:sp>
      <p:sp>
        <p:nvSpPr>
          <p:cNvPr id="137" name="ccirc"/>
          <p:cNvSpPr/>
          <p:nvPr/>
        </p:nvSpPr>
        <p:spPr>
          <a:xfrm>
            <a:off x="5022000" y="2769999"/>
            <a:ext cx="640001" cy="64000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0" tIns="0" rIns="0" bIns="0"/>
          <a:lstStyle/>
          <a:p>
            <a:endParaRPr/>
          </a:p>
        </p:txBody>
      </p:sp>
      <p:pic>
        <p:nvPicPr>
          <p:cNvPr id="138" name="cicon" descr="c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999" y="2899999"/>
            <a:ext cx="380001" cy="38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39" name="cicon" descr="c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1999" y="2899999"/>
            <a:ext cx="380001" cy="380001"/>
          </a:xfrm>
          <a:prstGeom prst="rect">
            <a:avLst/>
          </a:prstGeom>
          <a:ln w="12700">
            <a:miter lim="400000"/>
          </a:ln>
        </p:spPr>
      </p:pic>
      <p:sp>
        <p:nvSpPr>
          <p:cNvPr id="140" name="ctitle"/>
          <p:cNvSpPr txBox="1"/>
          <p:nvPr/>
        </p:nvSpPr>
        <p:spPr>
          <a:xfrm>
            <a:off x="1728000" y="2769999"/>
            <a:ext cx="2376001" cy="64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Notre solution</a:t>
            </a:r>
          </a:p>
        </p:txBody>
      </p:sp>
      <p:sp>
        <p:nvSpPr>
          <p:cNvPr id="141" name="cdesc"/>
          <p:cNvSpPr txBox="1"/>
          <p:nvPr/>
        </p:nvSpPr>
        <p:spPr>
          <a:xfrm>
            <a:off x="868000" y="3549999"/>
            <a:ext cx="3236000" cy="75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Une appli qui exploite les données du foot moderne pour prédire l’issue d’un match, à partir des infos équipes, joueurs et résultats des championnats européens.</a:t>
            </a:r>
          </a:p>
        </p:txBody>
      </p:sp>
      <p:sp>
        <p:nvSpPr>
          <p:cNvPr id="142" name="ctitle"/>
          <p:cNvSpPr txBox="1"/>
          <p:nvPr/>
        </p:nvSpPr>
        <p:spPr>
          <a:xfrm>
            <a:off x="5899999" y="2769999"/>
            <a:ext cx="2376002" cy="64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Pour qui ?</a:t>
            </a:r>
          </a:p>
        </p:txBody>
      </p:sp>
      <p:sp>
        <p:nvSpPr>
          <p:cNvPr id="143" name="cdesc"/>
          <p:cNvSpPr txBox="1"/>
          <p:nvPr/>
        </p:nvSpPr>
        <p:spPr>
          <a:xfrm>
            <a:off x="5040000" y="3549999"/>
            <a:ext cx="3236001" cy="75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/>
          <a:p>
            <a:pPr marL="110289" indent="-110289">
              <a:buSzPct val="100000"/>
              <a:buChar char="•"/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Les entraîneurs, pour optimiser leur composition et leur stratégie de recrutement.</a:t>
            </a:r>
          </a:p>
          <a:p>
            <a:pPr marL="110289" indent="-110289">
              <a:buSzPct val="100000"/>
              <a:buChar char="•"/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Les détecteurs et chasseurs de tête, pour repérer les joueurs à fort potentiel.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68;p15"/>
          <p:cNvSpPr txBox="1">
            <a:spLocks noGrp="1"/>
          </p:cNvSpPr>
          <p:nvPr>
            <p:ph type="title"/>
          </p:nvPr>
        </p:nvSpPr>
        <p:spPr>
          <a:xfrm>
            <a:off x="1192663" y="403307"/>
            <a:ext cx="5315103" cy="533103"/>
          </a:xfrm>
          <a:prstGeom prst="rect">
            <a:avLst/>
          </a:prstGeom>
        </p:spPr>
        <p:txBody>
          <a:bodyPr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Description du modèle</a:t>
            </a:r>
          </a:p>
        </p:txBody>
      </p:sp>
      <p:sp>
        <p:nvSpPr>
          <p:cNvPr id="146" name="Google Shape;69;p15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0" tIns="0" rIns="0" bIns="0" anchor="ctr"/>
          <a:lstStyle/>
          <a:p>
            <a:endParaRPr/>
          </a:p>
        </p:txBody>
      </p:sp>
      <p:pic>
        <p:nvPicPr>
          <p:cNvPr id="147" name="Google Shape;70;p15" descr="Google Shape;70;p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06"/>
          </a:xfrm>
          <a:prstGeom prst="rect">
            <a:avLst/>
          </a:prstGeom>
          <a:ln w="12700">
            <a:miter lim="400000"/>
          </a:ln>
        </p:spPr>
      </p:pic>
      <p:sp>
        <p:nvSpPr>
          <p:cNvPr id="148" name="fcard"/>
          <p:cNvSpPr/>
          <p:nvPr/>
        </p:nvSpPr>
        <p:spPr>
          <a:xfrm>
            <a:off x="550000" y="1646749"/>
            <a:ext cx="2441334" cy="1850002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0" tIns="0" rIns="0" bIns="0"/>
          <a:lstStyle/>
          <a:p>
            <a:endParaRPr/>
          </a:p>
        </p:txBody>
      </p:sp>
      <p:sp>
        <p:nvSpPr>
          <p:cNvPr id="149" name="fcard"/>
          <p:cNvSpPr/>
          <p:nvPr/>
        </p:nvSpPr>
        <p:spPr>
          <a:xfrm>
            <a:off x="3351333" y="1646749"/>
            <a:ext cx="2441334" cy="1850002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0" tIns="0" rIns="0" bIns="0"/>
          <a:lstStyle/>
          <a:p>
            <a:endParaRPr/>
          </a:p>
        </p:txBody>
      </p:sp>
      <p:sp>
        <p:nvSpPr>
          <p:cNvPr id="150" name="fcard"/>
          <p:cNvSpPr/>
          <p:nvPr/>
        </p:nvSpPr>
        <p:spPr>
          <a:xfrm>
            <a:off x="6152666" y="1646749"/>
            <a:ext cx="2441334" cy="1850002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0" tIns="0" rIns="0" bIns="0"/>
          <a:lstStyle/>
          <a:p>
            <a:endParaRPr/>
          </a:p>
        </p:txBody>
      </p:sp>
      <p:sp>
        <p:nvSpPr>
          <p:cNvPr id="151" name="arrow304"/>
          <p:cNvSpPr/>
          <p:nvPr/>
        </p:nvSpPr>
        <p:spPr>
          <a:xfrm>
            <a:off x="3041333" y="2066749"/>
            <a:ext cx="260001" cy="120001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BB4C2"/>
          </a:solidFill>
          <a:ln w="12700">
            <a:miter lim="400000"/>
          </a:ln>
        </p:spPr>
        <p:txBody>
          <a:bodyPr lIns="0" tIns="0" rIns="0" bIns="0"/>
          <a:lstStyle/>
          <a:p>
            <a:endParaRPr/>
          </a:p>
        </p:txBody>
      </p:sp>
      <p:sp>
        <p:nvSpPr>
          <p:cNvPr id="152" name="arrow305"/>
          <p:cNvSpPr/>
          <p:nvPr/>
        </p:nvSpPr>
        <p:spPr>
          <a:xfrm>
            <a:off x="5842666" y="2066749"/>
            <a:ext cx="260001" cy="120001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BB4C2"/>
          </a:solidFill>
          <a:ln w="12700">
            <a:miter lim="400000"/>
          </a:ln>
        </p:spPr>
        <p:txBody>
          <a:bodyPr lIns="0" tIns="0" rIns="0" bIns="0"/>
          <a:lstStyle/>
          <a:p>
            <a:endParaRPr/>
          </a:p>
        </p:txBody>
      </p:sp>
      <p:sp>
        <p:nvSpPr>
          <p:cNvPr id="153" name="fcirc"/>
          <p:cNvSpPr/>
          <p:nvPr/>
        </p:nvSpPr>
        <p:spPr>
          <a:xfrm>
            <a:off x="1460666" y="1816750"/>
            <a:ext cx="620001" cy="62000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0" tIns="0" rIns="0" bIns="0"/>
          <a:lstStyle/>
          <a:p>
            <a:endParaRPr/>
          </a:p>
        </p:txBody>
      </p:sp>
      <p:sp>
        <p:nvSpPr>
          <p:cNvPr id="154" name="fcirc"/>
          <p:cNvSpPr/>
          <p:nvPr/>
        </p:nvSpPr>
        <p:spPr>
          <a:xfrm>
            <a:off x="4261999" y="1816750"/>
            <a:ext cx="620001" cy="62000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0" tIns="0" rIns="0" bIns="0"/>
          <a:lstStyle/>
          <a:p>
            <a:endParaRPr/>
          </a:p>
        </p:txBody>
      </p:sp>
      <p:sp>
        <p:nvSpPr>
          <p:cNvPr id="155" name="fcirc"/>
          <p:cNvSpPr/>
          <p:nvPr/>
        </p:nvSpPr>
        <p:spPr>
          <a:xfrm>
            <a:off x="7063332" y="1816750"/>
            <a:ext cx="620001" cy="62000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0" tIns="0" rIns="0" bIns="0"/>
          <a:lstStyle/>
          <a:p>
            <a:endParaRPr/>
          </a:p>
        </p:txBody>
      </p:sp>
      <p:pic>
        <p:nvPicPr>
          <p:cNvPr id="156" name="ficon" descr="f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0666" y="1936749"/>
            <a:ext cx="380001" cy="38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ficon" descr="f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999" y="1936749"/>
            <a:ext cx="380001" cy="38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ficon" descr="f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3332" y="1936749"/>
            <a:ext cx="380001" cy="380001"/>
          </a:xfrm>
          <a:prstGeom prst="rect">
            <a:avLst/>
          </a:prstGeom>
          <a:ln w="12700">
            <a:miter lim="400000"/>
          </a:ln>
        </p:spPr>
      </p:pic>
      <p:sp>
        <p:nvSpPr>
          <p:cNvPr id="159" name="flab"/>
          <p:cNvSpPr txBox="1"/>
          <p:nvPr/>
        </p:nvSpPr>
        <p:spPr>
          <a:xfrm>
            <a:off x="638000" y="2546750"/>
            <a:ext cx="2265334" cy="3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 algn="ctr"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Les données</a:t>
            </a:r>
          </a:p>
        </p:txBody>
      </p:sp>
      <p:sp>
        <p:nvSpPr>
          <p:cNvPr id="160" name="fsub"/>
          <p:cNvSpPr txBox="1"/>
          <p:nvPr/>
        </p:nvSpPr>
        <p:spPr>
          <a:xfrm>
            <a:off x="658000" y="2886749"/>
            <a:ext cx="2225334" cy="54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matchs, équipes et joueurs des championnats européens</a:t>
            </a:r>
          </a:p>
        </p:txBody>
      </p:sp>
      <p:sp>
        <p:nvSpPr>
          <p:cNvPr id="161" name="flab"/>
          <p:cNvSpPr txBox="1"/>
          <p:nvPr/>
        </p:nvSpPr>
        <p:spPr>
          <a:xfrm>
            <a:off x="3439333" y="2546750"/>
            <a:ext cx="2265334" cy="3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 algn="ctr"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Le modèle</a:t>
            </a:r>
          </a:p>
        </p:txBody>
      </p:sp>
      <p:sp>
        <p:nvSpPr>
          <p:cNvPr id="162" name="fsub"/>
          <p:cNvSpPr txBox="1"/>
          <p:nvPr/>
        </p:nvSpPr>
        <p:spPr>
          <a:xfrm>
            <a:off x="3459333" y="2886749"/>
            <a:ext cx="2225334" cy="54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à partir des notes FIFA 26 des joueurs</a:t>
            </a:r>
          </a:p>
        </p:txBody>
      </p:sp>
      <p:sp>
        <p:nvSpPr>
          <p:cNvPr id="163" name="flab"/>
          <p:cNvSpPr txBox="1"/>
          <p:nvPr/>
        </p:nvSpPr>
        <p:spPr>
          <a:xfrm>
            <a:off x="6240666" y="2546750"/>
            <a:ext cx="2265334" cy="3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 algn="ctr"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La prédiction</a:t>
            </a:r>
          </a:p>
        </p:txBody>
      </p:sp>
      <p:sp>
        <p:nvSpPr>
          <p:cNvPr id="164" name="fsub"/>
          <p:cNvSpPr txBox="1"/>
          <p:nvPr/>
        </p:nvSpPr>
        <p:spPr>
          <a:xfrm>
            <a:off x="6260666" y="2886749"/>
            <a:ext cx="2225334" cy="54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le résultat d’un match entre deux équipes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Fond Sporting Portugal" descr="Fond Sporting Portugal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-1"/>
            <a:ext cx="9144000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167" name="Google Shape;89;p18"/>
          <p:cNvSpPr txBox="1">
            <a:spLocks noGrp="1"/>
          </p:cNvSpPr>
          <p:nvPr>
            <p:ph type="title"/>
          </p:nvPr>
        </p:nvSpPr>
        <p:spPr>
          <a:xfrm>
            <a:off x="1192662" y="403306"/>
            <a:ext cx="5315105" cy="533105"/>
          </a:xfrm>
          <a:prstGeom prst="rect">
            <a:avLst/>
          </a:prstGeom>
        </p:spPr>
        <p:txBody>
          <a:bodyPr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Football predictor application</a:t>
            </a:r>
          </a:p>
        </p:txBody>
      </p:sp>
      <p:pic>
        <p:nvPicPr>
          <p:cNvPr id="168" name="Google Shape;90;p18" descr="Google Shape;90;p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7"/>
          </a:xfrm>
          <a:prstGeom prst="rect">
            <a:avLst/>
          </a:prstGeom>
          <a:ln w="12700">
            <a:miter lim="400000"/>
          </a:ln>
        </p:spPr>
      </p:pic>
      <p:sp>
        <p:nvSpPr>
          <p:cNvPr id="169" name="Google Shape;91;p18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70" name="card"/>
          <p:cNvSpPr/>
          <p:nvPr/>
        </p:nvSpPr>
        <p:spPr>
          <a:xfrm>
            <a:off x="550000" y="1200000"/>
            <a:ext cx="3872001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71" name="card"/>
          <p:cNvSpPr/>
          <p:nvPr/>
        </p:nvSpPr>
        <p:spPr>
          <a:xfrm>
            <a:off x="4722000" y="1200000"/>
            <a:ext cx="3872002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72" name="card"/>
          <p:cNvSpPr/>
          <p:nvPr/>
        </p:nvSpPr>
        <p:spPr>
          <a:xfrm>
            <a:off x="550000" y="3114999"/>
            <a:ext cx="3872001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73" name="card"/>
          <p:cNvSpPr/>
          <p:nvPr/>
        </p:nvSpPr>
        <p:spPr>
          <a:xfrm>
            <a:off x="4722000" y="3114999"/>
            <a:ext cx="3872002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74" name="circ"/>
          <p:cNvSpPr/>
          <p:nvPr/>
        </p:nvSpPr>
        <p:spPr>
          <a:xfrm>
            <a:off x="789999" y="1439999"/>
            <a:ext cx="620003" cy="620003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75" name="circ"/>
          <p:cNvSpPr/>
          <p:nvPr/>
        </p:nvSpPr>
        <p:spPr>
          <a:xfrm>
            <a:off x="4961999" y="1439999"/>
            <a:ext cx="620003" cy="620003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76" name="circ"/>
          <p:cNvSpPr/>
          <p:nvPr/>
        </p:nvSpPr>
        <p:spPr>
          <a:xfrm>
            <a:off x="789999" y="3354999"/>
            <a:ext cx="620003" cy="620003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77" name="circ"/>
          <p:cNvSpPr/>
          <p:nvPr/>
        </p:nvSpPr>
        <p:spPr>
          <a:xfrm>
            <a:off x="4961999" y="3354999"/>
            <a:ext cx="620003" cy="620003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178" name="icon" descr="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000" y="1570000"/>
            <a:ext cx="360002" cy="36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79" name="icon" descr="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2000" y="1570000"/>
            <a:ext cx="360002" cy="36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80" name="icon" descr="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0000" y="3485000"/>
            <a:ext cx="360002" cy="3600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1" name="icon" descr="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92000" y="3485000"/>
            <a:ext cx="360002" cy="360002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title"/>
          <p:cNvSpPr txBox="1"/>
          <p:nvPr/>
        </p:nvSpPr>
        <p:spPr>
          <a:xfrm>
            <a:off x="1607998" y="1439999"/>
            <a:ext cx="2556004" cy="62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Équipes &amp; effectifs</a:t>
            </a:r>
          </a:p>
        </p:txBody>
      </p:sp>
      <p:sp>
        <p:nvSpPr>
          <p:cNvPr id="183" name="desc"/>
          <p:cNvSpPr txBox="1"/>
          <p:nvPr/>
        </p:nvSpPr>
        <p:spPr>
          <a:xfrm>
            <a:off x="807999" y="2130000"/>
            <a:ext cx="3356002" cy="54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effectif de la saison, notes &amp; valeur marchande, dernière composition officielle</a:t>
            </a:r>
          </a:p>
        </p:txBody>
      </p:sp>
      <p:sp>
        <p:nvSpPr>
          <p:cNvPr id="184" name="title"/>
          <p:cNvSpPr txBox="1"/>
          <p:nvPr/>
        </p:nvSpPr>
        <p:spPr>
          <a:xfrm>
            <a:off x="5779999" y="1439999"/>
            <a:ext cx="2556002" cy="62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Prédiction de match</a:t>
            </a:r>
          </a:p>
        </p:txBody>
      </p:sp>
      <p:sp>
        <p:nvSpPr>
          <p:cNvPr id="185" name="desc"/>
          <p:cNvSpPr txBox="1"/>
          <p:nvPr/>
        </p:nvSpPr>
        <p:spPr>
          <a:xfrm>
            <a:off x="4979999" y="2130000"/>
            <a:ext cx="3356002" cy="54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résultat prédit entre deux équipes données</a:t>
            </a:r>
          </a:p>
        </p:txBody>
      </p:sp>
      <p:sp>
        <p:nvSpPr>
          <p:cNvPr id="186" name="title"/>
          <p:cNvSpPr txBox="1"/>
          <p:nvPr/>
        </p:nvSpPr>
        <p:spPr>
          <a:xfrm>
            <a:off x="1607998" y="3354999"/>
            <a:ext cx="2556004" cy="62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Mode Fantasy</a:t>
            </a:r>
          </a:p>
        </p:txBody>
      </p:sp>
      <p:sp>
        <p:nvSpPr>
          <p:cNvPr id="187" name="desc"/>
          <p:cNvSpPr txBox="1"/>
          <p:nvPr/>
        </p:nvSpPr>
        <p:spPr>
          <a:xfrm>
            <a:off x="807999" y="4044998"/>
            <a:ext cx="3356002" cy="545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créer sa dream team et lancer un tournoi (équipes fictives ou réelles)</a:t>
            </a:r>
          </a:p>
        </p:txBody>
      </p:sp>
      <p:sp>
        <p:nvSpPr>
          <p:cNvPr id="188" name="title"/>
          <p:cNvSpPr txBox="1"/>
          <p:nvPr/>
        </p:nvSpPr>
        <p:spPr>
          <a:xfrm>
            <a:off x="5779999" y="3354999"/>
            <a:ext cx="2556002" cy="62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Chatbot IA</a:t>
            </a:r>
          </a:p>
        </p:txBody>
      </p:sp>
      <p:sp>
        <p:nvSpPr>
          <p:cNvPr id="189" name="desc"/>
          <p:cNvSpPr txBox="1"/>
          <p:nvPr/>
        </p:nvSpPr>
        <p:spPr>
          <a:xfrm>
            <a:off x="4979999" y="4044998"/>
            <a:ext cx="3356002" cy="545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réponses générées depuis les bases neondb &amp; Transfermarkt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39AC5-8BE7-B9AA-7BBC-512B4E683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68;p15">
            <a:extLst>
              <a:ext uri="{FF2B5EF4-FFF2-40B4-BE49-F238E27FC236}">
                <a16:creationId xmlns:a16="http://schemas.microsoft.com/office/drawing/2014/main" id="{2B5F8F97-9B12-1B98-6E8E-BD92FCE00B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2663" y="403307"/>
            <a:ext cx="5315103" cy="533103"/>
          </a:xfrm>
          <a:prstGeom prst="rect">
            <a:avLst/>
          </a:prstGeom>
        </p:spPr>
        <p:txBody>
          <a:bodyPr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rPr lang="fr-FR" dirty="0"/>
              <a:t>Démonstration de l’application</a:t>
            </a:r>
            <a:endParaRPr dirty="0"/>
          </a:p>
        </p:txBody>
      </p:sp>
      <p:sp>
        <p:nvSpPr>
          <p:cNvPr id="146" name="Google Shape;69;p15">
            <a:extLst>
              <a:ext uri="{FF2B5EF4-FFF2-40B4-BE49-F238E27FC236}">
                <a16:creationId xmlns:a16="http://schemas.microsoft.com/office/drawing/2014/main" id="{C10E6EDA-84D2-625F-B159-CB5967207CE7}"/>
              </a:ext>
            </a:extLst>
          </p:cNvPr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0" tIns="0" rIns="0" bIns="0" anchor="ctr"/>
          <a:lstStyle/>
          <a:p>
            <a:endParaRPr/>
          </a:p>
        </p:txBody>
      </p:sp>
      <p:pic>
        <p:nvPicPr>
          <p:cNvPr id="147" name="Google Shape;70;p15" descr="Google Shape;70;p15">
            <a:extLst>
              <a:ext uri="{FF2B5EF4-FFF2-40B4-BE49-F238E27FC236}">
                <a16:creationId xmlns:a16="http://schemas.microsoft.com/office/drawing/2014/main" id="{79120C56-AD4F-0425-A531-8C5BC25CF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06"/>
          </a:xfrm>
          <a:prstGeom prst="rect">
            <a:avLst/>
          </a:prstGeom>
          <a:ln w="12700">
            <a:miter lim="400000"/>
          </a:ln>
        </p:spPr>
      </p:pic>
      <p:sp>
        <p:nvSpPr>
          <p:cNvPr id="161" name="flab">
            <a:extLst>
              <a:ext uri="{FF2B5EF4-FFF2-40B4-BE49-F238E27FC236}">
                <a16:creationId xmlns:a16="http://schemas.microsoft.com/office/drawing/2014/main" id="{3F25130B-BAE3-3E9B-B2DB-36CA32F61DC0}"/>
              </a:ext>
            </a:extLst>
          </p:cNvPr>
          <p:cNvSpPr txBox="1"/>
          <p:nvPr/>
        </p:nvSpPr>
        <p:spPr>
          <a:xfrm>
            <a:off x="3439333" y="2546750"/>
            <a:ext cx="2265334" cy="3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Autofit/>
          </a:bodyPr>
          <a:lstStyle>
            <a:lvl1pPr algn="ctr"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rPr lang="fr-FR" sz="2400" dirty="0"/>
              <a:t>Vidéo</a:t>
            </a: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3835693099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Fond Paris Saint-Germain" descr="Fond Paris Saint-Germain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-1"/>
            <a:ext cx="9144000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192" name="Google Shape;75;p16"/>
          <p:cNvSpPr txBox="1">
            <a:spLocks noGrp="1"/>
          </p:cNvSpPr>
          <p:nvPr>
            <p:ph type="title"/>
          </p:nvPr>
        </p:nvSpPr>
        <p:spPr>
          <a:xfrm>
            <a:off x="1192663" y="403309"/>
            <a:ext cx="6786772" cy="533101"/>
          </a:xfrm>
          <a:prstGeom prst="rect">
            <a:avLst/>
          </a:prstGeom>
        </p:spPr>
        <p:txBody>
          <a:bodyPr/>
          <a:lstStyle>
            <a:lvl1pPr defTabSz="859536">
              <a:defRPr sz="2256"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ETL, EDA et choix de données modèle</a:t>
            </a:r>
          </a:p>
        </p:txBody>
      </p:sp>
      <p:pic>
        <p:nvPicPr>
          <p:cNvPr id="193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5"/>
          </a:xfrm>
          <a:prstGeom prst="rect">
            <a:avLst/>
          </a:prstGeom>
          <a:ln w="12700">
            <a:miter lim="400000"/>
          </a:ln>
        </p:spPr>
      </p:pic>
      <p:sp>
        <p:nvSpPr>
          <p:cNvPr id="194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grpSp>
        <p:nvGrpSpPr>
          <p:cNvPr id="199" name="Groupe 13"/>
          <p:cNvGrpSpPr/>
          <p:nvPr/>
        </p:nvGrpSpPr>
        <p:grpSpPr>
          <a:xfrm>
            <a:off x="817152" y="2657189"/>
            <a:ext cx="5680323" cy="1343027"/>
            <a:chOff x="0" y="0"/>
            <a:chExt cx="5680321" cy="1343025"/>
          </a:xfrm>
        </p:grpSpPr>
        <p:grpSp>
          <p:nvGrpSpPr>
            <p:cNvPr id="197" name="Groupe 12"/>
            <p:cNvGrpSpPr/>
            <p:nvPr/>
          </p:nvGrpSpPr>
          <p:grpSpPr>
            <a:xfrm>
              <a:off x="-1" y="0"/>
              <a:ext cx="5680323" cy="1343026"/>
              <a:chOff x="0" y="0"/>
              <a:chExt cx="5680321" cy="1343025"/>
            </a:xfrm>
          </p:grpSpPr>
          <p:sp>
            <p:nvSpPr>
              <p:cNvPr id="195" name="Rectangle"/>
              <p:cNvSpPr/>
              <p:nvPr/>
            </p:nvSpPr>
            <p:spPr>
              <a:xfrm>
                <a:off x="-1" y="0"/>
                <a:ext cx="5680323" cy="1343026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>
                  <a:defRPr sz="1000"/>
                </a:pPr>
                <a:endParaRPr/>
              </a:p>
            </p:txBody>
          </p:sp>
          <p:sp>
            <p:nvSpPr>
              <p:cNvPr id="196" name="Décision structurante"/>
              <p:cNvSpPr txBox="1"/>
              <p:nvPr/>
            </p:nvSpPr>
            <p:spPr>
              <a:xfrm>
                <a:off x="100268" y="309245"/>
                <a:ext cx="2788923" cy="2336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100" b="1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Décision structurante</a:t>
                </a:r>
              </a:p>
            </p:txBody>
          </p:sp>
        </p:grpSp>
        <p:sp>
          <p:nvSpPr>
            <p:cNvPr id="198" name="Conserver l'information joueur détaillée, puis tester si les abstractions apportent vraiment de la performance."/>
            <p:cNvSpPr txBox="1"/>
            <p:nvPr/>
          </p:nvSpPr>
          <p:spPr>
            <a:xfrm>
              <a:off x="100268" y="682943"/>
              <a:ext cx="5392018" cy="398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Conserver l'information joueur détaillée, puis tester si les abstractions apportent vraiment de la performance.</a:t>
              </a:r>
            </a:p>
          </p:txBody>
        </p:sp>
      </p:grpSp>
      <p:grpSp>
        <p:nvGrpSpPr>
          <p:cNvPr id="202" name="Rectangle"/>
          <p:cNvGrpSpPr/>
          <p:nvPr/>
        </p:nvGrpSpPr>
        <p:grpSpPr>
          <a:xfrm>
            <a:off x="817152" y="1284870"/>
            <a:ext cx="5778382" cy="662463"/>
            <a:chOff x="0" y="0"/>
            <a:chExt cx="5778380" cy="662461"/>
          </a:xfrm>
        </p:grpSpPr>
        <p:sp>
          <p:nvSpPr>
            <p:cNvPr id="200" name="Rectangle"/>
            <p:cNvSpPr/>
            <p:nvPr/>
          </p:nvSpPr>
          <p:spPr>
            <a:xfrm>
              <a:off x="-1" y="0"/>
              <a:ext cx="5778382" cy="662462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sz="1000"/>
              </a:pPr>
              <a:endParaRPr/>
            </a:p>
          </p:txBody>
        </p:sp>
        <p:sp>
          <p:nvSpPr>
            <p:cNvPr id="201" name="Objectif: transformer des données football hétérogènes en datasets fiables pour entraîner et comparer les modèles."/>
            <p:cNvSpPr txBox="1"/>
            <p:nvPr/>
          </p:nvSpPr>
          <p:spPr>
            <a:xfrm>
              <a:off x="-1" y="0"/>
              <a:ext cx="5778382" cy="609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 b="1">
                  <a:latin typeface="Inter"/>
                  <a:ea typeface="Inter"/>
                  <a:cs typeface="Inter"/>
                  <a:sym typeface="Inter"/>
                </a:defRPr>
              </a:pPr>
              <a:endParaRPr/>
            </a:p>
            <a:p>
              <a:pPr>
                <a:defRPr sz="1000" b="1">
                  <a:latin typeface="Inter"/>
                  <a:ea typeface="Inter"/>
                  <a:cs typeface="Inter"/>
                  <a:sym typeface="Inter"/>
                </a:defRPr>
              </a:pPr>
              <a:r>
                <a:t>Objectif</a:t>
              </a:r>
              <a:r>
                <a:rPr b="0"/>
                <a:t>: transformer des données football hétérogènes en datasets fiables pour entraîner et comparer les modèles.</a:t>
              </a:r>
            </a:p>
          </p:txBody>
        </p:sp>
      </p:grp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Fond Girondins de Bordeaux" descr="Fond Girondins de Bordeaux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30174" y="-1"/>
            <a:ext cx="9144001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205" name="Google Shape;75;p16"/>
          <p:cNvSpPr txBox="1">
            <a:spLocks noGrp="1"/>
          </p:cNvSpPr>
          <p:nvPr>
            <p:ph type="title"/>
          </p:nvPr>
        </p:nvSpPr>
        <p:spPr>
          <a:xfrm>
            <a:off x="1192663" y="403309"/>
            <a:ext cx="8097985" cy="533101"/>
          </a:xfrm>
          <a:prstGeom prst="rect">
            <a:avLst/>
          </a:prstGeom>
        </p:spPr>
        <p:txBody>
          <a:bodyPr/>
          <a:lstStyle/>
          <a:p>
            <a:pPr defTabSz="740663">
              <a:defRPr sz="2025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ETL : </a:t>
            </a:r>
            <a:r>
              <a:rPr>
                <a:solidFill>
                  <a:srgbClr val="000000"/>
                </a:solidFill>
              </a:rPr>
              <a:t>données</a:t>
            </a:r>
            <a:r>
              <a:rPr sz="2268">
                <a:solidFill>
                  <a:srgbClr val="000000"/>
                </a:solidFill>
              </a:rPr>
              <a:t> passent par trois niveaux clairs</a:t>
            </a:r>
          </a:p>
        </p:txBody>
      </p:sp>
      <p:pic>
        <p:nvPicPr>
          <p:cNvPr id="206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5"/>
          </a:xfrm>
          <a:prstGeom prst="rect">
            <a:avLst/>
          </a:prstGeom>
          <a:ln w="12700">
            <a:miter lim="400000"/>
          </a:ln>
        </p:spPr>
      </p:pic>
      <p:sp>
        <p:nvSpPr>
          <p:cNvPr id="207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grpSp>
        <p:nvGrpSpPr>
          <p:cNvPr id="213" name="Groupe 42"/>
          <p:cNvGrpSpPr/>
          <p:nvPr/>
        </p:nvGrpSpPr>
        <p:grpSpPr>
          <a:xfrm>
            <a:off x="340861" y="1191904"/>
            <a:ext cx="2510118" cy="1476045"/>
            <a:chOff x="0" y="0"/>
            <a:chExt cx="2510117" cy="1476045"/>
          </a:xfrm>
        </p:grpSpPr>
        <p:sp>
          <p:nvSpPr>
            <p:cNvPr id="208" name="Sources"/>
            <p:cNvSpPr txBox="1"/>
            <p:nvPr/>
          </p:nvSpPr>
          <p:spPr>
            <a:xfrm>
              <a:off x="351033" y="0"/>
              <a:ext cx="2159085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555555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Sources</a:t>
              </a:r>
            </a:p>
          </p:txBody>
        </p:sp>
        <p:grpSp>
          <p:nvGrpSpPr>
            <p:cNvPr id="212" name="Groupe 29"/>
            <p:cNvGrpSpPr/>
            <p:nvPr/>
          </p:nvGrpSpPr>
          <p:grpSpPr>
            <a:xfrm>
              <a:off x="0" y="379061"/>
              <a:ext cx="2320745" cy="1096985"/>
              <a:chOff x="0" y="0"/>
              <a:chExt cx="2320744" cy="1096983"/>
            </a:xfrm>
          </p:grpSpPr>
          <p:sp>
            <p:nvSpPr>
              <p:cNvPr id="209" name="Rectangle"/>
              <p:cNvSpPr/>
              <p:nvPr/>
            </p:nvSpPr>
            <p:spPr>
              <a:xfrm>
                <a:off x="0" y="0"/>
                <a:ext cx="2320745" cy="1096984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>
                  <a:defRPr sz="1000"/>
                </a:pPr>
                <a:endParaRPr/>
              </a:p>
            </p:txBody>
          </p:sp>
          <p:sp>
            <p:nvSpPr>
              <p:cNvPr id="210" name="SoFIFA"/>
              <p:cNvSpPr txBox="1"/>
              <p:nvPr/>
            </p:nvSpPr>
            <p:spPr>
              <a:xfrm>
                <a:off x="110337" y="97961"/>
                <a:ext cx="1564874" cy="2336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100" b="1">
                    <a:solidFill>
                      <a:srgbClr val="FF4B4B"/>
                    </a:solidFill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SoFIFA</a:t>
                </a:r>
              </a:p>
            </p:txBody>
          </p:sp>
          <p:sp>
            <p:nvSpPr>
              <p:cNvPr id="211" name="Scraping des notes détaillées joueurs: attaque, technique, mouvement, défense, gardien."/>
              <p:cNvSpPr txBox="1"/>
              <p:nvPr/>
            </p:nvSpPr>
            <p:spPr>
              <a:xfrm>
                <a:off x="110337" y="387557"/>
                <a:ext cx="2096149" cy="5638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100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Scraping des notes détaillées joueurs: attaque, technique, mouvement, défense, gardien.</a:t>
                </a:r>
              </a:p>
            </p:txBody>
          </p:sp>
        </p:grpSp>
      </p:grpSp>
      <p:grpSp>
        <p:nvGrpSpPr>
          <p:cNvPr id="218" name="Groupe 28"/>
          <p:cNvGrpSpPr/>
          <p:nvPr/>
        </p:nvGrpSpPr>
        <p:grpSpPr>
          <a:xfrm>
            <a:off x="340861" y="3612991"/>
            <a:ext cx="2540362" cy="1071563"/>
            <a:chOff x="0" y="0"/>
            <a:chExt cx="2540361" cy="1071562"/>
          </a:xfrm>
        </p:grpSpPr>
        <p:grpSp>
          <p:nvGrpSpPr>
            <p:cNvPr id="216" name="Groupe 27"/>
            <p:cNvGrpSpPr/>
            <p:nvPr/>
          </p:nvGrpSpPr>
          <p:grpSpPr>
            <a:xfrm>
              <a:off x="0" y="0"/>
              <a:ext cx="2540362" cy="1071563"/>
              <a:chOff x="0" y="0"/>
              <a:chExt cx="2540361" cy="1071562"/>
            </a:xfrm>
          </p:grpSpPr>
          <p:sp>
            <p:nvSpPr>
              <p:cNvPr id="214" name="Rectangle"/>
              <p:cNvSpPr/>
              <p:nvPr/>
            </p:nvSpPr>
            <p:spPr>
              <a:xfrm>
                <a:off x="0" y="-1"/>
                <a:ext cx="2305912" cy="1071564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>
                  <a:defRPr sz="1000"/>
                </a:pPr>
                <a:endParaRPr/>
              </a:p>
            </p:txBody>
          </p:sp>
          <p:sp>
            <p:nvSpPr>
              <p:cNvPr id="215" name="Transfermarkt"/>
              <p:cNvSpPr txBox="1"/>
              <p:nvPr/>
            </p:nvSpPr>
            <p:spPr>
              <a:xfrm>
                <a:off x="127363" y="124924"/>
                <a:ext cx="2412999" cy="2336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100" b="1">
                    <a:solidFill>
                      <a:srgbClr val="FF4B4B"/>
                    </a:solidFill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Transfermarkt</a:t>
                </a:r>
              </a:p>
            </p:txBody>
          </p:sp>
        </p:grpSp>
        <p:sp>
          <p:nvSpPr>
            <p:cNvPr id="217" name="CSV GitHub: matchs, lineups, joueurs, clubs et transferts. Mise à jour régulière."/>
            <p:cNvSpPr txBox="1"/>
            <p:nvPr/>
          </p:nvSpPr>
          <p:spPr>
            <a:xfrm>
              <a:off x="111578" y="452478"/>
              <a:ext cx="2082753" cy="5638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CSV GitHub: matchs, lineups, joueurs, clubs et transferts. Mise à jour régulière.</a:t>
              </a:r>
            </a:p>
          </p:txBody>
        </p:sp>
      </p:grpSp>
      <p:grpSp>
        <p:nvGrpSpPr>
          <p:cNvPr id="221" name="Groupe 31"/>
          <p:cNvGrpSpPr/>
          <p:nvPr/>
        </p:nvGrpSpPr>
        <p:grpSpPr>
          <a:xfrm>
            <a:off x="3010220" y="3001971"/>
            <a:ext cx="866911" cy="418794"/>
            <a:chOff x="0" y="0"/>
            <a:chExt cx="866909" cy="418792"/>
          </a:xfrm>
        </p:grpSpPr>
        <p:sp>
          <p:nvSpPr>
            <p:cNvPr id="219" name="Rectangle"/>
            <p:cNvSpPr/>
            <p:nvPr/>
          </p:nvSpPr>
          <p:spPr>
            <a:xfrm>
              <a:off x="0" y="0"/>
              <a:ext cx="866910" cy="418793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sz="1000"/>
              </a:pPr>
              <a:endParaRPr/>
            </a:p>
          </p:txBody>
        </p:sp>
        <p:sp>
          <p:nvSpPr>
            <p:cNvPr id="220" name="/raw"/>
            <p:cNvSpPr txBox="1"/>
            <p:nvPr/>
          </p:nvSpPr>
          <p:spPr>
            <a:xfrm>
              <a:off x="81356" y="11430"/>
              <a:ext cx="661520" cy="2336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/raw</a:t>
              </a:r>
            </a:p>
          </p:txBody>
        </p:sp>
      </p:grpSp>
      <p:grpSp>
        <p:nvGrpSpPr>
          <p:cNvPr id="225" name="Groupe 30"/>
          <p:cNvGrpSpPr/>
          <p:nvPr/>
        </p:nvGrpSpPr>
        <p:grpSpPr>
          <a:xfrm>
            <a:off x="3776910" y="1101850"/>
            <a:ext cx="2894650" cy="1096274"/>
            <a:chOff x="0" y="0"/>
            <a:chExt cx="2894649" cy="1096272"/>
          </a:xfrm>
        </p:grpSpPr>
        <p:sp>
          <p:nvSpPr>
            <p:cNvPr id="222" name="Rectangle"/>
            <p:cNvSpPr/>
            <p:nvPr/>
          </p:nvSpPr>
          <p:spPr>
            <a:xfrm>
              <a:off x="0" y="0"/>
              <a:ext cx="2894650" cy="1071563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sz="1000"/>
              </a:pPr>
              <a:endParaRPr/>
            </a:p>
          </p:txBody>
        </p:sp>
        <p:sp>
          <p:nvSpPr>
            <p:cNvPr id="223" name="/staging"/>
            <p:cNvSpPr txBox="1"/>
            <p:nvPr/>
          </p:nvSpPr>
          <p:spPr>
            <a:xfrm>
              <a:off x="209306" y="102169"/>
              <a:ext cx="2208841" cy="20412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000" b="1">
                  <a:solidFill>
                    <a:srgbClr val="2563EB"/>
                  </a:solidFill>
                </a:defRPr>
              </a:lvl1pPr>
            </a:lstStyle>
            <a:p>
              <a:r>
                <a:t>/staging</a:t>
              </a:r>
            </a:p>
          </p:txBody>
        </p:sp>
        <p:sp>
          <p:nvSpPr>
            <p:cNvPr id="224" name="training_match_dataset et match_outcome_team_ratings dans NeonDB."/>
            <p:cNvSpPr txBox="1"/>
            <p:nvPr/>
          </p:nvSpPr>
          <p:spPr>
            <a:xfrm>
              <a:off x="209306" y="309196"/>
              <a:ext cx="2534997" cy="78707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/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900"/>
              </a:pPr>
              <a:r>
                <a:t>training_match_dataset</a:t>
              </a:r>
            </a:p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900"/>
              </a:pPr>
              <a:r>
                <a:t>match_outcome_team_ratings</a:t>
              </a:r>
            </a:p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1000"/>
              </a:pPr>
              <a:r>
                <a:t>Clé de passage: réconciliation player_id SoFIFA et Transfermarkt.</a:t>
              </a:r>
              <a:endParaRPr sz="1300"/>
            </a:p>
          </p:txBody>
        </p:sp>
      </p:grpSp>
      <p:grpSp>
        <p:nvGrpSpPr>
          <p:cNvPr id="232" name="Groupe 34"/>
          <p:cNvGrpSpPr/>
          <p:nvPr/>
        </p:nvGrpSpPr>
        <p:grpSpPr>
          <a:xfrm>
            <a:off x="7019905" y="2015012"/>
            <a:ext cx="1931672" cy="1477240"/>
            <a:chOff x="0" y="0"/>
            <a:chExt cx="1931671" cy="1477239"/>
          </a:xfrm>
        </p:grpSpPr>
        <p:sp>
          <p:nvSpPr>
            <p:cNvPr id="226" name="Analyse et modeles"/>
            <p:cNvSpPr txBox="1"/>
            <p:nvPr/>
          </p:nvSpPr>
          <p:spPr>
            <a:xfrm>
              <a:off x="106698" y="0"/>
              <a:ext cx="1788798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555555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Analyse et modeles</a:t>
              </a:r>
            </a:p>
          </p:txBody>
        </p:sp>
        <p:grpSp>
          <p:nvGrpSpPr>
            <p:cNvPr id="231" name="Groupe 33"/>
            <p:cNvGrpSpPr/>
            <p:nvPr/>
          </p:nvGrpSpPr>
          <p:grpSpPr>
            <a:xfrm>
              <a:off x="0" y="314798"/>
              <a:ext cx="1931672" cy="1162442"/>
              <a:chOff x="0" y="0"/>
              <a:chExt cx="1931671" cy="1162440"/>
            </a:xfrm>
          </p:grpSpPr>
          <p:grpSp>
            <p:nvGrpSpPr>
              <p:cNvPr id="229" name="Groupe 32"/>
              <p:cNvGrpSpPr/>
              <p:nvPr/>
            </p:nvGrpSpPr>
            <p:grpSpPr>
              <a:xfrm>
                <a:off x="0" y="0"/>
                <a:ext cx="1931672" cy="1071563"/>
                <a:chOff x="0" y="0"/>
                <a:chExt cx="1931671" cy="1071562"/>
              </a:xfrm>
            </p:grpSpPr>
            <p:sp>
              <p:nvSpPr>
                <p:cNvPr id="227" name="Rectangle"/>
                <p:cNvSpPr/>
                <p:nvPr/>
              </p:nvSpPr>
              <p:spPr>
                <a:xfrm>
                  <a:off x="-1" y="0"/>
                  <a:ext cx="1931673" cy="1071563"/>
                </a:xfrm>
                <a:prstGeom prst="rect">
                  <a:avLst/>
                </a:prstGeom>
                <a:solidFill>
                  <a:schemeClr val="accent2">
                    <a:lumOff val="80020"/>
                  </a:scheme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>
                    <a:defRPr sz="1000"/>
                  </a:pPr>
                  <a:endParaRPr/>
                </a:p>
              </p:txBody>
            </p:sp>
            <p:sp>
              <p:nvSpPr>
                <p:cNvPr id="228" name="/curated"/>
                <p:cNvSpPr txBox="1"/>
                <p:nvPr/>
              </p:nvSpPr>
              <p:spPr>
                <a:xfrm>
                  <a:off x="78123" y="112065"/>
                  <a:ext cx="1845948" cy="23367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square" lIns="34289" tIns="34289" rIns="34289" bIns="34289" numCol="1" anchor="t">
                  <a:spAutoFit/>
                </a:bodyPr>
                <a:lstStyle>
                  <a:lvl1pPr>
                    <a:defRPr sz="1100" b="1">
                      <a:solidFill>
                        <a:srgbClr val="15803D"/>
                      </a:solidFill>
                      <a:latin typeface="Inter"/>
                      <a:ea typeface="Inter"/>
                      <a:cs typeface="Inter"/>
                      <a:sym typeface="Inter"/>
                    </a:defRPr>
                  </a:lvl1pPr>
                </a:lstStyle>
                <a:p>
                  <a:r>
                    <a:t>/curated</a:t>
                  </a:r>
                </a:p>
              </p:txBody>
            </p:sp>
          </p:grpSp>
          <p:sp>
            <p:nvSpPr>
              <p:cNvPr id="230" name="Datasets locaux de notebook pour entraînement ML, dont training_dataset_df."/>
              <p:cNvSpPr txBox="1"/>
              <p:nvPr/>
            </p:nvSpPr>
            <p:spPr>
              <a:xfrm>
                <a:off x="78123" y="433462"/>
                <a:ext cx="1845948" cy="7289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100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Datasets locaux de notebook pour entraînement ML, dont training_dataset_df.</a:t>
                </a:r>
              </a:p>
            </p:txBody>
          </p:sp>
        </p:grpSp>
      </p:grpSp>
      <p:grpSp>
        <p:nvGrpSpPr>
          <p:cNvPr id="235" name="Groupe 35"/>
          <p:cNvGrpSpPr/>
          <p:nvPr/>
        </p:nvGrpSpPr>
        <p:grpSpPr>
          <a:xfrm>
            <a:off x="3152738" y="1081898"/>
            <a:ext cx="806201" cy="1390011"/>
            <a:chOff x="0" y="0"/>
            <a:chExt cx="806199" cy="1390010"/>
          </a:xfrm>
        </p:grpSpPr>
        <p:pic>
          <p:nvPicPr>
            <p:cNvPr id="233" name="Image 36" descr="Image 3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-1"/>
              <a:ext cx="759821" cy="69836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34" name="Image 37" descr="Image 3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380" y="611658"/>
              <a:ext cx="759821" cy="77835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36" name="Image 57" descr="Image 5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6605" y="3484124"/>
            <a:ext cx="1196483" cy="577613"/>
          </a:xfrm>
          <a:prstGeom prst="rect">
            <a:avLst/>
          </a:prstGeom>
          <a:ln w="12700">
            <a:miter lim="400000"/>
          </a:ln>
        </p:spPr>
      </p:pic>
      <p:sp>
        <p:nvSpPr>
          <p:cNvPr id="237" name="Fleche FastAPI vers Render"/>
          <p:cNvSpPr/>
          <p:nvPr/>
        </p:nvSpPr>
        <p:spPr>
          <a:xfrm>
            <a:off x="5293038" y="2249170"/>
            <a:ext cx="1726869" cy="616423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38" name="Fleche FastAPI vers Render"/>
          <p:cNvSpPr/>
          <p:nvPr/>
        </p:nvSpPr>
        <p:spPr>
          <a:xfrm flipV="1">
            <a:off x="3443675" y="2249848"/>
            <a:ext cx="1810039" cy="752123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39" name="Fleche FastAPI vers Render"/>
          <p:cNvSpPr/>
          <p:nvPr/>
        </p:nvSpPr>
        <p:spPr>
          <a:xfrm>
            <a:off x="2661605" y="2119458"/>
            <a:ext cx="348616" cy="1091911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40" name="Fleche FastAPI vers Render"/>
          <p:cNvSpPr/>
          <p:nvPr/>
        </p:nvSpPr>
        <p:spPr>
          <a:xfrm flipV="1">
            <a:off x="2646773" y="3211367"/>
            <a:ext cx="363449" cy="937406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Fond Pau FC" descr="Fond Pau FC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-1"/>
            <a:ext cx="9144000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243" name="Google Shape;75;p16"/>
          <p:cNvSpPr txBox="1">
            <a:spLocks noGrp="1"/>
          </p:cNvSpPr>
          <p:nvPr>
            <p:ph type="title"/>
          </p:nvPr>
        </p:nvSpPr>
        <p:spPr>
          <a:xfrm>
            <a:off x="1192662" y="403309"/>
            <a:ext cx="8218756" cy="533101"/>
          </a:xfrm>
          <a:prstGeom prst="rect">
            <a:avLst/>
          </a:prstGeom>
        </p:spPr>
        <p:txBody>
          <a:bodyPr/>
          <a:lstStyle/>
          <a:p>
            <a:pPr defTabSz="365760">
              <a:defRPr sz="1120"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EDA : </a:t>
            </a:r>
            <a:r>
              <a:rPr sz="1000"/>
              <a:t>sécurise</a:t>
            </a:r>
            <a:r>
              <a:t> le dataset d'entraînement</a:t>
            </a:r>
            <a:br/>
            <a:endParaRPr/>
          </a:p>
        </p:txBody>
      </p:sp>
      <p:pic>
        <p:nvPicPr>
          <p:cNvPr id="244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5"/>
          </a:xfrm>
          <a:prstGeom prst="rect">
            <a:avLst/>
          </a:prstGeom>
          <a:ln w="12700">
            <a:miter lim="400000"/>
          </a:ln>
        </p:spPr>
      </p:pic>
      <p:sp>
        <p:nvSpPr>
          <p:cNvPr id="245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46" name="Périmètre: matchs UEFA des 5 dernières années, entre les 100 meilleurs clubs UEFA."/>
          <p:cNvSpPr txBox="1"/>
          <p:nvPr/>
        </p:nvSpPr>
        <p:spPr>
          <a:xfrm>
            <a:off x="800100" y="1147038"/>
            <a:ext cx="6789423" cy="2336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>
                <a:solidFill>
                  <a:srgbClr val="555555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Périmètre: matchs UEFA des 5 dernières années, entre les 100 meilleurs clubs UEFA.</a:t>
            </a:r>
          </a:p>
        </p:txBody>
      </p:sp>
      <p:grpSp>
        <p:nvGrpSpPr>
          <p:cNvPr id="251" name="Groupe 33"/>
          <p:cNvGrpSpPr/>
          <p:nvPr/>
        </p:nvGrpSpPr>
        <p:grpSpPr>
          <a:xfrm>
            <a:off x="751824" y="1784186"/>
            <a:ext cx="1928815" cy="1985964"/>
            <a:chOff x="0" y="0"/>
            <a:chExt cx="1928813" cy="1985963"/>
          </a:xfrm>
        </p:grpSpPr>
        <p:grpSp>
          <p:nvGrpSpPr>
            <p:cNvPr id="249" name="Groupe 32"/>
            <p:cNvGrpSpPr/>
            <p:nvPr/>
          </p:nvGrpSpPr>
          <p:grpSpPr>
            <a:xfrm>
              <a:off x="-1" y="-1"/>
              <a:ext cx="1928815" cy="1985965"/>
              <a:chOff x="0" y="0"/>
              <a:chExt cx="1928813" cy="1985963"/>
            </a:xfrm>
          </p:grpSpPr>
          <p:sp>
            <p:nvSpPr>
              <p:cNvPr id="247" name="Rectangle"/>
              <p:cNvSpPr/>
              <p:nvPr/>
            </p:nvSpPr>
            <p:spPr>
              <a:xfrm>
                <a:off x="-1" y="-1"/>
                <a:ext cx="1928815" cy="1985965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>
                  <a:defRPr sz="1000"/>
                </a:pPr>
                <a:endParaRPr/>
              </a:p>
            </p:txBody>
          </p:sp>
          <p:sp>
            <p:nvSpPr>
              <p:cNvPr id="248" name="100"/>
              <p:cNvSpPr txBox="1"/>
              <p:nvPr/>
            </p:nvSpPr>
            <p:spPr>
              <a:xfrm>
                <a:off x="234315" y="268607"/>
                <a:ext cx="1503048" cy="59889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3800" b="1"/>
                </a:lvl1pPr>
              </a:lstStyle>
              <a:p>
                <a:r>
                  <a:t>100</a:t>
                </a:r>
              </a:p>
            </p:txBody>
          </p:sp>
        </p:grpSp>
        <p:sp>
          <p:nvSpPr>
            <p:cNvPr id="250" name="meilleures équipes UEFA comme base de comparaison"/>
            <p:cNvSpPr txBox="1"/>
            <p:nvPr/>
          </p:nvSpPr>
          <p:spPr>
            <a:xfrm>
              <a:off x="248602" y="1154430"/>
              <a:ext cx="1431610" cy="5638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meilleures équipes UEFA comme base de comparaison</a:t>
              </a:r>
            </a:p>
          </p:txBody>
        </p:sp>
      </p:grpSp>
      <p:grpSp>
        <p:nvGrpSpPr>
          <p:cNvPr id="256" name="Groupe 31"/>
          <p:cNvGrpSpPr/>
          <p:nvPr/>
        </p:nvGrpSpPr>
        <p:grpSpPr>
          <a:xfrm>
            <a:off x="3135526" y="1798532"/>
            <a:ext cx="1928814" cy="1985964"/>
            <a:chOff x="0" y="0"/>
            <a:chExt cx="1928813" cy="1985963"/>
          </a:xfrm>
        </p:grpSpPr>
        <p:grpSp>
          <p:nvGrpSpPr>
            <p:cNvPr id="254" name="Groupe 30"/>
            <p:cNvGrpSpPr/>
            <p:nvPr/>
          </p:nvGrpSpPr>
          <p:grpSpPr>
            <a:xfrm>
              <a:off x="-1" y="-1"/>
              <a:ext cx="1928815" cy="1985965"/>
              <a:chOff x="0" y="0"/>
              <a:chExt cx="1928813" cy="1985963"/>
            </a:xfrm>
          </p:grpSpPr>
          <p:sp>
            <p:nvSpPr>
              <p:cNvPr id="252" name="Rectangle"/>
              <p:cNvSpPr/>
              <p:nvPr/>
            </p:nvSpPr>
            <p:spPr>
              <a:xfrm>
                <a:off x="-1" y="-1"/>
                <a:ext cx="1928815" cy="1985965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>
                  <a:defRPr sz="1000"/>
                </a:pPr>
                <a:endParaRPr/>
              </a:p>
            </p:txBody>
          </p:sp>
          <p:sp>
            <p:nvSpPr>
              <p:cNvPr id="253" name="6000"/>
              <p:cNvSpPr txBox="1"/>
              <p:nvPr/>
            </p:nvSpPr>
            <p:spPr>
              <a:xfrm>
                <a:off x="234314" y="268607"/>
                <a:ext cx="1503048" cy="59889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3800" b="1"/>
                </a:lvl1pPr>
              </a:lstStyle>
              <a:p>
                <a:r>
                  <a:t>6000</a:t>
                </a:r>
              </a:p>
            </p:txBody>
          </p:sp>
        </p:grpSp>
        <p:sp>
          <p:nvSpPr>
            <p:cNvPr id="255" name="matchs environ avant jointure complète"/>
            <p:cNvSpPr txBox="1"/>
            <p:nvPr/>
          </p:nvSpPr>
          <p:spPr>
            <a:xfrm>
              <a:off x="248602" y="1154430"/>
              <a:ext cx="1431610" cy="398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matchs environ avant jointure complète</a:t>
              </a:r>
            </a:p>
          </p:txBody>
        </p:sp>
      </p:grpSp>
      <p:grpSp>
        <p:nvGrpSpPr>
          <p:cNvPr id="261" name="Groupe 29"/>
          <p:cNvGrpSpPr/>
          <p:nvPr/>
        </p:nvGrpSpPr>
        <p:grpSpPr>
          <a:xfrm>
            <a:off x="5915159" y="1784186"/>
            <a:ext cx="1928814" cy="1985964"/>
            <a:chOff x="0" y="0"/>
            <a:chExt cx="1928813" cy="1985963"/>
          </a:xfrm>
        </p:grpSpPr>
        <p:grpSp>
          <p:nvGrpSpPr>
            <p:cNvPr id="259" name="Groupe 28"/>
            <p:cNvGrpSpPr/>
            <p:nvPr/>
          </p:nvGrpSpPr>
          <p:grpSpPr>
            <a:xfrm>
              <a:off x="-1" y="-1"/>
              <a:ext cx="1928815" cy="1985965"/>
              <a:chOff x="0" y="0"/>
              <a:chExt cx="1928813" cy="1985963"/>
            </a:xfrm>
          </p:grpSpPr>
          <p:sp>
            <p:nvSpPr>
              <p:cNvPr id="257" name="Rectangle"/>
              <p:cNvSpPr/>
              <p:nvPr/>
            </p:nvSpPr>
            <p:spPr>
              <a:xfrm>
                <a:off x="-1" y="-1"/>
                <a:ext cx="1928815" cy="1985965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>
                  <a:defRPr sz="1000"/>
                </a:pPr>
                <a:endParaRPr/>
              </a:p>
            </p:txBody>
          </p:sp>
          <p:sp>
            <p:nvSpPr>
              <p:cNvPr id="258" name="3800"/>
              <p:cNvSpPr txBox="1"/>
              <p:nvPr/>
            </p:nvSpPr>
            <p:spPr>
              <a:xfrm>
                <a:off x="212884" y="268607"/>
                <a:ext cx="1503048" cy="59889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3800" b="1"/>
                </a:lvl1pPr>
              </a:lstStyle>
              <a:p>
                <a:r>
                  <a:t>3800</a:t>
                </a:r>
              </a:p>
            </p:txBody>
          </p:sp>
        </p:grpSp>
        <p:sp>
          <p:nvSpPr>
            <p:cNvPr id="260" name="matchs exploitables après retrait des NaN"/>
            <p:cNvSpPr txBox="1"/>
            <p:nvPr/>
          </p:nvSpPr>
          <p:spPr>
            <a:xfrm>
              <a:off x="227171" y="1154430"/>
              <a:ext cx="1431610" cy="398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matchs exploitables après retrait des NaN</a:t>
              </a:r>
            </a:p>
          </p:txBody>
        </p:sp>
      </p:grpSp>
      <p:sp>
        <p:nvSpPr>
          <p:cNvPr id="262" name="Conclusion modele"/>
          <p:cNvSpPr txBox="1"/>
          <p:nvPr/>
        </p:nvSpPr>
        <p:spPr>
          <a:xfrm>
            <a:off x="334327" y="4240531"/>
            <a:ext cx="1931673" cy="2336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 b="1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Conclusion modele</a:t>
            </a:r>
          </a:p>
        </p:txBody>
      </p:sp>
      <p:sp>
        <p:nvSpPr>
          <p:cNvPr id="263" name="Le clustering joueurs a surtout séparé les niveaux de force, pas des profils techniques nets. Dans cette version, il réduit l'information et dégrade la performance."/>
          <p:cNvSpPr txBox="1"/>
          <p:nvPr/>
        </p:nvSpPr>
        <p:spPr>
          <a:xfrm>
            <a:off x="2384986" y="4168550"/>
            <a:ext cx="5646423" cy="3987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Le clustering joueurs a surtout séparé les niveaux de force, pas des profils techniques nets. Dans cette version, il réduit l'information et dégrade la performance.</a:t>
            </a:r>
          </a:p>
        </p:txBody>
      </p:sp>
      <p:sp>
        <p:nvSpPr>
          <p:cNvPr id="264" name="3"/>
          <p:cNvSpPr txBox="1"/>
          <p:nvPr/>
        </p:nvSpPr>
        <p:spPr>
          <a:xfrm>
            <a:off x="8492489" y="4726306"/>
            <a:ext cx="317185" cy="154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89" tIns="34289" rIns="34289" bIns="34289">
            <a:spAutoFit/>
          </a:bodyPr>
          <a:lstStyle>
            <a:lvl1pPr algn="r">
              <a:defRPr sz="700">
                <a:solidFill>
                  <a:srgbClr val="555555"/>
                </a:solidFill>
              </a:defRPr>
            </a:lvl1pPr>
          </a:lstStyle>
          <a:p>
            <a:r>
              <a:t>3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Fond FC Barcelone" descr="Fond FC Barcelone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-1"/>
            <a:ext cx="9144000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75;p16"/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5315101" cy="533101"/>
          </a:xfrm>
          <a:prstGeom prst="rect">
            <a:avLst/>
          </a:prstGeom>
        </p:spPr>
        <p:txBody>
          <a:bodyPr/>
          <a:lstStyle>
            <a:lvl1pPr defTabSz="822959">
              <a:defRPr sz="22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Architecture - Entrainement</a:t>
            </a:r>
          </a:p>
        </p:txBody>
      </p:sp>
      <p:pic>
        <p:nvPicPr>
          <p:cNvPr id="268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5"/>
          </a:xfrm>
          <a:prstGeom prst="rect">
            <a:avLst/>
          </a:prstGeom>
          <a:ln w="12700">
            <a:miter lim="400000"/>
          </a:ln>
        </p:spPr>
      </p:pic>
      <p:sp>
        <p:nvSpPr>
          <p:cNvPr id="269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grpSp>
        <p:nvGrpSpPr>
          <p:cNvPr id="272" name="Groupe 27"/>
          <p:cNvGrpSpPr/>
          <p:nvPr/>
        </p:nvGrpSpPr>
        <p:grpSpPr>
          <a:xfrm>
            <a:off x="7096703" y="1678903"/>
            <a:ext cx="1143100" cy="1615649"/>
            <a:chOff x="0" y="0"/>
            <a:chExt cx="1143099" cy="1615648"/>
          </a:xfrm>
        </p:grpSpPr>
        <p:pic>
          <p:nvPicPr>
            <p:cNvPr id="270" name="Image 7" descr="Image 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396341"/>
              <a:ext cx="1143100" cy="121930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71" name="Image 13" descr="Image 1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0147" y="-1"/>
              <a:ext cx="844692" cy="53069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276" name="Groupe 17"/>
          <p:cNvGrpSpPr/>
          <p:nvPr/>
        </p:nvGrpSpPr>
        <p:grpSpPr>
          <a:xfrm>
            <a:off x="2546643" y="1488950"/>
            <a:ext cx="2268735" cy="2356464"/>
            <a:chOff x="0" y="0"/>
            <a:chExt cx="2268733" cy="2356462"/>
          </a:xfrm>
        </p:grpSpPr>
        <p:pic>
          <p:nvPicPr>
            <p:cNvPr id="273" name="Image 2" descr="Image 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3865" y="837871"/>
              <a:ext cx="1196483" cy="57761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74" name="Image 15" descr="Image 1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2206" y="0"/>
              <a:ext cx="699801" cy="62720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75" name="ZoneTexte 16"/>
            <p:cNvSpPr txBox="1"/>
            <p:nvPr/>
          </p:nvSpPr>
          <p:spPr>
            <a:xfrm>
              <a:off x="0" y="1617322"/>
              <a:ext cx="2268734" cy="7391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pPr>
                <a:defRPr>
                  <a:latin typeface="Inter"/>
                  <a:ea typeface="Inter"/>
                  <a:cs typeface="Inter"/>
                  <a:sym typeface="Inter"/>
                </a:defRPr>
              </a:pPr>
              <a:r>
                <a:t>Construction dataset</a:t>
              </a:r>
              <a:br/>
              <a:r>
                <a:t>et entrainement du modèle </a:t>
              </a:r>
            </a:p>
            <a:p>
              <a:pPr>
                <a:defRPr>
                  <a:latin typeface="Inter"/>
                  <a:ea typeface="Inter"/>
                  <a:cs typeface="Inter"/>
                  <a:sym typeface="Inter"/>
                </a:defRPr>
              </a:pPr>
              <a:r>
                <a:t>en Local</a:t>
              </a:r>
            </a:p>
          </p:txBody>
        </p:sp>
      </p:grpSp>
      <p:sp>
        <p:nvSpPr>
          <p:cNvPr id="291" name="Fleche FastAPI vers Render"/>
          <p:cNvSpPr/>
          <p:nvPr/>
        </p:nvSpPr>
        <p:spPr>
          <a:xfrm>
            <a:off x="1664018" y="2785794"/>
            <a:ext cx="1026492" cy="122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92" name="Fleche FastAPI vers Render"/>
          <p:cNvSpPr/>
          <p:nvPr/>
        </p:nvSpPr>
        <p:spPr>
          <a:xfrm>
            <a:off x="3886991" y="2579290"/>
            <a:ext cx="863916" cy="709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93" name="Fleche FastAPI vers Render"/>
          <p:cNvSpPr/>
          <p:nvPr/>
        </p:nvSpPr>
        <p:spPr>
          <a:xfrm>
            <a:off x="6259797" y="2494809"/>
            <a:ext cx="836907" cy="118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grpSp>
        <p:nvGrpSpPr>
          <p:cNvPr id="282" name="Groupe 36"/>
          <p:cNvGrpSpPr/>
          <p:nvPr/>
        </p:nvGrpSpPr>
        <p:grpSpPr>
          <a:xfrm>
            <a:off x="904198" y="2278927"/>
            <a:ext cx="759821" cy="1350567"/>
            <a:chOff x="0" y="0"/>
            <a:chExt cx="759819" cy="1350566"/>
          </a:xfrm>
        </p:grpSpPr>
        <p:pic>
          <p:nvPicPr>
            <p:cNvPr id="280" name="Image 9" descr="Image 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0" y="-1"/>
              <a:ext cx="759820" cy="69836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81" name="Image 35" descr="Image 35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0" y="572214"/>
              <a:ext cx="759820" cy="77835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289" name="Groupe 39"/>
          <p:cNvGrpSpPr/>
          <p:nvPr/>
        </p:nvGrpSpPr>
        <p:grpSpPr>
          <a:xfrm>
            <a:off x="4750906" y="1740510"/>
            <a:ext cx="1508892" cy="1553606"/>
            <a:chOff x="0" y="0"/>
            <a:chExt cx="1508891" cy="1553604"/>
          </a:xfrm>
        </p:grpSpPr>
        <p:grpSp>
          <p:nvGrpSpPr>
            <p:cNvPr id="287" name="Groupe 26"/>
            <p:cNvGrpSpPr/>
            <p:nvPr/>
          </p:nvGrpSpPr>
          <p:grpSpPr>
            <a:xfrm>
              <a:off x="0" y="0"/>
              <a:ext cx="1508892" cy="1553605"/>
              <a:chOff x="0" y="0"/>
              <a:chExt cx="1508891" cy="1553605"/>
            </a:xfrm>
          </p:grpSpPr>
          <p:grpSp>
            <p:nvGrpSpPr>
              <p:cNvPr id="285" name="Groupe 3"/>
              <p:cNvGrpSpPr/>
              <p:nvPr/>
            </p:nvGrpSpPr>
            <p:grpSpPr>
              <a:xfrm>
                <a:off x="0" y="484198"/>
                <a:ext cx="1508892" cy="1069408"/>
                <a:chOff x="0" y="0"/>
                <a:chExt cx="1508891" cy="1069406"/>
              </a:xfrm>
            </p:grpSpPr>
            <p:pic>
              <p:nvPicPr>
                <p:cNvPr id="283" name="Image 4" descr="Image 4"/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0" y="0"/>
                  <a:ext cx="1508892" cy="762067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sp>
              <p:nvSpPr>
                <p:cNvPr id="284" name="ZoneTexte 5"/>
                <p:cNvSpPr txBox="1"/>
                <p:nvPr/>
              </p:nvSpPr>
              <p:spPr>
                <a:xfrm>
                  <a:off x="345738" y="762066"/>
                  <a:ext cx="779400" cy="307341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none" lIns="45719" tIns="45719" rIns="45719" bIns="45719" numCol="1" anchor="t">
                  <a:spAutoFit/>
                </a:bodyPr>
                <a:lstStyle>
                  <a:lvl1pPr>
                    <a:defRPr>
                      <a:latin typeface="Inter"/>
                      <a:ea typeface="Inter"/>
                      <a:cs typeface="Inter"/>
                      <a:sym typeface="Inter"/>
                    </a:defRPr>
                  </a:lvl1pPr>
                </a:lstStyle>
                <a:p>
                  <a:r>
                    <a:t>Tracking</a:t>
                  </a:r>
                </a:p>
              </p:txBody>
            </p:sp>
          </p:grpSp>
          <p:pic>
            <p:nvPicPr>
              <p:cNvPr id="286" name="Image 11" descr="Image 11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90419" y="0"/>
                <a:ext cx="728055" cy="59903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288" name="Image 38" descr="Image 38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138058" y="320055"/>
              <a:ext cx="351248" cy="21337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90" name="Image 41" descr="Image 4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92480" y="3816081"/>
            <a:ext cx="759821" cy="41065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5" name="Fond OM" descr="Fond OM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64178" y="-322616"/>
            <a:ext cx="9144001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296" name="Google Shape;75;p16"/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5315101" cy="533101"/>
          </a:xfrm>
          <a:prstGeom prst="rect">
            <a:avLst/>
          </a:prstGeom>
        </p:spPr>
        <p:txBody>
          <a:bodyPr/>
          <a:lstStyle>
            <a:lvl1pPr defTabSz="822959">
              <a:defRPr sz="22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Architecture - Inference</a:t>
            </a:r>
          </a:p>
        </p:txBody>
      </p:sp>
      <p:pic>
        <p:nvPicPr>
          <p:cNvPr id="297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5"/>
          </a:xfrm>
          <a:prstGeom prst="rect">
            <a:avLst/>
          </a:prstGeom>
          <a:ln w="12700">
            <a:miter lim="400000"/>
          </a:ln>
        </p:spPr>
      </p:pic>
      <p:sp>
        <p:nvSpPr>
          <p:cNvPr id="298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299" name="Image 19" descr="Image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482" y="1035810"/>
            <a:ext cx="1010880" cy="31906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02" name="Groupe 83"/>
          <p:cNvGrpSpPr/>
          <p:nvPr/>
        </p:nvGrpSpPr>
        <p:grpSpPr>
          <a:xfrm>
            <a:off x="372632" y="3143070"/>
            <a:ext cx="1143101" cy="1543938"/>
            <a:chOff x="0" y="0"/>
            <a:chExt cx="1143099" cy="1543937"/>
          </a:xfrm>
        </p:grpSpPr>
        <p:pic>
          <p:nvPicPr>
            <p:cNvPr id="300" name="Image 11" descr="Image 1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0" y="324630"/>
              <a:ext cx="1143100" cy="121930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301" name="Image 23" descr="Image 2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4525" y="-1"/>
              <a:ext cx="844691" cy="53069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349" name="Fleche FastAPI vers LLM"/>
          <p:cNvSpPr/>
          <p:nvPr/>
        </p:nvSpPr>
        <p:spPr>
          <a:xfrm>
            <a:off x="5789912" y="3528815"/>
            <a:ext cx="1337336" cy="4257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0" name="Fleche FastAPI vers App"/>
          <p:cNvSpPr/>
          <p:nvPr/>
        </p:nvSpPr>
        <p:spPr>
          <a:xfrm>
            <a:off x="2994767" y="2074135"/>
            <a:ext cx="125591" cy="2974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1" name="Fleche FastAPI vers App"/>
          <p:cNvSpPr/>
          <p:nvPr/>
        </p:nvSpPr>
        <p:spPr>
          <a:xfrm>
            <a:off x="4321883" y="4040703"/>
            <a:ext cx="710213" cy="6268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2" name="Fleche FastAPI vers App"/>
          <p:cNvSpPr/>
          <p:nvPr/>
        </p:nvSpPr>
        <p:spPr>
          <a:xfrm>
            <a:off x="3104418" y="2995966"/>
            <a:ext cx="1887398" cy="581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3" name="Fleche FastAPI vers Render"/>
          <p:cNvSpPr/>
          <p:nvPr/>
        </p:nvSpPr>
        <p:spPr>
          <a:xfrm>
            <a:off x="3935237" y="1606811"/>
            <a:ext cx="1139246" cy="2012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4" name="Fleche FastAPI vers LLM"/>
          <p:cNvSpPr/>
          <p:nvPr/>
        </p:nvSpPr>
        <p:spPr>
          <a:xfrm>
            <a:off x="5788225" y="1974294"/>
            <a:ext cx="1339023" cy="9893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5" name="Fleche FastAPI vers LLM"/>
          <p:cNvSpPr/>
          <p:nvPr/>
        </p:nvSpPr>
        <p:spPr>
          <a:xfrm>
            <a:off x="6176093" y="3086257"/>
            <a:ext cx="951155" cy="1743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6" name="Fleche FastAPI vers Render"/>
          <p:cNvSpPr/>
          <p:nvPr/>
        </p:nvSpPr>
        <p:spPr>
          <a:xfrm>
            <a:off x="1515732" y="3970583"/>
            <a:ext cx="1297261" cy="1260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19050" cap="rnd">
            <a:solidFill>
              <a:srgbClr val="015955"/>
            </a:solidFill>
            <a:tailEnd type="triangle"/>
          </a:ln>
        </p:spPr>
        <p:txBody>
          <a:bodyPr/>
          <a:lstStyle/>
          <a:p>
            <a:endParaRPr/>
          </a:p>
        </p:txBody>
      </p:sp>
      <p:grpSp>
        <p:nvGrpSpPr>
          <p:cNvPr id="313" name="Groupe 91"/>
          <p:cNvGrpSpPr/>
          <p:nvPr/>
        </p:nvGrpSpPr>
        <p:grpSpPr>
          <a:xfrm>
            <a:off x="2298218" y="2371583"/>
            <a:ext cx="806201" cy="1390011"/>
            <a:chOff x="0" y="0"/>
            <a:chExt cx="806199" cy="1390010"/>
          </a:xfrm>
        </p:grpSpPr>
        <p:pic>
          <p:nvPicPr>
            <p:cNvPr id="311" name="Image 15" descr="Image 1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0" y="-1"/>
              <a:ext cx="759821" cy="69836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312" name="Image 90" descr="Image 90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6380" y="611658"/>
              <a:ext cx="759821" cy="77835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314" name="Image 93" descr="Image 9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84527" y="482852"/>
            <a:ext cx="707867" cy="681970"/>
          </a:xfrm>
          <a:prstGeom prst="rect">
            <a:avLst/>
          </a:prstGeom>
          <a:ln w="12700">
            <a:miter lim="400000"/>
          </a:ln>
        </p:spPr>
      </p:pic>
      <p:pic>
        <p:nvPicPr>
          <p:cNvPr id="315" name="Encre 94" descr="Encre 9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15473" y="1345760"/>
            <a:ext cx="3861001" cy="3299401"/>
          </a:xfrm>
          <a:prstGeom prst="rect">
            <a:avLst/>
          </a:prstGeom>
          <a:ln w="12700">
            <a:miter lim="400000"/>
          </a:ln>
        </p:spPr>
      </p:pic>
      <p:sp>
        <p:nvSpPr>
          <p:cNvPr id="316" name="Fleche FastAPI vers Render"/>
          <p:cNvSpPr/>
          <p:nvPr/>
        </p:nvSpPr>
        <p:spPr>
          <a:xfrm flipH="1">
            <a:off x="6015519" y="1164820"/>
            <a:ext cx="2153100" cy="30521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23" name="Groupe 212"/>
          <p:cNvGrpSpPr/>
          <p:nvPr/>
        </p:nvGrpSpPr>
        <p:grpSpPr>
          <a:xfrm>
            <a:off x="2812992" y="3443897"/>
            <a:ext cx="1508892" cy="1452149"/>
            <a:chOff x="0" y="0"/>
            <a:chExt cx="1508891" cy="1452148"/>
          </a:xfrm>
        </p:grpSpPr>
        <p:grpSp>
          <p:nvGrpSpPr>
            <p:cNvPr id="321" name="Groupe 52"/>
            <p:cNvGrpSpPr/>
            <p:nvPr/>
          </p:nvGrpSpPr>
          <p:grpSpPr>
            <a:xfrm>
              <a:off x="0" y="0"/>
              <a:ext cx="1508892" cy="1452149"/>
              <a:chOff x="0" y="0"/>
              <a:chExt cx="1508891" cy="1452148"/>
            </a:xfrm>
          </p:grpSpPr>
          <p:grpSp>
            <p:nvGrpSpPr>
              <p:cNvPr id="319" name="Groupe 7"/>
              <p:cNvGrpSpPr/>
              <p:nvPr/>
            </p:nvGrpSpPr>
            <p:grpSpPr>
              <a:xfrm>
                <a:off x="0" y="401258"/>
                <a:ext cx="1508892" cy="1050891"/>
                <a:chOff x="0" y="0"/>
                <a:chExt cx="1508891" cy="1050889"/>
              </a:xfrm>
            </p:grpSpPr>
            <p:pic>
              <p:nvPicPr>
                <p:cNvPr id="317" name="Image 8" descr="Image 8"/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0" y="0"/>
                  <a:ext cx="1508892" cy="762067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sp>
              <p:nvSpPr>
                <p:cNvPr id="318" name="ZoneTexte 9"/>
                <p:cNvSpPr txBox="1"/>
                <p:nvPr/>
              </p:nvSpPr>
              <p:spPr>
                <a:xfrm>
                  <a:off x="345739" y="762066"/>
                  <a:ext cx="588402" cy="288824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none" lIns="45719" tIns="45719" rIns="45719" bIns="45719" numCol="1" anchor="t">
                  <a:spAutoFit/>
                </a:bodyPr>
                <a:lstStyle/>
                <a:p>
                  <a:r>
                    <a:t>Model</a:t>
                  </a:r>
                </a:p>
              </p:txBody>
            </p:sp>
          </p:grpSp>
          <p:pic>
            <p:nvPicPr>
              <p:cNvPr id="320" name="Image 21" descr="Image 21"/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22990" y="0"/>
                <a:ext cx="728056" cy="59903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322" name="Image 126" descr="Image 126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086753" y="271673"/>
              <a:ext cx="351248" cy="21337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28" name="Groupe 203"/>
          <p:cNvGrpSpPr/>
          <p:nvPr/>
        </p:nvGrpSpPr>
        <p:grpSpPr>
          <a:xfrm>
            <a:off x="5074482" y="1489796"/>
            <a:ext cx="1284870" cy="863623"/>
            <a:chOff x="0" y="0"/>
            <a:chExt cx="1284869" cy="863622"/>
          </a:xfrm>
        </p:grpSpPr>
        <p:sp>
          <p:nvSpPr>
            <p:cNvPr id="324" name="ZoneTexte 119"/>
            <p:cNvSpPr txBox="1"/>
            <p:nvPr/>
          </p:nvSpPr>
          <p:spPr>
            <a:xfrm>
              <a:off x="281168" y="556282"/>
              <a:ext cx="1003702" cy="3073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>
              <a:lvl1pPr>
                <a:defRPr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/tchat</a:t>
              </a:r>
            </a:p>
          </p:txBody>
        </p:sp>
        <p:grpSp>
          <p:nvGrpSpPr>
            <p:cNvPr id="327" name="Groupe 202"/>
            <p:cNvGrpSpPr/>
            <p:nvPr/>
          </p:nvGrpSpPr>
          <p:grpSpPr>
            <a:xfrm>
              <a:off x="-1" y="0"/>
              <a:ext cx="1134268" cy="632036"/>
              <a:chOff x="0" y="0"/>
              <a:chExt cx="1134266" cy="632035"/>
            </a:xfrm>
          </p:grpSpPr>
          <p:pic>
            <p:nvPicPr>
              <p:cNvPr id="325" name="Image 6" descr="Image 6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0" y="0"/>
                <a:ext cx="713744" cy="6320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26" name="Image 192" descr="Image 192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83019" y="207978"/>
                <a:ext cx="351248" cy="21337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</p:grpSp>
      <p:grpSp>
        <p:nvGrpSpPr>
          <p:cNvPr id="333" name="Groupe 211"/>
          <p:cNvGrpSpPr/>
          <p:nvPr/>
        </p:nvGrpSpPr>
        <p:grpSpPr>
          <a:xfrm>
            <a:off x="6998003" y="2855765"/>
            <a:ext cx="1327672" cy="1005705"/>
            <a:chOff x="0" y="0"/>
            <a:chExt cx="1327671" cy="1005704"/>
          </a:xfrm>
        </p:grpSpPr>
        <p:grpSp>
          <p:nvGrpSpPr>
            <p:cNvPr id="331" name="Groupe 122"/>
            <p:cNvGrpSpPr/>
            <p:nvPr/>
          </p:nvGrpSpPr>
          <p:grpSpPr>
            <a:xfrm>
              <a:off x="129243" y="-1"/>
              <a:ext cx="1198429" cy="1005706"/>
              <a:chOff x="0" y="0"/>
              <a:chExt cx="1198427" cy="1005704"/>
            </a:xfrm>
          </p:grpSpPr>
          <p:pic>
            <p:nvPicPr>
              <p:cNvPr id="329" name="Image 13" descr="Image 13"/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0" y="0"/>
                <a:ext cx="1198428" cy="69836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30" name="ZoneTexte 114"/>
              <p:cNvSpPr txBox="1"/>
              <p:nvPr/>
            </p:nvSpPr>
            <p:spPr>
              <a:xfrm>
                <a:off x="386153" y="698364"/>
                <a:ext cx="519123" cy="3073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45719" tIns="45719" rIns="45719" bIns="45719" numCol="1" anchor="t">
                <a:spAutoFit/>
              </a:bodyPr>
              <a:lstStyle>
                <a:lvl1pPr>
                  <a:defRPr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Front</a:t>
                </a:r>
              </a:p>
            </p:txBody>
          </p:sp>
        </p:grpSp>
        <p:pic>
          <p:nvPicPr>
            <p:cNvPr id="332" name="Image 194" descr="Image 194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0" y="455330"/>
              <a:ext cx="351247" cy="21337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38" name="Groupe 204"/>
          <p:cNvGrpSpPr/>
          <p:nvPr/>
        </p:nvGrpSpPr>
        <p:grpSpPr>
          <a:xfrm>
            <a:off x="4991815" y="2520993"/>
            <a:ext cx="1184279" cy="913434"/>
            <a:chOff x="0" y="0"/>
            <a:chExt cx="1184278" cy="913432"/>
          </a:xfrm>
        </p:grpSpPr>
        <p:grpSp>
          <p:nvGrpSpPr>
            <p:cNvPr id="336" name="Groupe 120"/>
            <p:cNvGrpSpPr/>
            <p:nvPr/>
          </p:nvGrpSpPr>
          <p:grpSpPr>
            <a:xfrm>
              <a:off x="-1" y="27498"/>
              <a:ext cx="1184280" cy="885935"/>
              <a:chOff x="0" y="0"/>
              <a:chExt cx="1184278" cy="885935"/>
            </a:xfrm>
          </p:grpSpPr>
          <p:pic>
            <p:nvPicPr>
              <p:cNvPr id="334" name="Image 4" descr="Image 4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0" y="0"/>
                <a:ext cx="713744" cy="6320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35" name="ZoneTexte 117"/>
              <p:cNvSpPr txBox="1"/>
              <p:nvPr/>
            </p:nvSpPr>
            <p:spPr>
              <a:xfrm>
                <a:off x="546478" y="362695"/>
                <a:ext cx="637801" cy="5232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45719" tIns="45719" rIns="45719" bIns="45719" numCol="1" anchor="t">
                <a:spAutoFit/>
              </a:bodyPr>
              <a:lstStyle/>
              <a:p>
                <a:pPr>
                  <a:defRPr>
                    <a:latin typeface="Inter"/>
                    <a:ea typeface="Inter"/>
                    <a:cs typeface="Inter"/>
                    <a:sym typeface="Inter"/>
                  </a:defRPr>
                </a:pPr>
                <a:r>
                  <a:t>/team</a:t>
                </a:r>
              </a:p>
              <a:p>
                <a:pPr>
                  <a:defRPr>
                    <a:latin typeface="Inter"/>
                    <a:ea typeface="Inter"/>
                    <a:cs typeface="Inter"/>
                    <a:sym typeface="Inter"/>
                  </a:defRPr>
                </a:pPr>
                <a:r>
                  <a:t>/player</a:t>
                </a:r>
              </a:p>
            </p:txBody>
          </p:sp>
        </p:grpSp>
        <p:pic>
          <p:nvPicPr>
            <p:cNvPr id="337" name="Image 196" descr="Image 196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42628" y="0"/>
              <a:ext cx="351248" cy="21337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43" name="Groupe 210"/>
          <p:cNvGrpSpPr/>
          <p:nvPr/>
        </p:nvGrpSpPr>
        <p:grpSpPr>
          <a:xfrm>
            <a:off x="5032095" y="3665180"/>
            <a:ext cx="1348456" cy="632036"/>
            <a:chOff x="0" y="0"/>
            <a:chExt cx="1348454" cy="632035"/>
          </a:xfrm>
        </p:grpSpPr>
        <p:grpSp>
          <p:nvGrpSpPr>
            <p:cNvPr id="341" name="Groupe 121"/>
            <p:cNvGrpSpPr/>
            <p:nvPr/>
          </p:nvGrpSpPr>
          <p:grpSpPr>
            <a:xfrm>
              <a:off x="0" y="0"/>
              <a:ext cx="1348455" cy="632036"/>
              <a:chOff x="0" y="0"/>
              <a:chExt cx="1348454" cy="632035"/>
            </a:xfrm>
          </p:grpSpPr>
          <p:pic>
            <p:nvPicPr>
              <p:cNvPr id="339" name="Image 2" descr="Image 2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0" y="0"/>
                <a:ext cx="713744" cy="6320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40" name="ZoneTexte 115"/>
              <p:cNvSpPr txBox="1"/>
              <p:nvPr/>
            </p:nvSpPr>
            <p:spPr>
              <a:xfrm>
                <a:off x="661255" y="289405"/>
                <a:ext cx="687200" cy="3073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45719" tIns="45719" rIns="45719" bIns="45719" numCol="1" anchor="t">
                <a:spAutoFit/>
              </a:bodyPr>
              <a:lstStyle/>
              <a:p>
                <a:r>
                  <a:t>/</a:t>
                </a:r>
                <a:r>
                  <a:rPr>
                    <a:latin typeface="Inter"/>
                    <a:ea typeface="Inter"/>
                    <a:cs typeface="Inter"/>
                    <a:sym typeface="Inter"/>
                  </a:rPr>
                  <a:t>predict</a:t>
                </a:r>
              </a:p>
            </p:txBody>
          </p:sp>
        </p:grpSp>
        <p:pic>
          <p:nvPicPr>
            <p:cNvPr id="342" name="Image 198" descr="Image 198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18101" y="50390"/>
              <a:ext cx="351248" cy="21337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48" name="Groupe 213"/>
          <p:cNvGrpSpPr/>
          <p:nvPr/>
        </p:nvGrpSpPr>
        <p:grpSpPr>
          <a:xfrm>
            <a:off x="2785854" y="936409"/>
            <a:ext cx="1149385" cy="1137727"/>
            <a:chOff x="0" y="0"/>
            <a:chExt cx="1149383" cy="1137726"/>
          </a:xfrm>
        </p:grpSpPr>
        <p:grpSp>
          <p:nvGrpSpPr>
            <p:cNvPr id="346" name="Groupe 37"/>
            <p:cNvGrpSpPr/>
            <p:nvPr/>
          </p:nvGrpSpPr>
          <p:grpSpPr>
            <a:xfrm>
              <a:off x="209350" y="-1"/>
              <a:ext cx="940034" cy="1137728"/>
              <a:chOff x="0" y="0"/>
              <a:chExt cx="940033" cy="1137726"/>
            </a:xfrm>
          </p:grpSpPr>
          <p:pic>
            <p:nvPicPr>
              <p:cNvPr id="344" name="Image 27" descr="Image 27"/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152389" y="-1"/>
                <a:ext cx="571732" cy="63821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45" name="Image 17" descr="Image 17"/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0" y="555405"/>
                <a:ext cx="940034" cy="58232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347" name="Image 201" descr="Image 201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0" y="419988"/>
              <a:ext cx="351248" cy="21337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Fond Manchester United" descr="Fond Manchester United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-1"/>
            <a:ext cx="9144000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359" name="Google Shape;75;p16"/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5315101" cy="533101"/>
          </a:xfrm>
          <a:prstGeom prst="rect">
            <a:avLst/>
          </a:prstGeom>
        </p:spPr>
        <p:txBody>
          <a:bodyPr/>
          <a:lstStyle>
            <a:lvl1pPr defTabSz="822959">
              <a:defRPr sz="22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Evolutions</a:t>
            </a:r>
          </a:p>
        </p:txBody>
      </p:sp>
      <p:pic>
        <p:nvPicPr>
          <p:cNvPr id="360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5"/>
          </a:xfrm>
          <a:prstGeom prst="rect">
            <a:avLst/>
          </a:prstGeom>
          <a:ln w="12700">
            <a:miter lim="400000"/>
          </a:ln>
        </p:spPr>
      </p:pic>
      <p:sp>
        <p:nvSpPr>
          <p:cNvPr id="361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362" name="ZoneTexte 2"/>
          <p:cNvSpPr txBox="1"/>
          <p:nvPr/>
        </p:nvSpPr>
        <p:spPr>
          <a:xfrm>
            <a:off x="1238384" y="1975181"/>
            <a:ext cx="7036935" cy="16738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Améliorer le LLM (prompt engineering, les pré-remplissages des formulaires sur la vue « custom team »)</a:t>
            </a:r>
          </a:p>
          <a:p>
            <a:pPr>
              <a:lnSpc>
                <a:spcPct val="120000"/>
              </a:lnSpc>
              <a:spcBef>
                <a:spcPts val="300"/>
              </a:spcBef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Amélioration du modèle : Passer à une target « probabilité de gagner un match »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Recherche d’autres sources de données pour jauger mieux les joueurs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Ré-entrainement du modèle dès nouveaux matchs rajoutés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4" name="Fond Bayern Munich" descr="Fond Bayern Munich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-1"/>
            <a:ext cx="9144000" cy="5143502"/>
          </a:xfrm>
          <a:prstGeom prst="rect">
            <a:avLst/>
          </a:prstGeom>
          <a:ln w="12700">
            <a:miter lim="400000"/>
          </a:ln>
        </p:spPr>
      </p:pic>
      <p:sp>
        <p:nvSpPr>
          <p:cNvPr id="365" name="Google Shape;75;p16"/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5315101" cy="533101"/>
          </a:xfrm>
          <a:prstGeom prst="rect">
            <a:avLst/>
          </a:prstGeom>
        </p:spPr>
        <p:txBody>
          <a:bodyPr/>
          <a:lstStyle>
            <a:lvl1pPr defTabSz="822959">
              <a:defRPr sz="22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Conclusion</a:t>
            </a:r>
          </a:p>
        </p:txBody>
      </p:sp>
      <p:pic>
        <p:nvPicPr>
          <p:cNvPr id="366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5"/>
          </a:xfrm>
          <a:prstGeom prst="rect">
            <a:avLst/>
          </a:prstGeom>
          <a:ln w="12700">
            <a:miter lim="400000"/>
          </a:ln>
        </p:spPr>
      </p:pic>
      <p:sp>
        <p:nvSpPr>
          <p:cNvPr id="367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368" name="ZoneTexte 2"/>
          <p:cNvSpPr txBox="1"/>
          <p:nvPr/>
        </p:nvSpPr>
        <p:spPr>
          <a:xfrm>
            <a:off x="1238383" y="1937025"/>
            <a:ext cx="6974090" cy="1907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t>Besoin : assister un entraineur de foot pour former son équipe</a:t>
            </a: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t>Proposition : une application pour l’aider à choisir ses joueurs</a:t>
            </a: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>
              <a:defRPr sz="1100"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t>Plusieurs perspectives d’évolution</a:t>
            </a: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t>Point fort du projet : ETL, EDA, comparaison modèles ML, intégration, déploiement sur Render</a:t>
            </a:r>
          </a:p>
          <a:p>
            <a:pPr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t> 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110;p21"/>
          <p:cNvSpPr txBox="1">
            <a:spLocks noGrp="1"/>
          </p:cNvSpPr>
          <p:nvPr>
            <p:ph type="title"/>
          </p:nvPr>
        </p:nvSpPr>
        <p:spPr>
          <a:xfrm>
            <a:off x="1089725" y="1970775"/>
            <a:ext cx="6269100" cy="698401"/>
          </a:xfrm>
          <a:prstGeom prst="rect">
            <a:avLst/>
          </a:prstGeom>
        </p:spPr>
        <p:txBody>
          <a:bodyPr/>
          <a:lstStyle>
            <a:lvl1pPr defTabSz="576072">
              <a:defRPr sz="3275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Any questions ?</a:t>
            </a:r>
          </a:p>
        </p:txBody>
      </p:sp>
      <p:pic>
        <p:nvPicPr>
          <p:cNvPr id="371" name="Google Shape;111;p21" descr="Google Shape;111;p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8625" y="3006625"/>
            <a:ext cx="4599300" cy="2136876"/>
          </a:xfrm>
          <a:prstGeom prst="rect">
            <a:avLst/>
          </a:prstGeom>
          <a:ln w="12700">
            <a:miter lim="400000"/>
          </a:ln>
        </p:spPr>
      </p:pic>
      <p:pic>
        <p:nvPicPr>
          <p:cNvPr id="372" name="Google Shape;112;p21" descr="Google Shape;112;p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374" y="915775"/>
            <a:ext cx="797426" cy="8398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4" name="Fond logo club" descr="Fond logo club"/>
          <p:cNvPicPr>
            <a:picLocks noChangeAspect="1"/>
          </p:cNvPicPr>
          <p:nvPr/>
        </p:nvPicPr>
        <p:blipFill>
          <a:blip r:embed="rId2">
            <a:alphaModFix amt="22000"/>
          </a:blip>
          <a:srcRect t="21875" b="2187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75" name="Google Shape;75;p16"/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5315101" cy="533101"/>
          </a:xfrm>
          <a:prstGeom prst="rect">
            <a:avLst/>
          </a:prstGeom>
        </p:spPr>
        <p:txBody>
          <a:bodyPr/>
          <a:lstStyle>
            <a:lvl1pPr defTabSz="822959">
              <a:defRPr sz="22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Annexes</a:t>
            </a:r>
          </a:p>
        </p:txBody>
      </p:sp>
      <p:pic>
        <p:nvPicPr>
          <p:cNvPr id="376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5"/>
          </a:xfrm>
          <a:prstGeom prst="rect">
            <a:avLst/>
          </a:prstGeom>
          <a:ln w="12700">
            <a:miter lim="400000"/>
          </a:ln>
        </p:spPr>
      </p:pic>
      <p:sp>
        <p:nvSpPr>
          <p:cNvPr id="377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378" name="ZoneTexte 2"/>
          <p:cNvSpPr txBox="1"/>
          <p:nvPr/>
        </p:nvSpPr>
        <p:spPr>
          <a:xfrm>
            <a:off x="2089324" y="1450335"/>
            <a:ext cx="4484501" cy="7543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500"/>
              </a:spcBef>
              <a:defRPr sz="1100" b="1" spc="6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LES LIENS DU PROJET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https://football-predictor-front.onrender.com/</a:t>
            </a:r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https://github.com/kinpintouche-star/football-predictor</a:t>
            </a:r>
          </a:p>
        </p:txBody>
      </p:sp>
      <p:sp>
        <p:nvSpPr>
          <p:cNvPr id="379" name="ZoneTexte 4"/>
          <p:cNvSpPr txBox="1"/>
          <p:nvPr/>
        </p:nvSpPr>
        <p:spPr>
          <a:xfrm>
            <a:off x="2089324" y="2739058"/>
            <a:ext cx="6646349" cy="99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500"/>
              </a:spcBef>
              <a:defRPr sz="1100" b="1" spc="6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LES SOURCES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https://sofifa.com/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https://github.com/dcaribou/transfermarkt-datasets</a:t>
            </a:r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https://pub-e682421888d945d684bcae8890b0ec20.r2.dev/data/transfermarkt-datasets.zip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75;p16"/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5315101" cy="533101"/>
          </a:xfrm>
          <a:prstGeom prst="rect">
            <a:avLst/>
          </a:prstGeom>
        </p:spPr>
        <p:txBody>
          <a:bodyPr/>
          <a:lstStyle>
            <a:lvl1pPr defTabSz="822959">
              <a:defRPr sz="22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Architecture – templates formes</a:t>
            </a:r>
          </a:p>
        </p:txBody>
      </p:sp>
      <p:pic>
        <p:nvPicPr>
          <p:cNvPr id="382" name="Google Shape;76;p16" descr="Google Shape;76;p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05"/>
          </a:xfrm>
          <a:prstGeom prst="rect">
            <a:avLst/>
          </a:prstGeom>
          <a:ln w="12700">
            <a:miter lim="400000"/>
          </a:ln>
        </p:spPr>
      </p:pic>
      <p:sp>
        <p:nvSpPr>
          <p:cNvPr id="383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384" name="Image 2" descr="Imag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623" y="1716950"/>
            <a:ext cx="759821" cy="698365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87" name="Groupe 35"/>
          <p:cNvGrpSpPr/>
          <p:nvPr/>
        </p:nvGrpSpPr>
        <p:grpSpPr>
          <a:xfrm>
            <a:off x="4261163" y="1653247"/>
            <a:ext cx="1508892" cy="1050891"/>
            <a:chOff x="0" y="0"/>
            <a:chExt cx="1508891" cy="1050889"/>
          </a:xfrm>
        </p:grpSpPr>
        <p:pic>
          <p:nvPicPr>
            <p:cNvPr id="385" name="Image 6" descr="Image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0"/>
              <a:ext cx="1508892" cy="76206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86" name="ZoneTexte 7"/>
            <p:cNvSpPr txBox="1"/>
            <p:nvPr/>
          </p:nvSpPr>
          <p:spPr>
            <a:xfrm>
              <a:off x="345738" y="762066"/>
              <a:ext cx="779313" cy="2888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r>
                <a:t>Tracking</a:t>
              </a:r>
            </a:p>
          </p:txBody>
        </p:sp>
      </p:grpSp>
      <p:grpSp>
        <p:nvGrpSpPr>
          <p:cNvPr id="390" name="Groupe 34"/>
          <p:cNvGrpSpPr/>
          <p:nvPr/>
        </p:nvGrpSpPr>
        <p:grpSpPr>
          <a:xfrm>
            <a:off x="5770055" y="1653247"/>
            <a:ext cx="1508892" cy="1050891"/>
            <a:chOff x="0" y="0"/>
            <a:chExt cx="1508891" cy="1050889"/>
          </a:xfrm>
        </p:grpSpPr>
        <p:pic>
          <p:nvPicPr>
            <p:cNvPr id="388" name="Image 9" descr="Image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0"/>
              <a:ext cx="1508892" cy="76206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89" name="ZoneTexte 11"/>
            <p:cNvSpPr txBox="1"/>
            <p:nvPr/>
          </p:nvSpPr>
          <p:spPr>
            <a:xfrm>
              <a:off x="345739" y="762066"/>
              <a:ext cx="588402" cy="2888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r>
                <a:t>Model</a:t>
              </a:r>
            </a:p>
          </p:txBody>
        </p:sp>
      </p:grpSp>
      <p:pic>
        <p:nvPicPr>
          <p:cNvPr id="391" name="Image 13" descr="Imag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622" y="1680726"/>
            <a:ext cx="1143100" cy="1219307"/>
          </a:xfrm>
          <a:prstGeom prst="rect">
            <a:avLst/>
          </a:prstGeom>
          <a:ln w="12700">
            <a:miter lim="400000"/>
          </a:ln>
        </p:spPr>
      </p:pic>
      <p:pic>
        <p:nvPicPr>
          <p:cNvPr id="392" name="Image 19" descr="Image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9570" y="2928402"/>
            <a:ext cx="1198428" cy="698365"/>
          </a:xfrm>
          <a:prstGeom prst="rect">
            <a:avLst/>
          </a:prstGeom>
          <a:ln w="12700">
            <a:miter lim="400000"/>
          </a:ln>
        </p:spPr>
      </p:pic>
      <p:pic>
        <p:nvPicPr>
          <p:cNvPr id="393" name="Image 21" descr="Imag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2757" y="3564866"/>
            <a:ext cx="713744" cy="632036"/>
          </a:xfrm>
          <a:prstGeom prst="rect">
            <a:avLst/>
          </a:prstGeom>
          <a:ln w="12700">
            <a:miter lim="400000"/>
          </a:ln>
        </p:spPr>
      </p:pic>
      <p:pic>
        <p:nvPicPr>
          <p:cNvPr id="394" name="Image 23" descr="Image 2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83493" y="3663756"/>
            <a:ext cx="940034" cy="582322"/>
          </a:xfrm>
          <a:prstGeom prst="rect">
            <a:avLst/>
          </a:prstGeom>
          <a:ln w="12700">
            <a:miter lim="400000"/>
          </a:ln>
        </p:spPr>
      </p:pic>
      <p:pic>
        <p:nvPicPr>
          <p:cNvPr id="395" name="Image 25" descr="Image 2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5183" y="3812004"/>
            <a:ext cx="1010880" cy="319060"/>
          </a:xfrm>
          <a:prstGeom prst="rect">
            <a:avLst/>
          </a:prstGeom>
          <a:ln w="12700">
            <a:miter lim="400000"/>
          </a:ln>
        </p:spPr>
      </p:pic>
      <p:pic>
        <p:nvPicPr>
          <p:cNvPr id="396" name="Image 27" descr="Image 2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24293" y="3542217"/>
            <a:ext cx="728055" cy="599033"/>
          </a:xfrm>
          <a:prstGeom prst="rect">
            <a:avLst/>
          </a:prstGeom>
          <a:ln w="12700">
            <a:miter lim="400000"/>
          </a:ln>
        </p:spPr>
      </p:pic>
      <p:pic>
        <p:nvPicPr>
          <p:cNvPr id="397" name="Image 29" descr="Image 29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34663" y="3669243"/>
            <a:ext cx="571732" cy="638212"/>
          </a:xfrm>
          <a:prstGeom prst="rect">
            <a:avLst/>
          </a:prstGeom>
          <a:ln w="12700">
            <a:miter lim="400000"/>
          </a:ln>
        </p:spPr>
      </p:pic>
      <p:pic>
        <p:nvPicPr>
          <p:cNvPr id="398" name="Image 31" descr="Image 3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17029" y="3666204"/>
            <a:ext cx="844692" cy="530697"/>
          </a:xfrm>
          <a:prstGeom prst="rect">
            <a:avLst/>
          </a:prstGeom>
          <a:ln w="12700">
            <a:miter lim="400000"/>
          </a:ln>
        </p:spPr>
      </p:pic>
      <p:pic>
        <p:nvPicPr>
          <p:cNvPr id="399" name="Image 33" descr="Image 3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66616" y="2831400"/>
            <a:ext cx="1196483" cy="577613"/>
          </a:xfrm>
          <a:prstGeom prst="rect">
            <a:avLst/>
          </a:prstGeom>
          <a:ln w="12700">
            <a:miter lim="400000"/>
          </a:ln>
        </p:spPr>
      </p:pic>
      <p:pic>
        <p:nvPicPr>
          <p:cNvPr id="400" name="Image 37" descr="Image 3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3047" y="2520892"/>
            <a:ext cx="699802" cy="627208"/>
          </a:xfrm>
          <a:prstGeom prst="rect">
            <a:avLst/>
          </a:prstGeom>
          <a:ln w="12700">
            <a:miter lim="400000"/>
          </a:ln>
        </p:spPr>
      </p:pic>
      <p:pic>
        <p:nvPicPr>
          <p:cNvPr id="401" name="Image 3" descr="Image 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7363" y="3635006"/>
            <a:ext cx="759821" cy="778353"/>
          </a:xfrm>
          <a:prstGeom prst="rect">
            <a:avLst/>
          </a:prstGeom>
          <a:ln w="12700">
            <a:miter lim="400000"/>
          </a:ln>
        </p:spPr>
      </p:pic>
      <p:sp>
        <p:nvSpPr>
          <p:cNvPr id="402" name="Fleche FastAPI vers Render"/>
          <p:cNvSpPr/>
          <p:nvPr/>
        </p:nvSpPr>
        <p:spPr>
          <a:xfrm flipH="1" flipV="1">
            <a:off x="256105" y="1530718"/>
            <a:ext cx="1353686" cy="420001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03" name="Image 8" descr="Image 8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36114" y="2855183"/>
            <a:ext cx="707867" cy="681970"/>
          </a:xfrm>
          <a:prstGeom prst="rect">
            <a:avLst/>
          </a:prstGeom>
          <a:ln w="12700">
            <a:miter lim="400000"/>
          </a:ln>
        </p:spPr>
      </p:pic>
      <p:pic>
        <p:nvPicPr>
          <p:cNvPr id="404" name="Image 12" descr="Image 12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151661" y="2901642"/>
            <a:ext cx="301643" cy="183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405" name="Image 16" descr="Image 1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16589" y="2709552"/>
            <a:ext cx="759821" cy="41065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578</Words>
  <Application>Microsoft Office PowerPoint</Application>
  <PresentationFormat>Affichage à l'écran (16:9)</PresentationFormat>
  <Paragraphs>109</Paragraphs>
  <Slides>16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19" baseType="lpstr">
      <vt:lpstr>Arial</vt:lpstr>
      <vt:lpstr>Inter</vt:lpstr>
      <vt:lpstr>Simple Light</vt:lpstr>
      <vt:lpstr>Your Tech Bootcamp</vt:lpstr>
      <vt:lpstr>Group members    Franck IDDA Hugo PIERRE Safidy RAMAHERISON</vt:lpstr>
      <vt:lpstr>Pitch</vt:lpstr>
      <vt:lpstr>Description du modèle</vt:lpstr>
      <vt:lpstr>Football predictor application</vt:lpstr>
      <vt:lpstr>Démonstration de l’application</vt:lpstr>
      <vt:lpstr>ETL, EDA et choix de données modèle</vt:lpstr>
      <vt:lpstr>ETL : données passent par trois niveaux clairs</vt:lpstr>
      <vt:lpstr>EDA : sécurise le dataset d'entraînement </vt:lpstr>
      <vt:lpstr>Architecture - Entrainement</vt:lpstr>
      <vt:lpstr>Architecture - Inference</vt:lpstr>
      <vt:lpstr>Evolutions</vt:lpstr>
      <vt:lpstr>Conclusion</vt:lpstr>
      <vt:lpstr>Any questions ?</vt:lpstr>
      <vt:lpstr>Annexes</vt:lpstr>
      <vt:lpstr>Architecture – templates formes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Franck IDDA</cp:lastModifiedBy>
  <cp:revision>3</cp:revision>
  <dcterms:modified xsi:type="dcterms:W3CDTF">2026-07-30T09:22:23Z</dcterms:modified>
</cp:coreProperties>
</file>