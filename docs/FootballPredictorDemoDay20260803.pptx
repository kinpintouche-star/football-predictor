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2CD"/>
          </a:solidFill>
        </a:fill>
      </a:tcStyle>
    </a:wholeTbl>
    <a:band2H>
      <a:tcTxStyle b="def" i="def"/>
      <a:tcStyle>
        <a:tcBdr/>
        <a:fill>
          <a:solidFill>
            <a:srgbClr val="FF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6" name="Shape 11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11708" y="744573"/>
            <a:ext cx="8520601" cy="2052604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11698" y="2834125"/>
            <a:ext cx="8520604" cy="792603"/>
          </a:xfrm>
          <a:prstGeom prst="rect">
            <a:avLst/>
          </a:prstGeom>
        </p:spPr>
        <p:txBody>
          <a:bodyPr/>
          <a:lstStyle>
            <a:lvl1pPr marL="114300" indent="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1143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1143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1143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1143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11698" y="2150847"/>
            <a:ext cx="8520604" cy="841803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11698" y="1152475"/>
            <a:ext cx="3999904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7" y="1152475"/>
            <a:ext cx="3999905" cy="34164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11698" y="555600"/>
            <a:ext cx="2808004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11698" y="1389598"/>
            <a:ext cx="2808004" cy="3179404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490250" y="450148"/>
            <a:ext cx="6367801" cy="4090804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7"/>
            <a:ext cx="4572000" cy="5143505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114300" indent="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1143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1143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1143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1143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3"/>
            <a:ext cx="3837000" cy="3695105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11698" y="4230575"/>
            <a:ext cx="5998804" cy="605103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 marL="1233714" indent="-408213">
              <a:lnSpc>
                <a:spcPct val="100000"/>
              </a:lnSpc>
              <a:buClrTx/>
              <a:buFontTx/>
            </a:lvl2pPr>
            <a:lvl3pPr marL="1690914">
              <a:lnSpc>
                <a:spcPct val="100000"/>
              </a:lnSpc>
              <a:buClrTx/>
              <a:buFontTx/>
            </a:lvl3pPr>
            <a:lvl4pPr marL="2148114">
              <a:lnSpc>
                <a:spcPct val="100000"/>
              </a:lnSpc>
              <a:buClrTx/>
              <a:buFontTx/>
            </a:lvl4pPr>
            <a:lvl5pPr marL="2605314"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8" y="1106125"/>
            <a:ext cx="8520604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11698" y="3152225"/>
            <a:ext cx="8520604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Text"/>
          <p:cNvSpPr txBox="1"/>
          <p:nvPr>
            <p:ph type="title"/>
          </p:nvPr>
        </p:nvSpPr>
        <p:spPr>
          <a:xfrm>
            <a:off x="311698" y="445025"/>
            <a:ext cx="8520604" cy="572703"/>
          </a:xfrm>
          <a:prstGeom prst="rect">
            <a:avLst/>
          </a:prstGeom>
        </p:spPr>
        <p:txBody>
          <a:bodyPr lIns="91421" tIns="91421" rIns="91421" bIns="91421"/>
          <a:lstStyle/>
          <a:p>
            <a:pPr/>
            <a:r>
              <a:t>Title Text</a:t>
            </a:r>
          </a:p>
        </p:txBody>
      </p:sp>
      <p:sp>
        <p:nvSpPr>
          <p:cNvPr id="108" name="Body Level One…"/>
          <p:cNvSpPr txBox="1"/>
          <p:nvPr>
            <p:ph type="body" idx="1"/>
          </p:nvPr>
        </p:nvSpPr>
        <p:spPr>
          <a:xfrm>
            <a:off x="311698" y="1152475"/>
            <a:ext cx="8520604" cy="3416400"/>
          </a:xfrm>
          <a:prstGeom prst="rect">
            <a:avLst/>
          </a:prstGeom>
        </p:spPr>
        <p:txBody>
          <a:bodyPr lIns="91421" tIns="91421" rIns="91421" bIns="91421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9" name="Slide Number"/>
          <p:cNvSpPr txBox="1"/>
          <p:nvPr>
            <p:ph type="sldNum" sz="quarter" idx="2"/>
          </p:nvPr>
        </p:nvSpPr>
        <p:spPr>
          <a:xfrm>
            <a:off x="8684354" y="4700822"/>
            <a:ext cx="336808" cy="318390"/>
          </a:xfrm>
          <a:prstGeom prst="rect">
            <a:avLst/>
          </a:prstGeom>
        </p:spPr>
        <p:txBody>
          <a:bodyPr lIns="91421" tIns="91421" rIns="91421" bIns="91421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11698" y="445025"/>
            <a:ext cx="8520604" cy="572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2" tIns="91422" rIns="91422" bIns="91422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11698" y="1152475"/>
            <a:ext cx="8520604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2" tIns="91422" rIns="91422" bIns="91422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9" y="4700821"/>
            <a:ext cx="336810" cy="318392"/>
          </a:xfrm>
          <a:prstGeom prst="rect">
            <a:avLst/>
          </a:prstGeom>
          <a:ln w="12700">
            <a:miter lim="400000"/>
          </a:ln>
        </p:spPr>
        <p:txBody>
          <a:bodyPr wrap="none" lIns="91422" tIns="91422" rIns="91422" bIns="91422" anchor="ctr">
            <a:spAutoFit/>
          </a:bodyPr>
          <a:lstStyle>
            <a:lvl1pPr algn="r">
              <a:defRPr sz="1000">
                <a:solidFill>
                  <a:srgbClr val="585858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6pPr>
      <a:lvl7pPr marL="3291113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7pPr>
      <a:lvl8pPr marL="3748313" marR="0" indent="-4082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8pPr>
      <a:lvl9pPr marL="4205513" marR="0" indent="-4082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rgbClr val="585858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hyperlink" Target="https://drive.google.com/file/d/1oMiwZBqVqKz6yZRbg1b6JHPmj1MoXQ21/view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10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eg"/><Relationship Id="rId3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Relationship Id="rId3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e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e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22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eg"/><Relationship Id="rId3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eg"/><Relationship Id="rId3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3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eg"/><Relationship Id="rId3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24.png"/><Relationship Id="rId7" Type="http://schemas.openxmlformats.org/officeDocument/2006/relationships/image" Target="../media/image23.png"/><Relationship Id="rId8" Type="http://schemas.openxmlformats.org/officeDocument/2006/relationships/image" Target="../media/image26.png"/><Relationship Id="rId9" Type="http://schemas.openxmlformats.org/officeDocument/2006/relationships/image" Target="../media/image21.png"/><Relationship Id="rId10" Type="http://schemas.openxmlformats.org/officeDocument/2006/relationships/image" Target="../media/image18.png"/><Relationship Id="rId11" Type="http://schemas.openxmlformats.org/officeDocument/2006/relationships/image" Target="../media/image25.png"/><Relationship Id="rId12" Type="http://schemas.openxmlformats.org/officeDocument/2006/relationships/image" Target="../media/image15.png"/><Relationship Id="rId13" Type="http://schemas.openxmlformats.org/officeDocument/2006/relationships/image" Target="../media/image13.png"/><Relationship Id="rId14" Type="http://schemas.openxmlformats.org/officeDocument/2006/relationships/image" Target="../media/image16.png"/><Relationship Id="rId15" Type="http://schemas.openxmlformats.org/officeDocument/2006/relationships/image" Target="../media/image12.png"/><Relationship Id="rId16" Type="http://schemas.openxmlformats.org/officeDocument/2006/relationships/image" Target="../media/image22.png"/><Relationship Id="rId17" Type="http://schemas.openxmlformats.org/officeDocument/2006/relationships/image" Target="../media/image19.png"/><Relationship Id="rId18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FDA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54;p13"/>
          <p:cNvSpPr txBox="1"/>
          <p:nvPr>
            <p:ph type="ctrTitle"/>
          </p:nvPr>
        </p:nvSpPr>
        <p:spPr>
          <a:xfrm>
            <a:off x="1718098" y="866768"/>
            <a:ext cx="6478204" cy="617702"/>
          </a:xfrm>
          <a:prstGeom prst="rect">
            <a:avLst/>
          </a:prstGeom>
        </p:spPr>
        <p:txBody>
          <a:bodyPr/>
          <a:lstStyle>
            <a:lvl1pPr algn="l">
              <a:defRPr sz="2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Your Tech Bootcamp</a:t>
            </a:r>
          </a:p>
        </p:txBody>
      </p:sp>
      <p:pic>
        <p:nvPicPr>
          <p:cNvPr id="119" name="Google Shape;55;p13" descr="Google Shape;55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4500" y="795925"/>
            <a:ext cx="721025" cy="759376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Google Shape;56;p13"/>
          <p:cNvSpPr txBox="1"/>
          <p:nvPr/>
        </p:nvSpPr>
        <p:spPr>
          <a:xfrm>
            <a:off x="844499" y="2225275"/>
            <a:ext cx="7271702" cy="92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2" tIns="91422" rIns="91422" bIns="91422" anchor="b">
            <a:normAutofit fontScale="100000" lnSpcReduction="0"/>
          </a:bodyPr>
          <a:lstStyle>
            <a:lvl1pPr>
              <a:defRPr sz="40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Group # - FootBall Predictor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61;p14"/>
          <p:cNvSpPr/>
          <p:nvPr/>
        </p:nvSpPr>
        <p:spPr>
          <a:xfrm>
            <a:off x="5500" y="-17777"/>
            <a:ext cx="3335400" cy="5161204"/>
          </a:xfrm>
          <a:prstGeom prst="rect">
            <a:avLst/>
          </a:prstGeom>
          <a:solidFill>
            <a:srgbClr val="C3FF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23" name="Google Shape;62;p14"/>
          <p:cNvSpPr txBox="1"/>
          <p:nvPr>
            <p:ph type="title"/>
          </p:nvPr>
        </p:nvSpPr>
        <p:spPr>
          <a:xfrm>
            <a:off x="390596" y="1138673"/>
            <a:ext cx="2513109" cy="3458105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Group members</a:t>
            </a:r>
          </a:p>
          <a:p>
            <a:pPr>
              <a:defRPr sz="24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>
              <a:defRPr sz="15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>
              <a:defRPr sz="15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>
              <a:defRPr sz="15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Franck IDDA</a:t>
            </a:r>
          </a:p>
          <a:p>
            <a:pPr>
              <a:defRPr sz="15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Hugo PIERRE</a:t>
            </a:r>
          </a:p>
          <a:p>
            <a:pPr>
              <a:defRPr sz="15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Safidy RAMAHERISON</a:t>
            </a:r>
          </a:p>
        </p:txBody>
      </p:sp>
      <p:pic>
        <p:nvPicPr>
          <p:cNvPr id="124" name="Google Shape;63;p14" descr="Google Shape;63;p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3375" y="482852"/>
            <a:ext cx="576901" cy="3859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05986" y="1081707"/>
            <a:ext cx="5018376" cy="29622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"/>
          <p:cNvSpPr txBox="1"/>
          <p:nvPr>
            <p:ph type="title"/>
          </p:nvPr>
        </p:nvSpPr>
        <p:spPr>
          <a:xfrm>
            <a:off x="1192661" y="403305"/>
            <a:ext cx="5315107" cy="533107"/>
          </a:xfrm>
          <a:prstGeom prst="rect">
            <a:avLst/>
          </a:prstGeom>
        </p:spPr>
        <p:txBody>
          <a:bodyPr/>
          <a:lstStyle>
            <a:lvl1pPr defTabSz="822958">
              <a:defRPr sz="2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Pitch</a:t>
            </a:r>
          </a:p>
        </p:txBody>
      </p:sp>
      <p:pic>
        <p:nvPicPr>
          <p:cNvPr id="128" name="logo" descr="log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3375" y="482852"/>
            <a:ext cx="576901" cy="385908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bar"/>
          <p:cNvSpPr/>
          <p:nvPr/>
        </p:nvSpPr>
        <p:spPr>
          <a:xfrm>
            <a:off x="10224" y="4892025"/>
            <a:ext cx="9144001" cy="251400"/>
          </a:xfrm>
          <a:prstGeom prst="rect">
            <a:avLst/>
          </a:prstGeom>
          <a:solidFill>
            <a:srgbClr val="C3FF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30" name="motiv"/>
          <p:cNvSpPr/>
          <p:nvPr/>
        </p:nvSpPr>
        <p:spPr>
          <a:xfrm>
            <a:off x="550000" y="1149998"/>
            <a:ext cx="8044000" cy="1150003"/>
          </a:xfrm>
          <a:prstGeom prst="roundRect">
            <a:avLst>
              <a:gd name="adj" fmla="val 7000"/>
            </a:avLst>
          </a:prstGeom>
          <a:solidFill>
            <a:srgbClr val="EAF2F6"/>
          </a:solidFill>
          <a:ln w="12700">
            <a:miter lim="400000"/>
          </a:ln>
          <a:effectLst>
            <a:outerShdw sx="100000" sy="100000" kx="0" ky="0" algn="b" rotWithShape="0" blurRad="88900" dist="26000" dir="5400000">
              <a:srgbClr val="0E3449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31" name="mcirc"/>
          <p:cNvSpPr/>
          <p:nvPr/>
        </p:nvSpPr>
        <p:spPr>
          <a:xfrm>
            <a:off x="849998" y="1384998"/>
            <a:ext cx="680005" cy="680005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pic>
        <p:nvPicPr>
          <p:cNvPr id="132" name="micon" descr="m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90000" y="1525000"/>
            <a:ext cx="400003" cy="400003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mtext"/>
          <p:cNvSpPr txBox="1"/>
          <p:nvPr/>
        </p:nvSpPr>
        <p:spPr>
          <a:xfrm>
            <a:off x="1827999" y="1309999"/>
            <a:ext cx="6448003" cy="830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 anchor="ctr">
            <a:normAutofit fontScale="100000" lnSpcReduction="0"/>
          </a:bodyPr>
          <a:lstStyle/>
          <a:p>
            <a:pPr>
              <a:spcBef>
                <a:spcPts val="300"/>
              </a:spcBef>
              <a:defRPr b="1" sz="13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  <a:r>
              <a:t>Notre objectif</a:t>
            </a:r>
          </a:p>
          <a:p>
            <a:pPr>
              <a:spcBef>
                <a:spcPts val="300"/>
              </a:spcBef>
              <a:defRPr b="1" sz="13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  <a:r>
              <a:t>Aider les entraîneurs à prendre les meilleures décisions grâce à la data</a:t>
            </a:r>
          </a:p>
        </p:txBody>
      </p:sp>
      <p:sp>
        <p:nvSpPr>
          <p:cNvPr id="134" name="card"/>
          <p:cNvSpPr/>
          <p:nvPr/>
        </p:nvSpPr>
        <p:spPr>
          <a:xfrm>
            <a:off x="550000" y="2470000"/>
            <a:ext cx="3872001" cy="2130002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sx="100000" sy="100000" kx="0" ky="0" algn="b" rotWithShape="0" blurRad="88900" dist="26000" dir="5400000">
              <a:srgbClr val="0E3449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35" name="card"/>
          <p:cNvSpPr/>
          <p:nvPr/>
        </p:nvSpPr>
        <p:spPr>
          <a:xfrm>
            <a:off x="4722000" y="2470000"/>
            <a:ext cx="3872003" cy="2130002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sx="100000" sy="100000" kx="0" ky="0" algn="b" rotWithShape="0" blurRad="88900" dist="26000" dir="5400000">
              <a:srgbClr val="0E3449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36" name="ccirc"/>
          <p:cNvSpPr/>
          <p:nvPr/>
        </p:nvSpPr>
        <p:spPr>
          <a:xfrm>
            <a:off x="849998" y="2769997"/>
            <a:ext cx="640005" cy="640005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37" name="ccirc"/>
          <p:cNvSpPr/>
          <p:nvPr/>
        </p:nvSpPr>
        <p:spPr>
          <a:xfrm>
            <a:off x="5022000" y="2769997"/>
            <a:ext cx="640005" cy="640005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pic>
        <p:nvPicPr>
          <p:cNvPr id="138" name="cicon" descr="c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79998" y="2899997"/>
            <a:ext cx="380004" cy="3800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cicon" descr="c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151999" y="2899997"/>
            <a:ext cx="380003" cy="380003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ctitle"/>
          <p:cNvSpPr txBox="1"/>
          <p:nvPr/>
        </p:nvSpPr>
        <p:spPr>
          <a:xfrm>
            <a:off x="1727998" y="2769997"/>
            <a:ext cx="2376004" cy="640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 anchor="ctr">
            <a:normAutofit fontScale="100000" lnSpcReduction="0"/>
          </a:bodyPr>
          <a:lstStyle>
            <a:lvl1pPr>
              <a:defRPr b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Notre solution</a:t>
            </a:r>
          </a:p>
        </p:txBody>
      </p:sp>
      <p:sp>
        <p:nvSpPr>
          <p:cNvPr id="141" name="cdesc"/>
          <p:cNvSpPr txBox="1"/>
          <p:nvPr/>
        </p:nvSpPr>
        <p:spPr>
          <a:xfrm>
            <a:off x="867999" y="3549998"/>
            <a:ext cx="3236003" cy="750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>
            <a:normAutofit fontScale="100000" lnSpcReduction="0"/>
          </a:bodyPr>
          <a:lstStyle>
            <a:lvl1pPr>
              <a:defRPr sz="11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Une appli qui exploite les données du foot moderne pour prédire l’issue d’un match, à partir des infos équipes, joueurs et résultats des championnats européens.</a:t>
            </a:r>
          </a:p>
        </p:txBody>
      </p:sp>
      <p:sp>
        <p:nvSpPr>
          <p:cNvPr id="142" name="ctitle"/>
          <p:cNvSpPr txBox="1"/>
          <p:nvPr/>
        </p:nvSpPr>
        <p:spPr>
          <a:xfrm>
            <a:off x="5899999" y="2769997"/>
            <a:ext cx="2376004" cy="640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 anchor="ctr">
            <a:normAutofit fontScale="100000" lnSpcReduction="0"/>
          </a:bodyPr>
          <a:lstStyle>
            <a:lvl1pPr>
              <a:defRPr b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Pour qui ?</a:t>
            </a:r>
          </a:p>
        </p:txBody>
      </p:sp>
      <p:sp>
        <p:nvSpPr>
          <p:cNvPr id="143" name="cdesc"/>
          <p:cNvSpPr txBox="1"/>
          <p:nvPr/>
        </p:nvSpPr>
        <p:spPr>
          <a:xfrm>
            <a:off x="5040000" y="3549998"/>
            <a:ext cx="3236003" cy="750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>
            <a:normAutofit fontScale="100000" lnSpcReduction="0"/>
          </a:bodyPr>
          <a:lstStyle/>
          <a:p>
            <a:pPr marL="110289" indent="-110289">
              <a:buSzPct val="100000"/>
              <a:buChar char="•"/>
              <a:defRPr sz="11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  <a:r>
              <a:t>Les entraîneurs, pour optimiser leur composition et leur stratégie de recrutement.</a:t>
            </a:r>
          </a:p>
          <a:p>
            <a:pPr marL="110289" indent="-110289">
              <a:buSzPct val="100000"/>
              <a:buChar char="•"/>
              <a:defRPr sz="11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  <a:r>
              <a:t>Les détecteurs et chasseurs de tête, pour repérer les joueurs à fort potentiel.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68;p15"/>
          <p:cNvSpPr txBox="1"/>
          <p:nvPr>
            <p:ph type="title"/>
          </p:nvPr>
        </p:nvSpPr>
        <p:spPr>
          <a:xfrm>
            <a:off x="1192661" y="403305"/>
            <a:ext cx="5315107" cy="533107"/>
          </a:xfrm>
          <a:prstGeom prst="rect">
            <a:avLst/>
          </a:prstGeom>
        </p:spPr>
        <p:txBody>
          <a:bodyPr/>
          <a:lstStyle>
            <a:lvl1pPr defTabSz="822958">
              <a:defRPr sz="2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Description du modèle</a:t>
            </a:r>
          </a:p>
        </p:txBody>
      </p:sp>
      <p:sp>
        <p:nvSpPr>
          <p:cNvPr id="146" name="Google Shape;69;p15"/>
          <p:cNvSpPr/>
          <p:nvPr/>
        </p:nvSpPr>
        <p:spPr>
          <a:xfrm>
            <a:off x="10224" y="4892025"/>
            <a:ext cx="9144001" cy="251400"/>
          </a:xfrm>
          <a:prstGeom prst="rect">
            <a:avLst/>
          </a:prstGeom>
          <a:solidFill>
            <a:srgbClr val="C3FF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pic>
        <p:nvPicPr>
          <p:cNvPr id="147" name="Google Shape;70;p15" descr="Google Shape;70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3375" y="482852"/>
            <a:ext cx="576901" cy="385908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fcard"/>
          <p:cNvSpPr/>
          <p:nvPr/>
        </p:nvSpPr>
        <p:spPr>
          <a:xfrm>
            <a:off x="550000" y="1646749"/>
            <a:ext cx="2441334" cy="1850004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sx="100000" sy="100000" kx="0" ky="0" algn="b" rotWithShape="0" blurRad="88900" dist="26000" dir="5400000">
              <a:srgbClr val="0E3449">
                <a:alpha val="13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49" name="fcard"/>
          <p:cNvSpPr/>
          <p:nvPr/>
        </p:nvSpPr>
        <p:spPr>
          <a:xfrm>
            <a:off x="3351333" y="1646749"/>
            <a:ext cx="2441334" cy="1850004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sx="100000" sy="100000" kx="0" ky="0" algn="b" rotWithShape="0" blurRad="88900" dist="26000" dir="5400000">
              <a:srgbClr val="0E3449">
                <a:alpha val="13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50" name="fcard"/>
          <p:cNvSpPr/>
          <p:nvPr/>
        </p:nvSpPr>
        <p:spPr>
          <a:xfrm>
            <a:off x="6152665" y="1646749"/>
            <a:ext cx="2441336" cy="1850004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sx="100000" sy="100000" kx="0" ky="0" algn="b" rotWithShape="0" blurRad="88900" dist="26000" dir="5400000">
              <a:srgbClr val="0E3449">
                <a:alpha val="13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51" name="arrow304"/>
          <p:cNvSpPr/>
          <p:nvPr/>
        </p:nvSpPr>
        <p:spPr>
          <a:xfrm>
            <a:off x="3041331" y="2066749"/>
            <a:ext cx="260004" cy="120003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BB4C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52" name="arrow305"/>
          <p:cNvSpPr/>
          <p:nvPr/>
        </p:nvSpPr>
        <p:spPr>
          <a:xfrm>
            <a:off x="5842665" y="2066749"/>
            <a:ext cx="260003" cy="120003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BB4C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53" name="fcirc"/>
          <p:cNvSpPr/>
          <p:nvPr/>
        </p:nvSpPr>
        <p:spPr>
          <a:xfrm>
            <a:off x="1460665" y="1816748"/>
            <a:ext cx="620005" cy="620005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54" name="fcirc"/>
          <p:cNvSpPr/>
          <p:nvPr/>
        </p:nvSpPr>
        <p:spPr>
          <a:xfrm>
            <a:off x="4261999" y="1816748"/>
            <a:ext cx="620005" cy="620005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55" name="fcirc"/>
          <p:cNvSpPr/>
          <p:nvPr/>
        </p:nvSpPr>
        <p:spPr>
          <a:xfrm>
            <a:off x="7063330" y="1816748"/>
            <a:ext cx="620005" cy="620005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pic>
        <p:nvPicPr>
          <p:cNvPr id="156" name="ficon" descr="f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80666" y="1936749"/>
            <a:ext cx="380003" cy="3800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" name="ficon" descr="f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81998" y="1936749"/>
            <a:ext cx="380003" cy="3800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ficon" descr="f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183332" y="1936749"/>
            <a:ext cx="380003" cy="380003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flab"/>
          <p:cNvSpPr txBox="1"/>
          <p:nvPr/>
        </p:nvSpPr>
        <p:spPr>
          <a:xfrm>
            <a:off x="638000" y="2546749"/>
            <a:ext cx="2265336" cy="300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 anchor="ctr">
            <a:normAutofit fontScale="100000" lnSpcReduction="0"/>
          </a:bodyPr>
          <a:lstStyle>
            <a:lvl1pPr algn="ctr">
              <a:defRPr b="1" sz="13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Les données</a:t>
            </a:r>
          </a:p>
        </p:txBody>
      </p:sp>
      <p:sp>
        <p:nvSpPr>
          <p:cNvPr id="160" name="fsub"/>
          <p:cNvSpPr txBox="1"/>
          <p:nvPr/>
        </p:nvSpPr>
        <p:spPr>
          <a:xfrm>
            <a:off x="657998" y="2886748"/>
            <a:ext cx="2225338" cy="540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>
            <a:normAutofit fontScale="100000" lnSpcReduction="0"/>
          </a:bodyPr>
          <a:lstStyle>
            <a:lvl1pPr algn="ctr">
              <a:defRPr sz="10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matchs, équipes et joueurs des championnats européens</a:t>
            </a:r>
          </a:p>
        </p:txBody>
      </p:sp>
      <p:sp>
        <p:nvSpPr>
          <p:cNvPr id="161" name="flab"/>
          <p:cNvSpPr txBox="1"/>
          <p:nvPr/>
        </p:nvSpPr>
        <p:spPr>
          <a:xfrm>
            <a:off x="3439333" y="2546749"/>
            <a:ext cx="2265336" cy="300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 anchor="ctr">
            <a:normAutofit fontScale="100000" lnSpcReduction="0"/>
          </a:bodyPr>
          <a:lstStyle>
            <a:lvl1pPr algn="ctr">
              <a:defRPr b="1" sz="13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Le modèle</a:t>
            </a:r>
          </a:p>
        </p:txBody>
      </p:sp>
      <p:sp>
        <p:nvSpPr>
          <p:cNvPr id="162" name="fsub"/>
          <p:cNvSpPr txBox="1"/>
          <p:nvPr/>
        </p:nvSpPr>
        <p:spPr>
          <a:xfrm>
            <a:off x="3459331" y="2886748"/>
            <a:ext cx="2225337" cy="540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>
            <a:normAutofit fontScale="100000" lnSpcReduction="0"/>
          </a:bodyPr>
          <a:lstStyle>
            <a:lvl1pPr algn="ctr">
              <a:defRPr sz="10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à partir des notes FIFA 26 des joueurs</a:t>
            </a:r>
          </a:p>
        </p:txBody>
      </p:sp>
      <p:sp>
        <p:nvSpPr>
          <p:cNvPr id="163" name="flab"/>
          <p:cNvSpPr txBox="1"/>
          <p:nvPr/>
        </p:nvSpPr>
        <p:spPr>
          <a:xfrm>
            <a:off x="6240664" y="2546749"/>
            <a:ext cx="2265336" cy="300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 anchor="ctr">
            <a:normAutofit fontScale="100000" lnSpcReduction="0"/>
          </a:bodyPr>
          <a:lstStyle>
            <a:lvl1pPr algn="ctr">
              <a:defRPr b="1" sz="13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La prédiction</a:t>
            </a:r>
          </a:p>
        </p:txBody>
      </p:sp>
      <p:sp>
        <p:nvSpPr>
          <p:cNvPr id="164" name="fsub"/>
          <p:cNvSpPr txBox="1"/>
          <p:nvPr/>
        </p:nvSpPr>
        <p:spPr>
          <a:xfrm>
            <a:off x="6260665" y="2886748"/>
            <a:ext cx="2225336" cy="540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>
            <a:normAutofit fontScale="100000" lnSpcReduction="0"/>
          </a:bodyPr>
          <a:lstStyle>
            <a:lvl1pPr algn="ctr">
              <a:defRPr sz="10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le résultat d’un match entre deux équipes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Fond Sporting Portugal" descr="Fond Sporting Portugal"/>
          <p:cNvPicPr>
            <a:picLocks noChangeAspect="1"/>
          </p:cNvPicPr>
          <p:nvPr/>
        </p:nvPicPr>
        <p:blipFill>
          <a:blip r:embed="rId2">
            <a:extLst/>
          </a:blip>
          <a:srcRect l="0" t="7813" r="0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Google Shape;89;p18"/>
          <p:cNvSpPr txBox="1"/>
          <p:nvPr>
            <p:ph type="title"/>
          </p:nvPr>
        </p:nvSpPr>
        <p:spPr>
          <a:xfrm>
            <a:off x="1192661" y="403305"/>
            <a:ext cx="5315108" cy="533108"/>
          </a:xfrm>
          <a:prstGeom prst="rect">
            <a:avLst/>
          </a:prstGeom>
        </p:spPr>
        <p:txBody>
          <a:bodyPr/>
          <a:lstStyle/>
          <a:p>
            <a:pPr defTabSz="757121">
              <a:defRPr sz="1748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  <a:r>
              <a:t>Football predictor application - Démonstration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Vidéo </a:t>
            </a:r>
          </a:p>
        </p:txBody>
      </p:sp>
      <p:pic>
        <p:nvPicPr>
          <p:cNvPr id="168" name="Google Shape;90;p18" descr="Google Shape;90;p1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63375" y="482852"/>
            <a:ext cx="576901" cy="385909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Google Shape;91;p18"/>
          <p:cNvSpPr/>
          <p:nvPr/>
        </p:nvSpPr>
        <p:spPr>
          <a:xfrm>
            <a:off x="10224" y="4892025"/>
            <a:ext cx="9144001" cy="251400"/>
          </a:xfrm>
          <a:prstGeom prst="rect">
            <a:avLst/>
          </a:prstGeom>
          <a:solidFill>
            <a:srgbClr val="C3FF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70" name="card"/>
          <p:cNvSpPr/>
          <p:nvPr/>
        </p:nvSpPr>
        <p:spPr>
          <a:xfrm>
            <a:off x="550000" y="1200000"/>
            <a:ext cx="3872001" cy="1635001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sx="100000" sy="100000" kx="0" ky="0" algn="b" rotWithShape="0" blurRad="88900" dist="26000" dir="5400000">
              <a:srgbClr val="0E3449">
                <a:alpha val="13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71" name="card"/>
          <p:cNvSpPr/>
          <p:nvPr/>
        </p:nvSpPr>
        <p:spPr>
          <a:xfrm>
            <a:off x="4722000" y="1200000"/>
            <a:ext cx="3872004" cy="1635001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sx="100000" sy="100000" kx="0" ky="0" algn="b" rotWithShape="0" blurRad="88900" dist="26000" dir="5400000">
              <a:srgbClr val="0E3449">
                <a:alpha val="13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72" name="card"/>
          <p:cNvSpPr/>
          <p:nvPr/>
        </p:nvSpPr>
        <p:spPr>
          <a:xfrm>
            <a:off x="550000" y="3114999"/>
            <a:ext cx="3872001" cy="1635001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sx="100000" sy="100000" kx="0" ky="0" algn="b" rotWithShape="0" blurRad="88900" dist="26000" dir="5400000">
              <a:srgbClr val="0E3449">
                <a:alpha val="13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73" name="card"/>
          <p:cNvSpPr/>
          <p:nvPr/>
        </p:nvSpPr>
        <p:spPr>
          <a:xfrm>
            <a:off x="4722000" y="3114999"/>
            <a:ext cx="3872004" cy="1635001"/>
          </a:xfrm>
          <a:prstGeom prst="roundRect">
            <a:avLst>
              <a:gd name="adj" fmla="val 7000"/>
            </a:avLst>
          </a:prstGeom>
          <a:solidFill>
            <a:srgbClr val="F3F7FA"/>
          </a:solidFill>
          <a:ln w="12700">
            <a:miter lim="400000"/>
          </a:ln>
          <a:effectLst>
            <a:outerShdw sx="100000" sy="100000" kx="0" ky="0" algn="b" rotWithShape="0" blurRad="88900" dist="26000" dir="5400000">
              <a:srgbClr val="0E3449">
                <a:alpha val="13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74" name="circ"/>
          <p:cNvSpPr/>
          <p:nvPr/>
        </p:nvSpPr>
        <p:spPr>
          <a:xfrm>
            <a:off x="789999" y="1439999"/>
            <a:ext cx="620007" cy="620007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75" name="circ"/>
          <p:cNvSpPr/>
          <p:nvPr/>
        </p:nvSpPr>
        <p:spPr>
          <a:xfrm>
            <a:off x="4961999" y="1439999"/>
            <a:ext cx="620007" cy="620007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76" name="circ"/>
          <p:cNvSpPr/>
          <p:nvPr/>
        </p:nvSpPr>
        <p:spPr>
          <a:xfrm>
            <a:off x="789999" y="3354999"/>
            <a:ext cx="620007" cy="620007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77" name="circ"/>
          <p:cNvSpPr/>
          <p:nvPr/>
        </p:nvSpPr>
        <p:spPr>
          <a:xfrm>
            <a:off x="4961999" y="3354999"/>
            <a:ext cx="620007" cy="620007"/>
          </a:xfrm>
          <a:prstGeom prst="ellipse">
            <a:avLst/>
          </a:prstGeom>
          <a:solidFill>
            <a:srgbClr val="0E344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pic>
        <p:nvPicPr>
          <p:cNvPr id="178" name="icon" descr="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20000" y="1570000"/>
            <a:ext cx="360004" cy="360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icon" descr="icon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092000" y="1570000"/>
            <a:ext cx="360004" cy="360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icon" descr="icon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20000" y="3485000"/>
            <a:ext cx="360004" cy="36000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icon" descr="icon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092000" y="3485000"/>
            <a:ext cx="360004" cy="360004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title"/>
          <p:cNvSpPr txBox="1"/>
          <p:nvPr/>
        </p:nvSpPr>
        <p:spPr>
          <a:xfrm>
            <a:off x="1607997" y="1439999"/>
            <a:ext cx="2556007" cy="6200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 anchor="ctr">
            <a:normAutofit fontScale="100000" lnSpcReduction="0"/>
          </a:bodyPr>
          <a:lstStyle>
            <a:lvl1pPr>
              <a:defRPr b="1" sz="13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Équipes &amp; effectifs</a:t>
            </a:r>
          </a:p>
        </p:txBody>
      </p:sp>
      <p:sp>
        <p:nvSpPr>
          <p:cNvPr id="183" name="desc"/>
          <p:cNvSpPr txBox="1"/>
          <p:nvPr/>
        </p:nvSpPr>
        <p:spPr>
          <a:xfrm>
            <a:off x="807999" y="2130000"/>
            <a:ext cx="3356002" cy="5450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>
            <a:normAutofit fontScale="100000" lnSpcReduction="0"/>
          </a:bodyPr>
          <a:lstStyle>
            <a:lvl1pPr>
              <a:defRPr sz="10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effectif de la saison, notes &amp; valeur marchande, dernière composition officielle</a:t>
            </a:r>
          </a:p>
        </p:txBody>
      </p:sp>
      <p:sp>
        <p:nvSpPr>
          <p:cNvPr id="184" name="title"/>
          <p:cNvSpPr txBox="1"/>
          <p:nvPr/>
        </p:nvSpPr>
        <p:spPr>
          <a:xfrm>
            <a:off x="5779999" y="1439999"/>
            <a:ext cx="2556004" cy="6200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 anchor="ctr">
            <a:normAutofit fontScale="100000" lnSpcReduction="0"/>
          </a:bodyPr>
          <a:lstStyle>
            <a:lvl1pPr>
              <a:defRPr b="1" sz="13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Prédiction de match</a:t>
            </a:r>
          </a:p>
        </p:txBody>
      </p:sp>
      <p:sp>
        <p:nvSpPr>
          <p:cNvPr id="185" name="desc"/>
          <p:cNvSpPr txBox="1"/>
          <p:nvPr/>
        </p:nvSpPr>
        <p:spPr>
          <a:xfrm>
            <a:off x="4979999" y="2130000"/>
            <a:ext cx="3356002" cy="5450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>
            <a:normAutofit fontScale="100000" lnSpcReduction="0"/>
          </a:bodyPr>
          <a:lstStyle>
            <a:lvl1pPr>
              <a:defRPr sz="10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résultat prédit entre deux équipes données</a:t>
            </a:r>
          </a:p>
        </p:txBody>
      </p:sp>
      <p:sp>
        <p:nvSpPr>
          <p:cNvPr id="186" name="title"/>
          <p:cNvSpPr txBox="1"/>
          <p:nvPr/>
        </p:nvSpPr>
        <p:spPr>
          <a:xfrm>
            <a:off x="1607997" y="3354999"/>
            <a:ext cx="2556007" cy="6200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 anchor="ctr">
            <a:normAutofit fontScale="100000" lnSpcReduction="0"/>
          </a:bodyPr>
          <a:lstStyle>
            <a:lvl1pPr>
              <a:defRPr b="1" sz="13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Mode Fantasy</a:t>
            </a:r>
          </a:p>
        </p:txBody>
      </p:sp>
      <p:sp>
        <p:nvSpPr>
          <p:cNvPr id="187" name="desc"/>
          <p:cNvSpPr txBox="1"/>
          <p:nvPr/>
        </p:nvSpPr>
        <p:spPr>
          <a:xfrm>
            <a:off x="807999" y="4044998"/>
            <a:ext cx="3356002" cy="545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>
            <a:normAutofit fontScale="100000" lnSpcReduction="0"/>
          </a:bodyPr>
          <a:lstStyle>
            <a:lvl1pPr>
              <a:defRPr sz="10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créer sa dream team et lancer un tournoi (équipes fictives ou réelles)</a:t>
            </a:r>
          </a:p>
        </p:txBody>
      </p:sp>
      <p:sp>
        <p:nvSpPr>
          <p:cNvPr id="188" name="title"/>
          <p:cNvSpPr txBox="1"/>
          <p:nvPr/>
        </p:nvSpPr>
        <p:spPr>
          <a:xfrm>
            <a:off x="5779999" y="3354999"/>
            <a:ext cx="2556004" cy="6200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 anchor="ctr">
            <a:normAutofit fontScale="100000" lnSpcReduction="0"/>
          </a:bodyPr>
          <a:lstStyle>
            <a:lvl1pPr>
              <a:defRPr b="1" sz="13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Chatbot IA</a:t>
            </a:r>
          </a:p>
        </p:txBody>
      </p:sp>
      <p:sp>
        <p:nvSpPr>
          <p:cNvPr id="189" name="desc"/>
          <p:cNvSpPr txBox="1"/>
          <p:nvPr/>
        </p:nvSpPr>
        <p:spPr>
          <a:xfrm>
            <a:off x="4979999" y="4044998"/>
            <a:ext cx="3356002" cy="545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000" tIns="18000" rIns="18000" bIns="18000">
            <a:normAutofit fontScale="100000" lnSpcReduction="0"/>
          </a:bodyPr>
          <a:lstStyle>
            <a:lvl1pPr>
              <a:defRPr sz="1000">
                <a:solidFill>
                  <a:srgbClr val="4C6B7C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réponses générées depuis les bases neondb &amp; Transfermarkt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Fond Paris Saint-Germain" descr="Fond Paris Saint-Germain"/>
          <p:cNvPicPr>
            <a:picLocks noChangeAspect="1"/>
          </p:cNvPicPr>
          <p:nvPr/>
        </p:nvPicPr>
        <p:blipFill>
          <a:blip r:embed="rId2">
            <a:extLst/>
          </a:blip>
          <a:srcRect l="0" t="7813" r="0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Google Shape;75;p16"/>
          <p:cNvSpPr txBox="1"/>
          <p:nvPr>
            <p:ph type="title"/>
          </p:nvPr>
        </p:nvSpPr>
        <p:spPr>
          <a:xfrm>
            <a:off x="1192663" y="403309"/>
            <a:ext cx="6786772" cy="533103"/>
          </a:xfrm>
          <a:prstGeom prst="rect">
            <a:avLst/>
          </a:prstGeom>
        </p:spPr>
        <p:txBody>
          <a:bodyPr/>
          <a:lstStyle>
            <a:lvl1pPr defTabSz="859536">
              <a:defRPr sz="2200"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ETL, EDA et choix de données modèle</a:t>
            </a:r>
          </a:p>
        </p:txBody>
      </p:sp>
      <p:pic>
        <p:nvPicPr>
          <p:cNvPr id="193" name="Google Shape;76;p16" descr="Google Shape;76;p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3375" y="482852"/>
            <a:ext cx="576901" cy="385907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Google Shape;77;p16"/>
          <p:cNvSpPr/>
          <p:nvPr/>
        </p:nvSpPr>
        <p:spPr>
          <a:xfrm>
            <a:off x="10224" y="4892025"/>
            <a:ext cx="9144001" cy="251400"/>
          </a:xfrm>
          <a:prstGeom prst="rect">
            <a:avLst/>
          </a:prstGeom>
          <a:solidFill>
            <a:srgbClr val="C3FF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grpSp>
        <p:nvGrpSpPr>
          <p:cNvPr id="199" name="Groupe 13"/>
          <p:cNvGrpSpPr/>
          <p:nvPr/>
        </p:nvGrpSpPr>
        <p:grpSpPr>
          <a:xfrm>
            <a:off x="817149" y="2657188"/>
            <a:ext cx="5680330" cy="1343033"/>
            <a:chOff x="0" y="0"/>
            <a:chExt cx="5680329" cy="1343031"/>
          </a:xfrm>
        </p:grpSpPr>
        <p:grpSp>
          <p:nvGrpSpPr>
            <p:cNvPr id="197" name="Groupe 12"/>
            <p:cNvGrpSpPr/>
            <p:nvPr/>
          </p:nvGrpSpPr>
          <p:grpSpPr>
            <a:xfrm>
              <a:off x="-1" y="0"/>
              <a:ext cx="5680330" cy="1343033"/>
              <a:chOff x="0" y="0"/>
              <a:chExt cx="5680329" cy="1343031"/>
            </a:xfrm>
          </p:grpSpPr>
          <p:sp>
            <p:nvSpPr>
              <p:cNvPr id="195" name="Rectangle"/>
              <p:cNvSpPr/>
              <p:nvPr/>
            </p:nvSpPr>
            <p:spPr>
              <a:xfrm>
                <a:off x="-1" y="0"/>
                <a:ext cx="5680331" cy="1343033"/>
              </a:xfrm>
              <a:prstGeom prst="rect">
                <a:avLst/>
              </a:prstGeom>
              <a:solidFill>
                <a:schemeClr val="accent2">
                  <a:lumOff val="8002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000">
                    <a:latin typeface="+mn-lt"/>
                    <a:ea typeface="+mn-ea"/>
                    <a:cs typeface="+mn-cs"/>
                    <a:sym typeface="Arial"/>
                  </a:defRPr>
                </a:pPr>
              </a:p>
            </p:txBody>
          </p:sp>
          <p:sp>
            <p:nvSpPr>
              <p:cNvPr id="196" name="Décision structurante"/>
              <p:cNvSpPr txBox="1"/>
              <p:nvPr/>
            </p:nvSpPr>
            <p:spPr>
              <a:xfrm>
                <a:off x="100268" y="309245"/>
                <a:ext cx="2788929" cy="2336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4289" tIns="34289" rIns="34289" bIns="34289" numCol="1" anchor="t">
                <a:spAutoFit/>
              </a:bodyPr>
              <a:lstStyle>
                <a:lvl1pPr>
                  <a:defRPr b="1" sz="1100">
                    <a:latin typeface="Inter"/>
                    <a:ea typeface="Inter"/>
                    <a:cs typeface="Inter"/>
                    <a:sym typeface="Inter"/>
                  </a:defRPr>
                </a:lvl1pPr>
              </a:lstStyle>
              <a:p>
                <a:pPr/>
                <a:r>
                  <a:t>Décision structurante</a:t>
                </a:r>
              </a:p>
            </p:txBody>
          </p:sp>
        </p:grpSp>
        <p:sp>
          <p:nvSpPr>
            <p:cNvPr id="198" name="Conserver l'information joueur détaillée, puis tester si les abstractions apportent vraiment de la performance."/>
            <p:cNvSpPr txBox="1"/>
            <p:nvPr/>
          </p:nvSpPr>
          <p:spPr>
            <a:xfrm>
              <a:off x="100268" y="682945"/>
              <a:ext cx="5392023" cy="3987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4289" tIns="34289" rIns="34289" bIns="34289" numCol="1" anchor="t">
              <a:spAutoFit/>
            </a:bodyPr>
            <a:lstStyle>
              <a:lvl1pPr>
                <a:defRPr sz="1100">
                  <a:latin typeface="Inter"/>
                  <a:ea typeface="Inter"/>
                  <a:cs typeface="Inter"/>
                  <a:sym typeface="Inter"/>
                </a:defRPr>
              </a:lvl1pPr>
            </a:lstStyle>
            <a:p>
              <a:pPr/>
              <a:r>
                <a:t>Conserver l'information joueur détaillée, puis tester si les abstractions apportent vraiment de la performance.</a:t>
              </a:r>
            </a:p>
          </p:txBody>
        </p:sp>
      </p:grpSp>
      <p:grpSp>
        <p:nvGrpSpPr>
          <p:cNvPr id="202" name="Rectangle"/>
          <p:cNvGrpSpPr/>
          <p:nvPr/>
        </p:nvGrpSpPr>
        <p:grpSpPr>
          <a:xfrm>
            <a:off x="817148" y="1284868"/>
            <a:ext cx="5778389" cy="911260"/>
            <a:chOff x="-1" y="-1"/>
            <a:chExt cx="5778387" cy="911258"/>
          </a:xfrm>
        </p:grpSpPr>
        <p:sp>
          <p:nvSpPr>
            <p:cNvPr id="200" name="Rectangle"/>
            <p:cNvSpPr/>
            <p:nvPr/>
          </p:nvSpPr>
          <p:spPr>
            <a:xfrm>
              <a:off x="-2" y="-2"/>
              <a:ext cx="5778389" cy="911260"/>
            </a:xfrm>
            <a:prstGeom prst="rect">
              <a:avLst/>
            </a:prstGeom>
            <a:solidFill>
              <a:schemeClr val="accent2">
                <a:lumOff val="8002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000"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01" name="Objectif: transformer des données football hétérogènes en datasets fiables pour entraîner et comparer les modèles."/>
            <p:cNvSpPr txBox="1"/>
            <p:nvPr/>
          </p:nvSpPr>
          <p:spPr>
            <a:xfrm>
              <a:off x="110617" y="74627"/>
              <a:ext cx="5557152" cy="762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3">
                <a:defRPr b="1" sz="1000">
                  <a:latin typeface="Inter"/>
                  <a:ea typeface="Inter"/>
                  <a:cs typeface="Inter"/>
                  <a:sym typeface="Inter"/>
                </a:defRPr>
              </a:pPr>
            </a:p>
            <a:p>
              <a:pPr lvl="3">
                <a:defRPr b="1" sz="1000">
                  <a:latin typeface="Inter"/>
                  <a:ea typeface="Inter"/>
                  <a:cs typeface="Inter"/>
                  <a:sym typeface="Inter"/>
                </a:defRPr>
              </a:pPr>
              <a:r>
                <a:t>Objectif</a:t>
              </a:r>
            </a:p>
            <a:p>
              <a:pPr lvl="3">
                <a:defRPr sz="1000">
                  <a:latin typeface="Inter"/>
                  <a:ea typeface="Inter"/>
                  <a:cs typeface="Inter"/>
                  <a:sym typeface="Inter"/>
                </a:defRPr>
              </a:pPr>
            </a:p>
            <a:p>
              <a:pPr>
                <a:defRPr sz="1000">
                  <a:latin typeface="Inter"/>
                  <a:ea typeface="Inter"/>
                  <a:cs typeface="Inter"/>
                  <a:sym typeface="Inter"/>
                </a:defRPr>
              </a:pPr>
              <a:r>
                <a:t>Transformer des données football hétérogènes en datasets fiables pour entraîner et comparer les modèles.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Fond Girondins de Bordeaux" descr="Fond Girondins de Bordeaux"/>
          <p:cNvPicPr>
            <a:picLocks noChangeAspect="1"/>
          </p:cNvPicPr>
          <p:nvPr/>
        </p:nvPicPr>
        <p:blipFill>
          <a:blip r:embed="rId2">
            <a:extLst/>
          </a:blip>
          <a:srcRect l="0" t="2750" r="5496" b="1287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Google Shape;75;p16"/>
          <p:cNvSpPr txBox="1"/>
          <p:nvPr>
            <p:ph type="title"/>
          </p:nvPr>
        </p:nvSpPr>
        <p:spPr>
          <a:xfrm>
            <a:off x="1192663" y="403309"/>
            <a:ext cx="8097985" cy="533103"/>
          </a:xfrm>
          <a:prstGeom prst="rect">
            <a:avLst/>
          </a:prstGeom>
        </p:spPr>
        <p:txBody>
          <a:bodyPr/>
          <a:lstStyle/>
          <a:p>
            <a:pPr defTabSz="740662">
              <a:defRPr sz="20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  <a:r>
              <a:t>ETL : </a:t>
            </a:r>
            <a:r>
              <a:rPr>
                <a:solidFill>
                  <a:srgbClr val="000000"/>
                </a:solidFill>
              </a:rPr>
              <a:t>données</a:t>
            </a:r>
            <a:r>
              <a:rPr sz="2200">
                <a:solidFill>
                  <a:srgbClr val="000000"/>
                </a:solidFill>
              </a:rPr>
              <a:t> passent par trois niveaux clairs</a:t>
            </a:r>
          </a:p>
        </p:txBody>
      </p:sp>
      <p:pic>
        <p:nvPicPr>
          <p:cNvPr id="206" name="Google Shape;76;p16" descr="Google Shape;76;p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3375" y="482852"/>
            <a:ext cx="576901" cy="385907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Google Shape;77;p16"/>
          <p:cNvSpPr/>
          <p:nvPr/>
        </p:nvSpPr>
        <p:spPr>
          <a:xfrm>
            <a:off x="10224" y="4892025"/>
            <a:ext cx="9144001" cy="251400"/>
          </a:xfrm>
          <a:prstGeom prst="rect">
            <a:avLst/>
          </a:prstGeom>
          <a:solidFill>
            <a:srgbClr val="C3FF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grpSp>
        <p:nvGrpSpPr>
          <p:cNvPr id="213" name="Groupe 42"/>
          <p:cNvGrpSpPr/>
          <p:nvPr/>
        </p:nvGrpSpPr>
        <p:grpSpPr>
          <a:xfrm>
            <a:off x="340860" y="1191902"/>
            <a:ext cx="2510121" cy="1476052"/>
            <a:chOff x="0" y="0"/>
            <a:chExt cx="2510119" cy="1476051"/>
          </a:xfrm>
        </p:grpSpPr>
        <p:sp>
          <p:nvSpPr>
            <p:cNvPr id="208" name="Sources"/>
            <p:cNvSpPr txBox="1"/>
            <p:nvPr/>
          </p:nvSpPr>
          <p:spPr>
            <a:xfrm>
              <a:off x="351033" y="-1"/>
              <a:ext cx="2159087" cy="2336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4289" tIns="34289" rIns="34289" bIns="34289" numCol="1" anchor="t">
              <a:spAutoFit/>
            </a:bodyPr>
            <a:lstStyle>
              <a:lvl1pPr>
                <a:defRPr b="1" sz="11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defRPr>
              </a:lvl1pPr>
            </a:lstStyle>
            <a:p>
              <a:pPr/>
              <a:r>
                <a:t>Sources</a:t>
              </a:r>
            </a:p>
          </p:txBody>
        </p:sp>
        <p:grpSp>
          <p:nvGrpSpPr>
            <p:cNvPr id="212" name="Groupe 29"/>
            <p:cNvGrpSpPr/>
            <p:nvPr/>
          </p:nvGrpSpPr>
          <p:grpSpPr>
            <a:xfrm>
              <a:off x="-1" y="379059"/>
              <a:ext cx="2320750" cy="1096992"/>
              <a:chOff x="0" y="-1"/>
              <a:chExt cx="2320749" cy="1096990"/>
            </a:xfrm>
          </p:grpSpPr>
          <p:sp>
            <p:nvSpPr>
              <p:cNvPr id="209" name="Rectangle"/>
              <p:cNvSpPr/>
              <p:nvPr/>
            </p:nvSpPr>
            <p:spPr>
              <a:xfrm>
                <a:off x="-1" y="-2"/>
                <a:ext cx="2320750" cy="1096992"/>
              </a:xfrm>
              <a:prstGeom prst="rect">
                <a:avLst/>
              </a:prstGeom>
              <a:solidFill>
                <a:schemeClr val="accent2">
                  <a:lumOff val="8002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000">
                    <a:latin typeface="+mn-lt"/>
                    <a:ea typeface="+mn-ea"/>
                    <a:cs typeface="+mn-cs"/>
                    <a:sym typeface="Arial"/>
                  </a:defRPr>
                </a:pPr>
              </a:p>
            </p:txBody>
          </p:sp>
          <p:sp>
            <p:nvSpPr>
              <p:cNvPr id="210" name="SoFIFA"/>
              <p:cNvSpPr txBox="1"/>
              <p:nvPr/>
            </p:nvSpPr>
            <p:spPr>
              <a:xfrm>
                <a:off x="110337" y="97961"/>
                <a:ext cx="1564877" cy="2336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4289" tIns="34289" rIns="34289" bIns="34289" numCol="1" anchor="t">
                <a:spAutoFit/>
              </a:bodyPr>
              <a:lstStyle>
                <a:lvl1pPr>
                  <a:defRPr b="1" sz="1100">
                    <a:solidFill>
                      <a:srgbClr val="FF4B4B"/>
                    </a:solidFill>
                    <a:latin typeface="Inter"/>
                    <a:ea typeface="Inter"/>
                    <a:cs typeface="Inter"/>
                    <a:sym typeface="Inter"/>
                  </a:defRPr>
                </a:lvl1pPr>
              </a:lstStyle>
              <a:p>
                <a:pPr/>
                <a:r>
                  <a:t>SoFIFA</a:t>
                </a:r>
              </a:p>
            </p:txBody>
          </p:sp>
          <p:sp>
            <p:nvSpPr>
              <p:cNvPr id="211" name="Scraping des notes détaillées joueurs: attaque, technique, mouvement, défense, gardien."/>
              <p:cNvSpPr txBox="1"/>
              <p:nvPr/>
            </p:nvSpPr>
            <p:spPr>
              <a:xfrm>
                <a:off x="110336" y="387558"/>
                <a:ext cx="2096154" cy="5638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4289" tIns="34289" rIns="34289" bIns="34289" numCol="1" anchor="t">
                <a:spAutoFit/>
              </a:bodyPr>
              <a:lstStyle>
                <a:lvl1pPr>
                  <a:defRPr sz="1100">
                    <a:latin typeface="Inter"/>
                    <a:ea typeface="Inter"/>
                    <a:cs typeface="Inter"/>
                    <a:sym typeface="Inter"/>
                  </a:defRPr>
                </a:lvl1pPr>
              </a:lstStyle>
              <a:p>
                <a:pPr/>
                <a:r>
                  <a:t>Scraping des notes détaillées joueurs: attaque, technique, mouvement, défense, gardien.</a:t>
                </a:r>
              </a:p>
            </p:txBody>
          </p:sp>
        </p:grpSp>
      </p:grpSp>
      <p:grpSp>
        <p:nvGrpSpPr>
          <p:cNvPr id="218" name="Groupe 28"/>
          <p:cNvGrpSpPr/>
          <p:nvPr/>
        </p:nvGrpSpPr>
        <p:grpSpPr>
          <a:xfrm>
            <a:off x="340857" y="3612989"/>
            <a:ext cx="2540371" cy="1071570"/>
            <a:chOff x="-2" y="0"/>
            <a:chExt cx="2540369" cy="1071568"/>
          </a:xfrm>
        </p:grpSpPr>
        <p:grpSp>
          <p:nvGrpSpPr>
            <p:cNvPr id="216" name="Groupe 27"/>
            <p:cNvGrpSpPr/>
            <p:nvPr/>
          </p:nvGrpSpPr>
          <p:grpSpPr>
            <a:xfrm>
              <a:off x="-3" y="-1"/>
              <a:ext cx="2540371" cy="1071570"/>
              <a:chOff x="-1" y="0"/>
              <a:chExt cx="2540369" cy="1071568"/>
            </a:xfrm>
          </p:grpSpPr>
          <p:sp>
            <p:nvSpPr>
              <p:cNvPr id="214" name="Rectangle"/>
              <p:cNvSpPr/>
              <p:nvPr/>
            </p:nvSpPr>
            <p:spPr>
              <a:xfrm>
                <a:off x="-2" y="0"/>
                <a:ext cx="2305920" cy="1071570"/>
              </a:xfrm>
              <a:prstGeom prst="rect">
                <a:avLst/>
              </a:prstGeom>
              <a:solidFill>
                <a:schemeClr val="accent2">
                  <a:lumOff val="8002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000">
                    <a:latin typeface="+mn-lt"/>
                    <a:ea typeface="+mn-ea"/>
                    <a:cs typeface="+mn-cs"/>
                    <a:sym typeface="Arial"/>
                  </a:defRPr>
                </a:pPr>
              </a:p>
            </p:txBody>
          </p:sp>
          <p:sp>
            <p:nvSpPr>
              <p:cNvPr id="215" name="Transfermarkt"/>
              <p:cNvSpPr txBox="1"/>
              <p:nvPr/>
            </p:nvSpPr>
            <p:spPr>
              <a:xfrm>
                <a:off x="127363" y="124925"/>
                <a:ext cx="2413006" cy="2336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4289" tIns="34289" rIns="34289" bIns="34289" numCol="1" anchor="t">
                <a:spAutoFit/>
              </a:bodyPr>
              <a:lstStyle>
                <a:lvl1pPr>
                  <a:defRPr b="1" sz="1100">
                    <a:solidFill>
                      <a:srgbClr val="FF4B4B"/>
                    </a:solidFill>
                    <a:latin typeface="Inter"/>
                    <a:ea typeface="Inter"/>
                    <a:cs typeface="Inter"/>
                    <a:sym typeface="Inter"/>
                  </a:defRPr>
                </a:lvl1pPr>
              </a:lstStyle>
              <a:p>
                <a:pPr/>
                <a:r>
                  <a:t>Transfermarkt</a:t>
                </a:r>
              </a:p>
            </p:txBody>
          </p:sp>
        </p:grpSp>
        <p:sp>
          <p:nvSpPr>
            <p:cNvPr id="217" name="CSV GitHub: matchs, lineups, joueurs, clubs et transferts. Mise à jour régulière."/>
            <p:cNvSpPr txBox="1"/>
            <p:nvPr/>
          </p:nvSpPr>
          <p:spPr>
            <a:xfrm>
              <a:off x="111577" y="452479"/>
              <a:ext cx="2082757" cy="5638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4289" tIns="34289" rIns="34289" bIns="34289" numCol="1" anchor="t">
              <a:spAutoFit/>
            </a:bodyPr>
            <a:lstStyle>
              <a:lvl1pPr>
                <a:defRPr sz="1100">
                  <a:latin typeface="Inter"/>
                  <a:ea typeface="Inter"/>
                  <a:cs typeface="Inter"/>
                  <a:sym typeface="Inter"/>
                </a:defRPr>
              </a:lvl1pPr>
            </a:lstStyle>
            <a:p>
              <a:pPr/>
              <a:r>
                <a:t>CSV GitHub: matchs, lineups, joueurs, clubs et transferts. Mise à jour régulière.</a:t>
              </a:r>
            </a:p>
          </p:txBody>
        </p:sp>
      </p:grpSp>
      <p:grpSp>
        <p:nvGrpSpPr>
          <p:cNvPr id="221" name="Groupe 31"/>
          <p:cNvGrpSpPr/>
          <p:nvPr/>
        </p:nvGrpSpPr>
        <p:grpSpPr>
          <a:xfrm>
            <a:off x="3010217" y="3001970"/>
            <a:ext cx="866916" cy="418797"/>
            <a:chOff x="-1" y="0"/>
            <a:chExt cx="866915" cy="418795"/>
          </a:xfrm>
        </p:grpSpPr>
        <p:sp>
          <p:nvSpPr>
            <p:cNvPr id="219" name="Rectangle"/>
            <p:cNvSpPr/>
            <p:nvPr/>
          </p:nvSpPr>
          <p:spPr>
            <a:xfrm>
              <a:off x="-2" y="-1"/>
              <a:ext cx="866916" cy="418797"/>
            </a:xfrm>
            <a:prstGeom prst="rect">
              <a:avLst/>
            </a:prstGeom>
            <a:solidFill>
              <a:schemeClr val="accent2">
                <a:lumOff val="8002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000"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20" name="/raw"/>
            <p:cNvSpPr txBox="1"/>
            <p:nvPr/>
          </p:nvSpPr>
          <p:spPr>
            <a:xfrm>
              <a:off x="81356" y="11430"/>
              <a:ext cx="661523" cy="2336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4289" tIns="34289" rIns="34289" bIns="34289" numCol="1" anchor="t">
              <a:spAutoFit/>
            </a:bodyPr>
            <a:lstStyle>
              <a:lvl1pPr>
                <a:defRPr b="1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defRPr>
              </a:lvl1pPr>
            </a:lstStyle>
            <a:p>
              <a:pPr/>
              <a:r>
                <a:t>/raw</a:t>
              </a:r>
            </a:p>
          </p:txBody>
        </p:sp>
      </p:grpSp>
      <p:grpSp>
        <p:nvGrpSpPr>
          <p:cNvPr id="225" name="Groupe 30"/>
          <p:cNvGrpSpPr/>
          <p:nvPr/>
        </p:nvGrpSpPr>
        <p:grpSpPr>
          <a:xfrm>
            <a:off x="3776910" y="1101848"/>
            <a:ext cx="2894653" cy="1071569"/>
            <a:chOff x="0" y="0"/>
            <a:chExt cx="2894652" cy="1071567"/>
          </a:xfrm>
        </p:grpSpPr>
        <p:sp>
          <p:nvSpPr>
            <p:cNvPr id="222" name="Rectangle"/>
            <p:cNvSpPr/>
            <p:nvPr/>
          </p:nvSpPr>
          <p:spPr>
            <a:xfrm>
              <a:off x="0" y="-1"/>
              <a:ext cx="2894653" cy="1071568"/>
            </a:xfrm>
            <a:prstGeom prst="rect">
              <a:avLst/>
            </a:prstGeom>
            <a:solidFill>
              <a:schemeClr val="accent2">
                <a:lumOff val="8002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000"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23" name="/staging"/>
            <p:cNvSpPr txBox="1"/>
            <p:nvPr/>
          </p:nvSpPr>
          <p:spPr>
            <a:xfrm>
              <a:off x="209306" y="102169"/>
              <a:ext cx="2208843" cy="2041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4289" tIns="34289" rIns="34289" bIns="34289" numCol="1" anchor="t">
              <a:spAutoFit/>
            </a:bodyPr>
            <a:lstStyle>
              <a:lvl1pPr>
                <a:defRPr b="1" sz="1000">
                  <a:solidFill>
                    <a:srgbClr val="2563EB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/staging</a:t>
              </a:r>
            </a:p>
          </p:txBody>
        </p:sp>
        <p:sp>
          <p:nvSpPr>
            <p:cNvPr id="224" name="training_match_dataset et match_outcome_team_ratings dans NeonDB."/>
            <p:cNvSpPr txBox="1"/>
            <p:nvPr/>
          </p:nvSpPr>
          <p:spPr>
            <a:xfrm>
              <a:off x="209306" y="309196"/>
              <a:ext cx="2535000" cy="597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4289" tIns="34289" rIns="34289" bIns="34289" numCol="1" anchor="t">
              <a:spAutoFit/>
            </a:bodyPr>
            <a:lstStyle/>
            <a:p>
              <a:pPr marL="171450" indent="-171450">
                <a:buClr>
                  <a:srgbClr val="000000"/>
                </a:buClr>
                <a:buSzPct val="100000"/>
                <a:buFont typeface="Arial"/>
                <a:buChar char="•"/>
                <a:defRPr sz="900">
                  <a:latin typeface="+mn-lt"/>
                  <a:ea typeface="+mn-ea"/>
                  <a:cs typeface="+mn-cs"/>
                  <a:sym typeface="Arial"/>
                </a:defRPr>
              </a:pPr>
              <a:r>
                <a:t>training_match_dataset</a:t>
              </a:r>
            </a:p>
            <a:p>
              <a:pPr marL="171450" indent="-171450">
                <a:buClr>
                  <a:srgbClr val="000000"/>
                </a:buClr>
                <a:buSzPct val="100000"/>
                <a:buFont typeface="Arial"/>
                <a:buChar char="•"/>
                <a:defRPr sz="900">
                  <a:latin typeface="+mn-lt"/>
                  <a:ea typeface="+mn-ea"/>
                  <a:cs typeface="+mn-cs"/>
                  <a:sym typeface="Arial"/>
                </a:defRPr>
              </a:pPr>
              <a:r>
                <a:t>match_outcome_team_ratings</a:t>
              </a:r>
            </a:p>
            <a:p>
              <a:pPr marL="171450" indent="-171450">
                <a:buClr>
                  <a:srgbClr val="000000"/>
                </a:buClr>
                <a:buSzPct val="100000"/>
                <a:buFont typeface="Arial"/>
                <a:buChar char="•"/>
                <a:defRPr sz="1000">
                  <a:latin typeface="+mn-lt"/>
                  <a:ea typeface="+mn-ea"/>
                  <a:cs typeface="+mn-cs"/>
                  <a:sym typeface="Arial"/>
                </a:defRPr>
              </a:pPr>
              <a:r>
                <a:t>Clé de passage: réconciliation player_id SoFIFA et Transfermarkt.</a:t>
              </a:r>
            </a:p>
          </p:txBody>
        </p:sp>
      </p:grpSp>
      <p:grpSp>
        <p:nvGrpSpPr>
          <p:cNvPr id="232" name="Groupe 34"/>
          <p:cNvGrpSpPr/>
          <p:nvPr/>
        </p:nvGrpSpPr>
        <p:grpSpPr>
          <a:xfrm>
            <a:off x="7019900" y="2015012"/>
            <a:ext cx="1931684" cy="1386367"/>
            <a:chOff x="-2" y="0"/>
            <a:chExt cx="1931683" cy="1386366"/>
          </a:xfrm>
        </p:grpSpPr>
        <p:sp>
          <p:nvSpPr>
            <p:cNvPr id="226" name="Analyse et modeles"/>
            <p:cNvSpPr/>
            <p:nvPr/>
          </p:nvSpPr>
          <p:spPr>
            <a:xfrm>
              <a:off x="106699" y="-1"/>
              <a:ext cx="17888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4289" tIns="34289" rIns="34289" bIns="34289" numCol="1" anchor="t">
              <a:spAutoFit/>
            </a:bodyPr>
            <a:lstStyle>
              <a:lvl1pPr>
                <a:defRPr b="1" sz="11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defRPr>
              </a:lvl1pPr>
            </a:lstStyle>
            <a:p>
              <a:pPr/>
              <a:r>
                <a:t>Analyse et modèles</a:t>
              </a:r>
            </a:p>
          </p:txBody>
        </p:sp>
        <p:grpSp>
          <p:nvGrpSpPr>
            <p:cNvPr id="231" name="Groupe 33"/>
            <p:cNvGrpSpPr/>
            <p:nvPr/>
          </p:nvGrpSpPr>
          <p:grpSpPr>
            <a:xfrm>
              <a:off x="-3" y="314797"/>
              <a:ext cx="1931684" cy="1071570"/>
              <a:chOff x="-1" y="0"/>
              <a:chExt cx="1931683" cy="1071568"/>
            </a:xfrm>
          </p:grpSpPr>
          <p:grpSp>
            <p:nvGrpSpPr>
              <p:cNvPr id="229" name="Groupe 32"/>
              <p:cNvGrpSpPr/>
              <p:nvPr/>
            </p:nvGrpSpPr>
            <p:grpSpPr>
              <a:xfrm>
                <a:off x="-2" y="-1"/>
                <a:ext cx="1931684" cy="1071569"/>
                <a:chOff x="0" y="0"/>
                <a:chExt cx="1931683" cy="1071568"/>
              </a:xfrm>
            </p:grpSpPr>
            <p:sp>
              <p:nvSpPr>
                <p:cNvPr id="227" name="Rectangle"/>
                <p:cNvSpPr/>
                <p:nvPr/>
              </p:nvSpPr>
              <p:spPr>
                <a:xfrm>
                  <a:off x="-1" y="-1"/>
                  <a:ext cx="1931684" cy="1071570"/>
                </a:xfrm>
                <a:prstGeom prst="rect">
                  <a:avLst/>
                </a:prstGeom>
                <a:solidFill>
                  <a:schemeClr val="accent2">
                    <a:lumOff val="8002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 sz="1000">
                      <a:latin typeface="+mn-lt"/>
                      <a:ea typeface="+mn-ea"/>
                      <a:cs typeface="+mn-cs"/>
                      <a:sym typeface="Arial"/>
                    </a:defRPr>
                  </a:pPr>
                </a:p>
              </p:txBody>
            </p:sp>
            <p:sp>
              <p:nvSpPr>
                <p:cNvPr id="228" name="/curated"/>
                <p:cNvSpPr/>
                <p:nvPr/>
              </p:nvSpPr>
              <p:spPr>
                <a:xfrm>
                  <a:off x="78124" y="112065"/>
                  <a:ext cx="1845957" cy="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0" fill="norm" stroke="1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34289" tIns="34289" rIns="34289" bIns="34289" numCol="1" anchor="t">
                  <a:spAutoFit/>
                </a:bodyPr>
                <a:lstStyle>
                  <a:lvl1pPr>
                    <a:defRPr b="1" sz="1100">
                      <a:solidFill>
                        <a:srgbClr val="15803D"/>
                      </a:solidFill>
                      <a:latin typeface="Inter"/>
                      <a:ea typeface="Inter"/>
                      <a:cs typeface="Inter"/>
                      <a:sym typeface="Inter"/>
                    </a:defRPr>
                  </a:lvl1pPr>
                </a:lstStyle>
                <a:p>
                  <a:pPr/>
                  <a:r>
                    <a:t>/curated</a:t>
                  </a:r>
                </a:p>
              </p:txBody>
            </p:sp>
          </p:grpSp>
          <p:sp>
            <p:nvSpPr>
              <p:cNvPr id="230" name="Datasets locaux de notebook pour entraînement ML, dont training_dataset_df."/>
              <p:cNvSpPr/>
              <p:nvPr/>
            </p:nvSpPr>
            <p:spPr>
              <a:xfrm>
                <a:off x="42862" y="327649"/>
                <a:ext cx="1845956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4289" tIns="34289" rIns="34289" bIns="34289" numCol="1" anchor="t">
                <a:spAutoFit/>
              </a:bodyPr>
              <a:lstStyle>
                <a:lvl1pPr>
                  <a:defRPr sz="1100">
                    <a:latin typeface="Inter"/>
                    <a:ea typeface="Inter"/>
                    <a:cs typeface="Inter"/>
                    <a:sym typeface="Inter"/>
                  </a:defRPr>
                </a:lvl1pPr>
              </a:lstStyle>
              <a:p>
                <a:pPr/>
                <a:r>
                  <a:t>Datasets locaux de notebook pour entraînement ML, dont training_dataset_df.</a:t>
                </a:r>
              </a:p>
            </p:txBody>
          </p:sp>
        </p:grpSp>
      </p:grpSp>
      <p:grpSp>
        <p:nvGrpSpPr>
          <p:cNvPr id="235" name="Groupe 35"/>
          <p:cNvGrpSpPr/>
          <p:nvPr/>
        </p:nvGrpSpPr>
        <p:grpSpPr>
          <a:xfrm>
            <a:off x="3132922" y="1101847"/>
            <a:ext cx="621508" cy="1071570"/>
            <a:chOff x="0" y="-1"/>
            <a:chExt cx="621507" cy="1071567"/>
          </a:xfrm>
        </p:grpSpPr>
        <p:pic>
          <p:nvPicPr>
            <p:cNvPr id="233" name="Image 36" descr="Image 36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-1" y="-2"/>
              <a:ext cx="585754" cy="5383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4" name="Image 37" descr="Image 37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35754" y="471529"/>
              <a:ext cx="585754" cy="6000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36" name="Image 57" descr="Image 5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387500" y="3484202"/>
            <a:ext cx="1196485" cy="577615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Fleche FastAPI vers Render"/>
          <p:cNvSpPr/>
          <p:nvPr/>
        </p:nvSpPr>
        <p:spPr>
          <a:xfrm>
            <a:off x="5293038" y="2249170"/>
            <a:ext cx="1726871" cy="616425"/>
          </a:xfrm>
          <a:prstGeom prst="line">
            <a:avLst/>
          </a:prstGeom>
          <a:ln w="19050" cap="rnd">
            <a:solidFill>
              <a:srgbClr val="01595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Fleche FastAPI vers Render"/>
          <p:cNvSpPr/>
          <p:nvPr/>
        </p:nvSpPr>
        <p:spPr>
          <a:xfrm flipV="1">
            <a:off x="3443675" y="2249846"/>
            <a:ext cx="1810039" cy="752125"/>
          </a:xfrm>
          <a:prstGeom prst="line">
            <a:avLst/>
          </a:prstGeom>
          <a:ln w="19050" cap="rnd">
            <a:solidFill>
              <a:srgbClr val="01595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Fleche FastAPI vers Render"/>
          <p:cNvSpPr/>
          <p:nvPr/>
        </p:nvSpPr>
        <p:spPr>
          <a:xfrm>
            <a:off x="2661604" y="2119458"/>
            <a:ext cx="348618" cy="1091913"/>
          </a:xfrm>
          <a:prstGeom prst="line">
            <a:avLst/>
          </a:prstGeom>
          <a:ln w="19050" cap="rnd">
            <a:solidFill>
              <a:srgbClr val="01595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" name="Fleche FastAPI vers Render"/>
          <p:cNvSpPr/>
          <p:nvPr/>
        </p:nvSpPr>
        <p:spPr>
          <a:xfrm flipV="1">
            <a:off x="2646771" y="3211367"/>
            <a:ext cx="363451" cy="937406"/>
          </a:xfrm>
          <a:prstGeom prst="line">
            <a:avLst/>
          </a:prstGeom>
          <a:ln w="19050" cap="rnd">
            <a:solidFill>
              <a:srgbClr val="01595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Fond Pau FC" descr="Fond Pau FC"/>
          <p:cNvPicPr>
            <a:picLocks noChangeAspect="1"/>
          </p:cNvPicPr>
          <p:nvPr/>
        </p:nvPicPr>
        <p:blipFill>
          <a:blip r:embed="rId2">
            <a:extLst/>
          </a:blip>
          <a:srcRect l="0" t="7813" r="0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43" name="Google Shape;75;p16"/>
          <p:cNvSpPr txBox="1"/>
          <p:nvPr>
            <p:ph type="title"/>
          </p:nvPr>
        </p:nvSpPr>
        <p:spPr>
          <a:xfrm>
            <a:off x="1192662" y="403309"/>
            <a:ext cx="8218755" cy="533103"/>
          </a:xfrm>
          <a:prstGeom prst="rect">
            <a:avLst/>
          </a:prstGeom>
        </p:spPr>
        <p:txBody>
          <a:bodyPr/>
          <a:lstStyle/>
          <a:p>
            <a:pPr defTabSz="365758">
              <a:defRPr sz="1100">
                <a:latin typeface="Inter SemiBold"/>
                <a:ea typeface="Inter SemiBold"/>
                <a:cs typeface="Inter SemiBold"/>
                <a:sym typeface="Inter SemiBold"/>
              </a:defRPr>
            </a:pPr>
            <a:r>
              <a:t>EDA : </a:t>
            </a:r>
            <a:r>
              <a:rPr sz="1000"/>
              <a:t>sécurise</a:t>
            </a:r>
            <a:r>
              <a:t> le dataset d'entraînement</a:t>
            </a:r>
            <a:br/>
          </a:p>
        </p:txBody>
      </p:sp>
      <p:pic>
        <p:nvPicPr>
          <p:cNvPr id="244" name="Google Shape;76;p16" descr="Google Shape;76;p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3375" y="482852"/>
            <a:ext cx="576901" cy="385907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Google Shape;77;p16"/>
          <p:cNvSpPr/>
          <p:nvPr/>
        </p:nvSpPr>
        <p:spPr>
          <a:xfrm>
            <a:off x="10224" y="4892025"/>
            <a:ext cx="9144001" cy="251400"/>
          </a:xfrm>
          <a:prstGeom prst="rect">
            <a:avLst/>
          </a:prstGeom>
          <a:solidFill>
            <a:srgbClr val="C3FF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246" name="Périmètre: matchs UEFA des 5 dernières années, entre les 100 meilleurs clubs UEFA."/>
          <p:cNvSpPr txBox="1"/>
          <p:nvPr/>
        </p:nvSpPr>
        <p:spPr>
          <a:xfrm>
            <a:off x="800100" y="1147038"/>
            <a:ext cx="6789423" cy="233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89" tIns="34289" rIns="34289" bIns="34289">
            <a:spAutoFit/>
          </a:bodyPr>
          <a:lstStyle>
            <a:lvl1pPr>
              <a:defRPr sz="11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Périmètre: matchs UEFA des 5 dernières années, entre les 100 meilleurs clubs UEFA.</a:t>
            </a:r>
          </a:p>
        </p:txBody>
      </p:sp>
      <p:grpSp>
        <p:nvGrpSpPr>
          <p:cNvPr id="251" name="Groupe 33"/>
          <p:cNvGrpSpPr/>
          <p:nvPr/>
        </p:nvGrpSpPr>
        <p:grpSpPr>
          <a:xfrm>
            <a:off x="751819" y="1784182"/>
            <a:ext cx="1928825" cy="1985971"/>
            <a:chOff x="-1" y="0"/>
            <a:chExt cx="1928823" cy="1985970"/>
          </a:xfrm>
        </p:grpSpPr>
        <p:grpSp>
          <p:nvGrpSpPr>
            <p:cNvPr id="249" name="Groupe 32"/>
            <p:cNvGrpSpPr/>
            <p:nvPr/>
          </p:nvGrpSpPr>
          <p:grpSpPr>
            <a:xfrm>
              <a:off x="-2" y="-1"/>
              <a:ext cx="1928825" cy="1985971"/>
              <a:chOff x="0" y="0"/>
              <a:chExt cx="1928823" cy="1985970"/>
            </a:xfrm>
          </p:grpSpPr>
          <p:sp>
            <p:nvSpPr>
              <p:cNvPr id="247" name="Rectangle"/>
              <p:cNvSpPr/>
              <p:nvPr/>
            </p:nvSpPr>
            <p:spPr>
              <a:xfrm>
                <a:off x="-1" y="-1"/>
                <a:ext cx="1928824" cy="1985971"/>
              </a:xfrm>
              <a:prstGeom prst="rect">
                <a:avLst/>
              </a:prstGeom>
              <a:solidFill>
                <a:schemeClr val="accent2">
                  <a:lumOff val="8002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000">
                    <a:latin typeface="+mn-lt"/>
                    <a:ea typeface="+mn-ea"/>
                    <a:cs typeface="+mn-cs"/>
                    <a:sym typeface="Arial"/>
                  </a:defRPr>
                </a:pPr>
              </a:p>
            </p:txBody>
          </p:sp>
          <p:sp>
            <p:nvSpPr>
              <p:cNvPr id="248" name="100"/>
              <p:cNvSpPr txBox="1"/>
              <p:nvPr/>
            </p:nvSpPr>
            <p:spPr>
              <a:xfrm>
                <a:off x="234316" y="268608"/>
                <a:ext cx="1503056" cy="5988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4289" tIns="34289" rIns="34289" bIns="34289" numCol="1" anchor="t">
                <a:spAutoFit/>
              </a:bodyPr>
              <a:lstStyle>
                <a:lvl1pPr>
                  <a:defRPr b="1" sz="3800">
                    <a:latin typeface="+mn-lt"/>
                    <a:ea typeface="+mn-ea"/>
                    <a:cs typeface="+mn-cs"/>
                    <a:sym typeface="Arial"/>
                  </a:defRPr>
                </a:lvl1pPr>
              </a:lstStyle>
              <a:p>
                <a:pPr/>
                <a:r>
                  <a:t>100</a:t>
                </a:r>
              </a:p>
            </p:txBody>
          </p:sp>
        </p:grpSp>
        <p:sp>
          <p:nvSpPr>
            <p:cNvPr id="250" name="meilleures équipes UEFA comme base de comparaison"/>
            <p:cNvSpPr txBox="1"/>
            <p:nvPr/>
          </p:nvSpPr>
          <p:spPr>
            <a:xfrm>
              <a:off x="248604" y="1154433"/>
              <a:ext cx="1431614" cy="5638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4289" tIns="34289" rIns="34289" bIns="34289" numCol="1" anchor="t">
              <a:spAutoFit/>
            </a:bodyPr>
            <a:lstStyle>
              <a:lvl1pPr>
                <a:defRPr sz="1100">
                  <a:latin typeface="Inter"/>
                  <a:ea typeface="Inter"/>
                  <a:cs typeface="Inter"/>
                  <a:sym typeface="Inter"/>
                </a:defRPr>
              </a:lvl1pPr>
            </a:lstStyle>
            <a:p>
              <a:pPr/>
              <a:r>
                <a:t>meilleures équipes UEFA comme base de comparaison</a:t>
              </a:r>
            </a:p>
          </p:txBody>
        </p:sp>
      </p:grpSp>
      <p:grpSp>
        <p:nvGrpSpPr>
          <p:cNvPr id="256" name="Groupe 31"/>
          <p:cNvGrpSpPr/>
          <p:nvPr/>
        </p:nvGrpSpPr>
        <p:grpSpPr>
          <a:xfrm>
            <a:off x="3135522" y="1798528"/>
            <a:ext cx="1928821" cy="1985971"/>
            <a:chOff x="0" y="0"/>
            <a:chExt cx="1928819" cy="1985970"/>
          </a:xfrm>
        </p:grpSpPr>
        <p:grpSp>
          <p:nvGrpSpPr>
            <p:cNvPr id="254" name="Groupe 30"/>
            <p:cNvGrpSpPr/>
            <p:nvPr/>
          </p:nvGrpSpPr>
          <p:grpSpPr>
            <a:xfrm>
              <a:off x="-1" y="-1"/>
              <a:ext cx="1928821" cy="1985971"/>
              <a:chOff x="0" y="0"/>
              <a:chExt cx="1928819" cy="1985970"/>
            </a:xfrm>
          </p:grpSpPr>
          <p:sp>
            <p:nvSpPr>
              <p:cNvPr id="252" name="Rectangle"/>
              <p:cNvSpPr/>
              <p:nvPr/>
            </p:nvSpPr>
            <p:spPr>
              <a:xfrm>
                <a:off x="-1" y="-1"/>
                <a:ext cx="1928821" cy="1985971"/>
              </a:xfrm>
              <a:prstGeom prst="rect">
                <a:avLst/>
              </a:prstGeom>
              <a:solidFill>
                <a:schemeClr val="accent2">
                  <a:lumOff val="8002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000">
                    <a:latin typeface="+mn-lt"/>
                    <a:ea typeface="+mn-ea"/>
                    <a:cs typeface="+mn-cs"/>
                    <a:sym typeface="Arial"/>
                  </a:defRPr>
                </a:pPr>
              </a:p>
            </p:txBody>
          </p:sp>
          <p:sp>
            <p:nvSpPr>
              <p:cNvPr id="253" name="6000"/>
              <p:cNvSpPr txBox="1"/>
              <p:nvPr/>
            </p:nvSpPr>
            <p:spPr>
              <a:xfrm>
                <a:off x="234315" y="268608"/>
                <a:ext cx="1503054" cy="5988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4289" tIns="34289" rIns="34289" bIns="34289" numCol="1" anchor="t">
                <a:spAutoFit/>
              </a:bodyPr>
              <a:lstStyle>
                <a:lvl1pPr>
                  <a:defRPr b="1" sz="3800">
                    <a:latin typeface="+mn-lt"/>
                    <a:ea typeface="+mn-ea"/>
                    <a:cs typeface="+mn-cs"/>
                    <a:sym typeface="Arial"/>
                  </a:defRPr>
                </a:lvl1pPr>
              </a:lstStyle>
              <a:p>
                <a:pPr/>
                <a:r>
                  <a:t>6000</a:t>
                </a:r>
              </a:p>
            </p:txBody>
          </p:sp>
        </p:grpSp>
        <p:sp>
          <p:nvSpPr>
            <p:cNvPr id="255" name="matchs environ avant jointure complète"/>
            <p:cNvSpPr txBox="1"/>
            <p:nvPr/>
          </p:nvSpPr>
          <p:spPr>
            <a:xfrm>
              <a:off x="248604" y="1154433"/>
              <a:ext cx="1431613" cy="3987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4289" tIns="34289" rIns="34289" bIns="34289" numCol="1" anchor="t">
              <a:spAutoFit/>
            </a:bodyPr>
            <a:lstStyle>
              <a:lvl1pPr>
                <a:defRPr sz="1100">
                  <a:latin typeface="Inter"/>
                  <a:ea typeface="Inter"/>
                  <a:cs typeface="Inter"/>
                  <a:sym typeface="Inter"/>
                </a:defRPr>
              </a:lvl1pPr>
            </a:lstStyle>
            <a:p>
              <a:pPr/>
              <a:r>
                <a:t>matchs environ avant jointure complète</a:t>
              </a:r>
            </a:p>
          </p:txBody>
        </p:sp>
      </p:grpSp>
      <p:grpSp>
        <p:nvGrpSpPr>
          <p:cNvPr id="261" name="Groupe 29"/>
          <p:cNvGrpSpPr/>
          <p:nvPr/>
        </p:nvGrpSpPr>
        <p:grpSpPr>
          <a:xfrm>
            <a:off x="5915157" y="1784182"/>
            <a:ext cx="1928820" cy="1985971"/>
            <a:chOff x="0" y="0"/>
            <a:chExt cx="1928819" cy="1985970"/>
          </a:xfrm>
        </p:grpSpPr>
        <p:grpSp>
          <p:nvGrpSpPr>
            <p:cNvPr id="259" name="Groupe 28"/>
            <p:cNvGrpSpPr/>
            <p:nvPr/>
          </p:nvGrpSpPr>
          <p:grpSpPr>
            <a:xfrm>
              <a:off x="-1" y="-1"/>
              <a:ext cx="1928821" cy="1985971"/>
              <a:chOff x="0" y="0"/>
              <a:chExt cx="1928819" cy="1985970"/>
            </a:xfrm>
          </p:grpSpPr>
          <p:sp>
            <p:nvSpPr>
              <p:cNvPr id="257" name="Rectangle"/>
              <p:cNvSpPr/>
              <p:nvPr/>
            </p:nvSpPr>
            <p:spPr>
              <a:xfrm>
                <a:off x="-1" y="-1"/>
                <a:ext cx="1928821" cy="1985971"/>
              </a:xfrm>
              <a:prstGeom prst="rect">
                <a:avLst/>
              </a:prstGeom>
              <a:solidFill>
                <a:schemeClr val="accent2">
                  <a:lumOff val="8002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000">
                    <a:latin typeface="+mn-lt"/>
                    <a:ea typeface="+mn-ea"/>
                    <a:cs typeface="+mn-cs"/>
                    <a:sym typeface="Arial"/>
                  </a:defRPr>
                </a:pPr>
              </a:p>
            </p:txBody>
          </p:sp>
          <p:sp>
            <p:nvSpPr>
              <p:cNvPr id="258" name="3800"/>
              <p:cNvSpPr txBox="1"/>
              <p:nvPr/>
            </p:nvSpPr>
            <p:spPr>
              <a:xfrm>
                <a:off x="212885" y="268608"/>
                <a:ext cx="1503054" cy="5988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4289" tIns="34289" rIns="34289" bIns="34289" numCol="1" anchor="t">
                <a:spAutoFit/>
              </a:bodyPr>
              <a:lstStyle>
                <a:lvl1pPr>
                  <a:defRPr b="1" sz="3800">
                    <a:latin typeface="+mn-lt"/>
                    <a:ea typeface="+mn-ea"/>
                    <a:cs typeface="+mn-cs"/>
                    <a:sym typeface="Arial"/>
                  </a:defRPr>
                </a:lvl1pPr>
              </a:lstStyle>
              <a:p>
                <a:pPr/>
                <a:r>
                  <a:t>3800</a:t>
                </a:r>
              </a:p>
            </p:txBody>
          </p:sp>
        </p:grpSp>
        <p:sp>
          <p:nvSpPr>
            <p:cNvPr id="260" name="matchs exploitables après retrait des NaN"/>
            <p:cNvSpPr txBox="1"/>
            <p:nvPr/>
          </p:nvSpPr>
          <p:spPr>
            <a:xfrm>
              <a:off x="227173" y="1154433"/>
              <a:ext cx="1431613" cy="3987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4289" tIns="34289" rIns="34289" bIns="34289" numCol="1" anchor="t">
              <a:spAutoFit/>
            </a:bodyPr>
            <a:lstStyle>
              <a:lvl1pPr>
                <a:defRPr sz="1100">
                  <a:latin typeface="Inter"/>
                  <a:ea typeface="Inter"/>
                  <a:cs typeface="Inter"/>
                  <a:sym typeface="Inter"/>
                </a:defRPr>
              </a:lvl1pPr>
            </a:lstStyle>
            <a:p>
              <a:pPr/>
              <a:r>
                <a:t>matchs exploitables après retrait des NaN</a:t>
              </a:r>
            </a:p>
          </p:txBody>
        </p:sp>
      </p:grpSp>
      <p:sp>
        <p:nvSpPr>
          <p:cNvPr id="262" name="Conclusion modele"/>
          <p:cNvSpPr txBox="1"/>
          <p:nvPr/>
        </p:nvSpPr>
        <p:spPr>
          <a:xfrm>
            <a:off x="334327" y="4240531"/>
            <a:ext cx="1931673" cy="233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89" tIns="34289" rIns="34289" bIns="34289">
            <a:spAutoFit/>
          </a:bodyPr>
          <a:lstStyle>
            <a:lvl1pPr>
              <a:defRPr b="1" sz="1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Conclusion modele</a:t>
            </a:r>
          </a:p>
        </p:txBody>
      </p:sp>
      <p:sp>
        <p:nvSpPr>
          <p:cNvPr id="263" name="Le clustering joueurs a surtout séparé les niveaux de force, pas des profils techniques nets. Dans cette version, il réduit l'information et dégrade la performance."/>
          <p:cNvSpPr txBox="1"/>
          <p:nvPr/>
        </p:nvSpPr>
        <p:spPr>
          <a:xfrm>
            <a:off x="2384984" y="4168549"/>
            <a:ext cx="5646427" cy="398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89" tIns="34289" rIns="34289" bIns="34289">
            <a:spAutoFit/>
          </a:bodyPr>
          <a:lstStyle>
            <a:lvl1pPr>
              <a:defRPr sz="1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Le clustering joueurs a surtout séparé les niveaux de force, pas des profils techniques nets. Dans cette version, il réduit l'information et dégrade la performance.</a:t>
            </a:r>
          </a:p>
        </p:txBody>
      </p:sp>
      <p:sp>
        <p:nvSpPr>
          <p:cNvPr id="264" name="3"/>
          <p:cNvSpPr txBox="1"/>
          <p:nvPr/>
        </p:nvSpPr>
        <p:spPr>
          <a:xfrm>
            <a:off x="8492489" y="4726306"/>
            <a:ext cx="317187" cy="154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89" tIns="34289" rIns="34289" bIns="34289">
            <a:spAutoFit/>
          </a:bodyPr>
          <a:lstStyle>
            <a:lvl1pPr algn="r">
              <a:defRPr sz="700">
                <a:solidFill>
                  <a:srgbClr val="555555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Fond FC Barcelone" descr="Fond FC Barcelone"/>
          <p:cNvPicPr>
            <a:picLocks noChangeAspect="1"/>
          </p:cNvPicPr>
          <p:nvPr/>
        </p:nvPicPr>
        <p:blipFill>
          <a:blip r:embed="rId2">
            <a:extLst/>
          </a:blip>
          <a:srcRect l="0" t="7812" r="8100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Google Shape;75;p16"/>
          <p:cNvSpPr txBox="1"/>
          <p:nvPr>
            <p:ph type="title"/>
          </p:nvPr>
        </p:nvSpPr>
        <p:spPr>
          <a:xfrm>
            <a:off x="1192662" y="403309"/>
            <a:ext cx="5315105" cy="533103"/>
          </a:xfrm>
          <a:prstGeom prst="rect">
            <a:avLst/>
          </a:prstGeom>
        </p:spPr>
        <p:txBody>
          <a:bodyPr/>
          <a:lstStyle>
            <a:lvl1pPr defTabSz="822958">
              <a:defRPr sz="2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Architecture - Entrainement</a:t>
            </a:r>
          </a:p>
        </p:txBody>
      </p:sp>
      <p:pic>
        <p:nvPicPr>
          <p:cNvPr id="268" name="Google Shape;76;p16" descr="Google Shape;76;p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3375" y="482852"/>
            <a:ext cx="576901" cy="385907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Google Shape;77;p16"/>
          <p:cNvSpPr/>
          <p:nvPr/>
        </p:nvSpPr>
        <p:spPr>
          <a:xfrm>
            <a:off x="10224" y="4892025"/>
            <a:ext cx="9144001" cy="251400"/>
          </a:xfrm>
          <a:prstGeom prst="rect">
            <a:avLst/>
          </a:prstGeom>
          <a:solidFill>
            <a:srgbClr val="C3FF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grpSp>
        <p:nvGrpSpPr>
          <p:cNvPr id="272" name="Groupe 27"/>
          <p:cNvGrpSpPr/>
          <p:nvPr/>
        </p:nvGrpSpPr>
        <p:grpSpPr>
          <a:xfrm>
            <a:off x="7096703" y="1678900"/>
            <a:ext cx="1143104" cy="1615652"/>
            <a:chOff x="0" y="0"/>
            <a:chExt cx="1143102" cy="1615651"/>
          </a:xfrm>
        </p:grpSpPr>
        <p:pic>
          <p:nvPicPr>
            <p:cNvPr id="270" name="Image 7" descr="Image 7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396341"/>
              <a:ext cx="1143104" cy="12193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1" name="Image 13" descr="Image 13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220147" y="-1"/>
              <a:ext cx="844695" cy="5306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76" name="Groupe 17"/>
          <p:cNvGrpSpPr/>
          <p:nvPr/>
        </p:nvGrpSpPr>
        <p:grpSpPr>
          <a:xfrm>
            <a:off x="2546642" y="1488948"/>
            <a:ext cx="2268731" cy="2356459"/>
            <a:chOff x="0" y="0"/>
            <a:chExt cx="2268729" cy="2356458"/>
          </a:xfrm>
        </p:grpSpPr>
        <p:pic>
          <p:nvPicPr>
            <p:cNvPr id="273" name="Image 2" descr="Image 2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43865" y="837870"/>
              <a:ext cx="1196486" cy="5776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4" name="Image 15" descr="Image 15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392206" y="-1"/>
              <a:ext cx="699803" cy="6272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5" name="ZoneTexte 16"/>
            <p:cNvSpPr txBox="1"/>
            <p:nvPr/>
          </p:nvSpPr>
          <p:spPr>
            <a:xfrm>
              <a:off x="0" y="1617321"/>
              <a:ext cx="2268730" cy="7391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/>
            <a:p>
              <a:pPr>
                <a:defRPr>
                  <a:latin typeface="Inter"/>
                  <a:ea typeface="Inter"/>
                  <a:cs typeface="Inter"/>
                  <a:sym typeface="Inter"/>
                </a:defRPr>
              </a:pPr>
              <a:r>
                <a:t>Construction dataset</a:t>
              </a:r>
              <a:br/>
              <a:r>
                <a:t>et entrainement du modèle </a:t>
              </a:r>
            </a:p>
            <a:p>
              <a:pPr>
                <a:defRPr>
                  <a:latin typeface="Inter"/>
                  <a:ea typeface="Inter"/>
                  <a:cs typeface="Inter"/>
                  <a:sym typeface="Inter"/>
                </a:defRPr>
              </a:pPr>
              <a:r>
                <a:t>en Local</a:t>
              </a:r>
            </a:p>
          </p:txBody>
        </p:sp>
      </p:grpSp>
      <p:sp>
        <p:nvSpPr>
          <p:cNvPr id="277" name="Fleche FastAPI vers Render"/>
          <p:cNvSpPr/>
          <p:nvPr/>
        </p:nvSpPr>
        <p:spPr>
          <a:xfrm flipV="1">
            <a:off x="1664018" y="2785792"/>
            <a:ext cx="1026493" cy="122925"/>
          </a:xfrm>
          <a:prstGeom prst="line">
            <a:avLst/>
          </a:prstGeom>
          <a:ln w="19050" cap="rnd">
            <a:solidFill>
              <a:srgbClr val="01595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8" name="Fleche FastAPI vers Render"/>
          <p:cNvSpPr/>
          <p:nvPr/>
        </p:nvSpPr>
        <p:spPr>
          <a:xfrm flipV="1">
            <a:off x="3886991" y="2579290"/>
            <a:ext cx="863916" cy="70974"/>
          </a:xfrm>
          <a:prstGeom prst="line">
            <a:avLst/>
          </a:prstGeom>
          <a:ln w="19050" cap="rnd">
            <a:solidFill>
              <a:srgbClr val="01595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9" name="Fleche FastAPI vers Render"/>
          <p:cNvSpPr/>
          <p:nvPr/>
        </p:nvSpPr>
        <p:spPr>
          <a:xfrm flipV="1">
            <a:off x="6259795" y="2494807"/>
            <a:ext cx="836910" cy="11838"/>
          </a:xfrm>
          <a:prstGeom prst="line">
            <a:avLst/>
          </a:prstGeom>
          <a:ln w="19050" cap="rnd">
            <a:solidFill>
              <a:srgbClr val="01595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82" name="Groupe 36"/>
          <p:cNvGrpSpPr/>
          <p:nvPr/>
        </p:nvGrpSpPr>
        <p:grpSpPr>
          <a:xfrm>
            <a:off x="904196" y="2278924"/>
            <a:ext cx="759827" cy="1350573"/>
            <a:chOff x="-1" y="-1"/>
            <a:chExt cx="759826" cy="1350572"/>
          </a:xfrm>
        </p:grpSpPr>
        <p:pic>
          <p:nvPicPr>
            <p:cNvPr id="280" name="Image 9" descr="Image 9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2" y="-2"/>
              <a:ext cx="759828" cy="6983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1" name="Image 35" descr="Image 35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-2" y="572215"/>
              <a:ext cx="759828" cy="778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89" name="Groupe 39"/>
          <p:cNvGrpSpPr/>
          <p:nvPr/>
        </p:nvGrpSpPr>
        <p:grpSpPr>
          <a:xfrm>
            <a:off x="4750906" y="1740509"/>
            <a:ext cx="1508900" cy="1553605"/>
            <a:chOff x="0" y="-1"/>
            <a:chExt cx="1508898" cy="1553604"/>
          </a:xfrm>
        </p:grpSpPr>
        <p:grpSp>
          <p:nvGrpSpPr>
            <p:cNvPr id="287" name="Groupe 26"/>
            <p:cNvGrpSpPr/>
            <p:nvPr/>
          </p:nvGrpSpPr>
          <p:grpSpPr>
            <a:xfrm>
              <a:off x="0" y="-2"/>
              <a:ext cx="1508899" cy="1553606"/>
              <a:chOff x="0" y="0"/>
              <a:chExt cx="1508898" cy="1553604"/>
            </a:xfrm>
          </p:grpSpPr>
          <p:grpSp>
            <p:nvGrpSpPr>
              <p:cNvPr id="285" name="Groupe 3"/>
              <p:cNvGrpSpPr/>
              <p:nvPr/>
            </p:nvGrpSpPr>
            <p:grpSpPr>
              <a:xfrm>
                <a:off x="0" y="484198"/>
                <a:ext cx="1508899" cy="1069407"/>
                <a:chOff x="0" y="0"/>
                <a:chExt cx="1508898" cy="1069405"/>
              </a:xfrm>
            </p:grpSpPr>
            <p:pic>
              <p:nvPicPr>
                <p:cNvPr id="283" name="Image 4" descr="Image 4"/>
                <p:cNvPicPr>
                  <a:picLocks noChangeAspect="1"/>
                </p:cNvPicPr>
                <p:nvPr/>
              </p:nvPicPr>
              <p:blipFill>
                <a:blip r:embed="rId10">
                  <a:extLst/>
                </a:blip>
                <a:stretch>
                  <a:fillRect/>
                </a:stretch>
              </p:blipFill>
              <p:spPr>
                <a:xfrm>
                  <a:off x="0" y="-1"/>
                  <a:ext cx="1508899" cy="762073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284" name="ZoneTexte 5"/>
                <p:cNvSpPr txBox="1"/>
                <p:nvPr/>
              </p:nvSpPr>
              <p:spPr>
                <a:xfrm>
                  <a:off x="345738" y="762069"/>
                  <a:ext cx="779395" cy="3073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8" tIns="45718" rIns="45718" bIns="45718" numCol="1" anchor="t">
                  <a:spAutoFit/>
                </a:bodyPr>
                <a:lstStyle>
                  <a:lvl1pPr>
                    <a:defRPr>
                      <a:latin typeface="Inter"/>
                      <a:ea typeface="Inter"/>
                      <a:cs typeface="Inter"/>
                      <a:sym typeface="Inter"/>
                    </a:defRPr>
                  </a:lvl1pPr>
                </a:lstStyle>
                <a:p>
                  <a:pPr/>
                  <a:r>
                    <a:t>Tracking</a:t>
                  </a:r>
                </a:p>
              </p:txBody>
            </p:sp>
          </p:grpSp>
          <p:pic>
            <p:nvPicPr>
              <p:cNvPr id="286" name="Image 11" descr="Image 11"/>
              <p:cNvPicPr>
                <a:picLocks noChangeAspect="1"/>
              </p:cNvPicPr>
              <p:nvPr/>
            </p:nvPicPr>
            <p:blipFill>
              <a:blip r:embed="rId11">
                <a:extLst/>
              </a:blip>
              <a:stretch>
                <a:fillRect/>
              </a:stretch>
            </p:blipFill>
            <p:spPr>
              <a:xfrm>
                <a:off x="390419" y="-1"/>
                <a:ext cx="728060" cy="59903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288" name="Image 38" descr="Image 38"/>
            <p:cNvPicPr>
              <a:picLocks noChangeAspect="1"/>
            </p:cNvPicPr>
            <p:nvPr/>
          </p:nvPicPr>
          <p:blipFill>
            <a:blip r:embed="rId12">
              <a:extLst/>
            </a:blip>
            <a:stretch>
              <a:fillRect/>
            </a:stretch>
          </p:blipFill>
          <p:spPr>
            <a:xfrm>
              <a:off x="1138059" y="320055"/>
              <a:ext cx="351250" cy="2133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90" name="Image 41" descr="Image 41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3092480" y="3816081"/>
            <a:ext cx="759823" cy="4106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Fond OM" descr="Fond OM"/>
          <p:cNvPicPr>
            <a:picLocks noChangeAspect="1"/>
          </p:cNvPicPr>
          <p:nvPr/>
        </p:nvPicPr>
        <p:blipFill>
          <a:blip r:embed="rId2">
            <a:extLst/>
          </a:blip>
          <a:srcRect l="0" t="7813" r="0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93" name="Zone API-Front"/>
          <p:cNvSpPr/>
          <p:nvPr/>
        </p:nvSpPr>
        <p:spPr>
          <a:xfrm>
            <a:off x="4857472" y="1433652"/>
            <a:ext cx="3777003" cy="3123615"/>
          </a:xfrm>
          <a:prstGeom prst="roundRect">
            <a:avLst>
              <a:gd name="adj" fmla="val 5500"/>
            </a:avLst>
          </a:prstGeom>
          <a:ln w="28575" cap="rnd">
            <a:solidFill>
              <a:srgbClr val="0FB2BE"/>
            </a:solidFill>
          </a:ln>
          <a:effectLst>
            <a:outerShdw sx="100000" sy="100000" kx="0" ky="0" algn="b" rotWithShape="0" blurRad="76200" dist="20000" dir="5400000">
              <a:srgbClr val="0E3449">
                <a:alpha val="16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294" name="Google Shape;75;p16"/>
          <p:cNvSpPr txBox="1"/>
          <p:nvPr>
            <p:ph type="title"/>
          </p:nvPr>
        </p:nvSpPr>
        <p:spPr>
          <a:xfrm>
            <a:off x="1192662" y="403309"/>
            <a:ext cx="5315105" cy="533103"/>
          </a:xfrm>
          <a:prstGeom prst="rect">
            <a:avLst/>
          </a:prstGeom>
        </p:spPr>
        <p:txBody>
          <a:bodyPr/>
          <a:lstStyle>
            <a:lvl1pPr defTabSz="822958">
              <a:defRPr sz="2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Architecture - Inference</a:t>
            </a:r>
          </a:p>
        </p:txBody>
      </p:sp>
      <p:pic>
        <p:nvPicPr>
          <p:cNvPr id="295" name="Google Shape;76;p16" descr="Google Shape;76;p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3375" y="482852"/>
            <a:ext cx="576901" cy="385907"/>
          </a:xfrm>
          <a:prstGeom prst="rect">
            <a:avLst/>
          </a:prstGeom>
          <a:ln w="12700">
            <a:miter lim="400000"/>
          </a:ln>
        </p:spPr>
      </p:pic>
      <p:sp>
        <p:nvSpPr>
          <p:cNvPr id="296" name="Google Shape;77;p16"/>
          <p:cNvSpPr/>
          <p:nvPr/>
        </p:nvSpPr>
        <p:spPr>
          <a:xfrm>
            <a:off x="10224" y="4892025"/>
            <a:ext cx="9144001" cy="251400"/>
          </a:xfrm>
          <a:prstGeom prst="rect">
            <a:avLst/>
          </a:prstGeom>
          <a:solidFill>
            <a:srgbClr val="C3FF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pic>
        <p:nvPicPr>
          <p:cNvPr id="297" name="Image 19" descr="Image 1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74482" y="1035810"/>
            <a:ext cx="1010882" cy="31906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00" name="Groupe 83"/>
          <p:cNvGrpSpPr/>
          <p:nvPr/>
        </p:nvGrpSpPr>
        <p:grpSpPr>
          <a:xfrm>
            <a:off x="372631" y="3143066"/>
            <a:ext cx="1143105" cy="1543943"/>
            <a:chOff x="0" y="-1"/>
            <a:chExt cx="1143103" cy="1543941"/>
          </a:xfrm>
        </p:grpSpPr>
        <p:pic>
          <p:nvPicPr>
            <p:cNvPr id="298" name="Image 11" descr="Image 11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-1" y="324630"/>
              <a:ext cx="1143105" cy="12193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9" name="Image 23" descr="Image 23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204525" y="-2"/>
              <a:ext cx="844694" cy="5307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01" name="Fleche FastAPI vers LLM"/>
          <p:cNvSpPr/>
          <p:nvPr/>
        </p:nvSpPr>
        <p:spPr>
          <a:xfrm flipV="1">
            <a:off x="5789912" y="3528815"/>
            <a:ext cx="1337338" cy="425772"/>
          </a:xfrm>
          <a:prstGeom prst="line">
            <a:avLst/>
          </a:prstGeom>
          <a:ln w="19050" cap="rnd">
            <a:solidFill>
              <a:srgbClr val="01595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2" name="Fleche FastAPI vers App"/>
          <p:cNvSpPr/>
          <p:nvPr/>
        </p:nvSpPr>
        <p:spPr>
          <a:xfrm flipV="1">
            <a:off x="2994767" y="2074135"/>
            <a:ext cx="125592" cy="297451"/>
          </a:xfrm>
          <a:prstGeom prst="line">
            <a:avLst/>
          </a:prstGeom>
          <a:ln w="19050" cap="rnd">
            <a:solidFill>
              <a:srgbClr val="01595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3" name="Fleche FastAPI vers App"/>
          <p:cNvSpPr/>
          <p:nvPr/>
        </p:nvSpPr>
        <p:spPr>
          <a:xfrm flipV="1">
            <a:off x="4321883" y="4040701"/>
            <a:ext cx="710215" cy="62685"/>
          </a:xfrm>
          <a:prstGeom prst="line">
            <a:avLst/>
          </a:prstGeom>
          <a:ln w="19050" cap="rnd">
            <a:solidFill>
              <a:srgbClr val="01595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4" name="Fleche FastAPI vers App"/>
          <p:cNvSpPr/>
          <p:nvPr/>
        </p:nvSpPr>
        <p:spPr>
          <a:xfrm flipV="1">
            <a:off x="3104418" y="2995964"/>
            <a:ext cx="1887400" cy="58197"/>
          </a:xfrm>
          <a:prstGeom prst="line">
            <a:avLst/>
          </a:prstGeom>
          <a:ln w="19050" cap="rnd">
            <a:solidFill>
              <a:srgbClr val="01595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5" name="Fleche FastAPI vers Render"/>
          <p:cNvSpPr/>
          <p:nvPr/>
        </p:nvSpPr>
        <p:spPr>
          <a:xfrm>
            <a:off x="3935236" y="1606811"/>
            <a:ext cx="1139248" cy="201291"/>
          </a:xfrm>
          <a:prstGeom prst="line">
            <a:avLst/>
          </a:prstGeom>
          <a:ln w="19050" cap="rnd">
            <a:solidFill>
              <a:srgbClr val="01595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6" name="Fleche FastAPI vers LLM"/>
          <p:cNvSpPr/>
          <p:nvPr/>
        </p:nvSpPr>
        <p:spPr>
          <a:xfrm>
            <a:off x="5788223" y="1974294"/>
            <a:ext cx="1339026" cy="989341"/>
          </a:xfrm>
          <a:prstGeom prst="line">
            <a:avLst/>
          </a:prstGeom>
          <a:ln w="19050" cap="rnd">
            <a:solidFill>
              <a:srgbClr val="01595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7" name="Fleche FastAPI vers LLM"/>
          <p:cNvSpPr/>
          <p:nvPr/>
        </p:nvSpPr>
        <p:spPr>
          <a:xfrm>
            <a:off x="6176093" y="3086255"/>
            <a:ext cx="951157" cy="174365"/>
          </a:xfrm>
          <a:prstGeom prst="line">
            <a:avLst/>
          </a:prstGeom>
          <a:ln w="19050" cap="rnd">
            <a:solidFill>
              <a:srgbClr val="01595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8" name="Fleche FastAPI vers Render"/>
          <p:cNvSpPr/>
          <p:nvPr/>
        </p:nvSpPr>
        <p:spPr>
          <a:xfrm>
            <a:off x="1515730" y="3970582"/>
            <a:ext cx="1297265" cy="126073"/>
          </a:xfrm>
          <a:prstGeom prst="line">
            <a:avLst/>
          </a:prstGeom>
          <a:ln w="19050" cap="rnd">
            <a:solidFill>
              <a:srgbClr val="01595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311" name="Groupe 91"/>
          <p:cNvGrpSpPr/>
          <p:nvPr/>
        </p:nvGrpSpPr>
        <p:grpSpPr>
          <a:xfrm>
            <a:off x="2298218" y="2371580"/>
            <a:ext cx="806206" cy="1390017"/>
            <a:chOff x="0" y="-1"/>
            <a:chExt cx="806205" cy="1390016"/>
          </a:xfrm>
        </p:grpSpPr>
        <p:pic>
          <p:nvPicPr>
            <p:cNvPr id="309" name="Image 15" descr="Image 15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-1" y="-2"/>
              <a:ext cx="759826" cy="6983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0" name="Image 90" descr="Image 90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46380" y="611659"/>
              <a:ext cx="759825" cy="7783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12" name="Image 93" descr="Image 93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7307907" y="328874"/>
            <a:ext cx="707869" cy="681972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Fleche FastAPI vers Render"/>
          <p:cNvSpPr/>
          <p:nvPr/>
        </p:nvSpPr>
        <p:spPr>
          <a:xfrm flipH="1">
            <a:off x="6015517" y="979023"/>
            <a:ext cx="1652007" cy="216319"/>
          </a:xfrm>
          <a:prstGeom prst="line">
            <a:avLst/>
          </a:prstGeom>
          <a:ln w="19050" cap="rnd">
            <a:solidFill>
              <a:srgbClr val="015955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320" name="Groupe 212"/>
          <p:cNvGrpSpPr/>
          <p:nvPr/>
        </p:nvGrpSpPr>
        <p:grpSpPr>
          <a:xfrm>
            <a:off x="2812992" y="3443895"/>
            <a:ext cx="1508899" cy="1452149"/>
            <a:chOff x="0" y="-1"/>
            <a:chExt cx="1508898" cy="1452148"/>
          </a:xfrm>
        </p:grpSpPr>
        <p:grpSp>
          <p:nvGrpSpPr>
            <p:cNvPr id="318" name="Groupe 52"/>
            <p:cNvGrpSpPr/>
            <p:nvPr/>
          </p:nvGrpSpPr>
          <p:grpSpPr>
            <a:xfrm>
              <a:off x="0" y="-2"/>
              <a:ext cx="1508899" cy="1452149"/>
              <a:chOff x="0" y="-1"/>
              <a:chExt cx="1508898" cy="1452148"/>
            </a:xfrm>
          </p:grpSpPr>
          <p:grpSp>
            <p:nvGrpSpPr>
              <p:cNvPr id="316" name="Groupe 7"/>
              <p:cNvGrpSpPr/>
              <p:nvPr/>
            </p:nvGrpSpPr>
            <p:grpSpPr>
              <a:xfrm>
                <a:off x="0" y="401257"/>
                <a:ext cx="1508899" cy="1050891"/>
                <a:chOff x="0" y="0"/>
                <a:chExt cx="1508898" cy="1050889"/>
              </a:xfrm>
            </p:grpSpPr>
            <p:pic>
              <p:nvPicPr>
                <p:cNvPr id="314" name="Image 8" descr="Image 8"/>
                <p:cNvPicPr>
                  <a:picLocks noChangeAspect="1"/>
                </p:cNvPicPr>
                <p:nvPr/>
              </p:nvPicPr>
              <p:blipFill>
                <a:blip r:embed="rId10">
                  <a:extLst/>
                </a:blip>
                <a:stretch>
                  <a:fillRect/>
                </a:stretch>
              </p:blipFill>
              <p:spPr>
                <a:xfrm>
                  <a:off x="0" y="-1"/>
                  <a:ext cx="1508899" cy="762073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315" name="ZoneTexte 9"/>
                <p:cNvSpPr txBox="1"/>
                <p:nvPr/>
              </p:nvSpPr>
              <p:spPr>
                <a:xfrm>
                  <a:off x="345739" y="762069"/>
                  <a:ext cx="588399" cy="28882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8" tIns="45718" rIns="45718" bIns="45718" numCol="1" anchor="t">
                  <a:spAutoFit/>
                </a:bodyPr>
                <a:lstStyle>
                  <a:lvl1pPr>
                    <a:defRPr>
                      <a:latin typeface="+mn-lt"/>
                      <a:ea typeface="+mn-ea"/>
                      <a:cs typeface="+mn-cs"/>
                      <a:sym typeface="Arial"/>
                    </a:defRPr>
                  </a:lvl1pPr>
                </a:lstStyle>
                <a:p>
                  <a:pPr/>
                  <a:r>
                    <a:t>Model</a:t>
                  </a:r>
                </a:p>
              </p:txBody>
            </p:sp>
          </p:grpSp>
          <p:pic>
            <p:nvPicPr>
              <p:cNvPr id="317" name="Image 21" descr="Image 21"/>
              <p:cNvPicPr>
                <a:picLocks noChangeAspect="1"/>
              </p:cNvPicPr>
              <p:nvPr/>
            </p:nvPicPr>
            <p:blipFill>
              <a:blip r:embed="rId11">
                <a:extLst/>
              </a:blip>
              <a:stretch>
                <a:fillRect/>
              </a:stretch>
            </p:blipFill>
            <p:spPr>
              <a:xfrm>
                <a:off x="422990" y="-2"/>
                <a:ext cx="728061" cy="59903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319" name="Image 126" descr="Image 126"/>
            <p:cNvPicPr>
              <a:picLocks noChangeAspect="1"/>
            </p:cNvPicPr>
            <p:nvPr/>
          </p:nvPicPr>
          <p:blipFill>
            <a:blip r:embed="rId12">
              <a:extLst/>
            </a:blip>
            <a:stretch>
              <a:fillRect/>
            </a:stretch>
          </p:blipFill>
          <p:spPr>
            <a:xfrm>
              <a:off x="1086754" y="271673"/>
              <a:ext cx="351250" cy="2133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25" name="Groupe 203"/>
          <p:cNvGrpSpPr/>
          <p:nvPr/>
        </p:nvGrpSpPr>
        <p:grpSpPr>
          <a:xfrm>
            <a:off x="5074479" y="1489795"/>
            <a:ext cx="1284875" cy="863619"/>
            <a:chOff x="-1" y="0"/>
            <a:chExt cx="1284874" cy="863618"/>
          </a:xfrm>
        </p:grpSpPr>
        <p:sp>
          <p:nvSpPr>
            <p:cNvPr id="321" name="ZoneTexte 119"/>
            <p:cNvSpPr txBox="1"/>
            <p:nvPr/>
          </p:nvSpPr>
          <p:spPr>
            <a:xfrm>
              <a:off x="281169" y="556282"/>
              <a:ext cx="1003705" cy="3073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>
                  <a:latin typeface="Inter"/>
                  <a:ea typeface="Inter"/>
                  <a:cs typeface="Inter"/>
                  <a:sym typeface="Inter"/>
                </a:defRPr>
              </a:lvl1pPr>
            </a:lstStyle>
            <a:p>
              <a:pPr/>
              <a:r>
                <a:t>/tchat</a:t>
              </a:r>
            </a:p>
          </p:txBody>
        </p:sp>
        <p:grpSp>
          <p:nvGrpSpPr>
            <p:cNvPr id="324" name="Groupe 202"/>
            <p:cNvGrpSpPr/>
            <p:nvPr/>
          </p:nvGrpSpPr>
          <p:grpSpPr>
            <a:xfrm>
              <a:off x="-2" y="0"/>
              <a:ext cx="1134275" cy="632040"/>
              <a:chOff x="0" y="0"/>
              <a:chExt cx="1134273" cy="632039"/>
            </a:xfrm>
          </p:grpSpPr>
          <p:pic>
            <p:nvPicPr>
              <p:cNvPr id="322" name="Image 6" descr="Image 6"/>
              <p:cNvPicPr>
                <a:picLocks noChangeAspect="1"/>
              </p:cNvPicPr>
              <p:nvPr/>
            </p:nvPicPr>
            <p:blipFill>
              <a:blip r:embed="rId13">
                <a:extLst/>
              </a:blip>
              <a:stretch>
                <a:fillRect/>
              </a:stretch>
            </p:blipFill>
            <p:spPr>
              <a:xfrm>
                <a:off x="-1" y="-1"/>
                <a:ext cx="713749" cy="63204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23" name="Image 192" descr="Image 192"/>
              <p:cNvPicPr>
                <a:picLocks noChangeAspect="1"/>
              </p:cNvPicPr>
              <p:nvPr/>
            </p:nvPicPr>
            <p:blipFill>
              <a:blip r:embed="rId12">
                <a:extLst/>
              </a:blip>
              <a:stretch>
                <a:fillRect/>
              </a:stretch>
            </p:blipFill>
            <p:spPr>
              <a:xfrm>
                <a:off x="783021" y="207978"/>
                <a:ext cx="351252" cy="21338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grpSp>
        <p:nvGrpSpPr>
          <p:cNvPr id="330" name="Groupe 211"/>
          <p:cNvGrpSpPr/>
          <p:nvPr/>
        </p:nvGrpSpPr>
        <p:grpSpPr>
          <a:xfrm>
            <a:off x="6998003" y="2855762"/>
            <a:ext cx="1327678" cy="1005705"/>
            <a:chOff x="0" y="-2"/>
            <a:chExt cx="1327677" cy="1005704"/>
          </a:xfrm>
        </p:grpSpPr>
        <p:grpSp>
          <p:nvGrpSpPr>
            <p:cNvPr id="328" name="Groupe 122"/>
            <p:cNvGrpSpPr/>
            <p:nvPr/>
          </p:nvGrpSpPr>
          <p:grpSpPr>
            <a:xfrm>
              <a:off x="129243" y="-3"/>
              <a:ext cx="1198434" cy="1005706"/>
              <a:chOff x="0" y="-1"/>
              <a:chExt cx="1198433" cy="1005704"/>
            </a:xfrm>
          </p:grpSpPr>
          <p:pic>
            <p:nvPicPr>
              <p:cNvPr id="326" name="Image 13" descr="Image 13"/>
              <p:cNvPicPr>
                <a:picLocks noChangeAspect="1"/>
              </p:cNvPicPr>
              <p:nvPr/>
            </p:nvPicPr>
            <p:blipFill>
              <a:blip r:embed="rId14">
                <a:extLst/>
              </a:blip>
              <a:stretch>
                <a:fillRect/>
              </a:stretch>
            </p:blipFill>
            <p:spPr>
              <a:xfrm>
                <a:off x="-1" y="-2"/>
                <a:ext cx="1198435" cy="69837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27" name="ZoneTexte 114"/>
              <p:cNvSpPr txBox="1"/>
              <p:nvPr/>
            </p:nvSpPr>
            <p:spPr>
              <a:xfrm>
                <a:off x="386153" y="698367"/>
                <a:ext cx="519120" cy="30733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>
                <a:lvl1pPr>
                  <a:defRPr>
                    <a:latin typeface="Inter"/>
                    <a:ea typeface="Inter"/>
                    <a:cs typeface="Inter"/>
                    <a:sym typeface="Inter"/>
                  </a:defRPr>
                </a:lvl1pPr>
              </a:lstStyle>
              <a:p>
                <a:pPr/>
                <a:r>
                  <a:t>Front</a:t>
                </a:r>
              </a:p>
            </p:txBody>
          </p:sp>
        </p:grpSp>
        <p:pic>
          <p:nvPicPr>
            <p:cNvPr id="329" name="Image 194" descr="Image 194"/>
            <p:cNvPicPr>
              <a:picLocks noChangeAspect="1"/>
            </p:cNvPicPr>
            <p:nvPr/>
          </p:nvPicPr>
          <p:blipFill>
            <a:blip r:embed="rId12">
              <a:extLst/>
            </a:blip>
            <a:stretch>
              <a:fillRect/>
            </a:stretch>
          </p:blipFill>
          <p:spPr>
            <a:xfrm>
              <a:off x="-1" y="455331"/>
              <a:ext cx="351250" cy="2133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35" name="Groupe 204"/>
          <p:cNvGrpSpPr/>
          <p:nvPr/>
        </p:nvGrpSpPr>
        <p:grpSpPr>
          <a:xfrm>
            <a:off x="4991813" y="2520993"/>
            <a:ext cx="1184277" cy="913430"/>
            <a:chOff x="0" y="0"/>
            <a:chExt cx="1184276" cy="913429"/>
          </a:xfrm>
        </p:grpSpPr>
        <p:grpSp>
          <p:nvGrpSpPr>
            <p:cNvPr id="333" name="Groupe 120"/>
            <p:cNvGrpSpPr/>
            <p:nvPr/>
          </p:nvGrpSpPr>
          <p:grpSpPr>
            <a:xfrm>
              <a:off x="-1" y="27498"/>
              <a:ext cx="1184278" cy="885932"/>
              <a:chOff x="0" y="0"/>
              <a:chExt cx="1184276" cy="885931"/>
            </a:xfrm>
          </p:grpSpPr>
          <p:pic>
            <p:nvPicPr>
              <p:cNvPr id="331" name="Image 4" descr="Image 4"/>
              <p:cNvPicPr>
                <a:picLocks noChangeAspect="1"/>
              </p:cNvPicPr>
              <p:nvPr/>
            </p:nvPicPr>
            <p:blipFill>
              <a:blip r:embed="rId13">
                <a:extLst/>
              </a:blip>
              <a:stretch>
                <a:fillRect/>
              </a:stretch>
            </p:blipFill>
            <p:spPr>
              <a:xfrm>
                <a:off x="-1" y="-1"/>
                <a:ext cx="713749" cy="63204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32" name="ZoneTexte 117"/>
              <p:cNvSpPr txBox="1"/>
              <p:nvPr/>
            </p:nvSpPr>
            <p:spPr>
              <a:xfrm>
                <a:off x="546480" y="362695"/>
                <a:ext cx="637797" cy="52323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/>
              <a:p>
                <a:pPr>
                  <a:defRPr>
                    <a:latin typeface="Inter"/>
                    <a:ea typeface="Inter"/>
                    <a:cs typeface="Inter"/>
                    <a:sym typeface="Inter"/>
                  </a:defRPr>
                </a:pPr>
                <a:r>
                  <a:t>/team</a:t>
                </a:r>
              </a:p>
              <a:p>
                <a:pPr>
                  <a:defRPr>
                    <a:latin typeface="Inter"/>
                    <a:ea typeface="Inter"/>
                    <a:cs typeface="Inter"/>
                    <a:sym typeface="Inter"/>
                  </a:defRPr>
                </a:pPr>
                <a:r>
                  <a:t>/player</a:t>
                </a:r>
              </a:p>
            </p:txBody>
          </p:sp>
        </p:grpSp>
        <p:pic>
          <p:nvPicPr>
            <p:cNvPr id="334" name="Image 196" descr="Image 196"/>
            <p:cNvPicPr>
              <a:picLocks noChangeAspect="1"/>
            </p:cNvPicPr>
            <p:nvPr/>
          </p:nvPicPr>
          <p:blipFill>
            <a:blip r:embed="rId12">
              <a:extLst/>
            </a:blip>
            <a:stretch>
              <a:fillRect/>
            </a:stretch>
          </p:blipFill>
          <p:spPr>
            <a:xfrm>
              <a:off x="642630" y="0"/>
              <a:ext cx="351250" cy="2133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40" name="Groupe 210"/>
          <p:cNvGrpSpPr/>
          <p:nvPr/>
        </p:nvGrpSpPr>
        <p:grpSpPr>
          <a:xfrm>
            <a:off x="5032095" y="3665180"/>
            <a:ext cx="1348453" cy="632042"/>
            <a:chOff x="0" y="0"/>
            <a:chExt cx="1348451" cy="632040"/>
          </a:xfrm>
        </p:grpSpPr>
        <p:grpSp>
          <p:nvGrpSpPr>
            <p:cNvPr id="338" name="Groupe 121"/>
            <p:cNvGrpSpPr/>
            <p:nvPr/>
          </p:nvGrpSpPr>
          <p:grpSpPr>
            <a:xfrm>
              <a:off x="-1" y="0"/>
              <a:ext cx="1348453" cy="632041"/>
              <a:chOff x="0" y="0"/>
              <a:chExt cx="1348451" cy="632040"/>
            </a:xfrm>
          </p:grpSpPr>
          <p:pic>
            <p:nvPicPr>
              <p:cNvPr id="336" name="Image 2" descr="Image 2"/>
              <p:cNvPicPr>
                <a:picLocks noChangeAspect="1"/>
              </p:cNvPicPr>
              <p:nvPr/>
            </p:nvPicPr>
            <p:blipFill>
              <a:blip r:embed="rId13">
                <a:extLst/>
              </a:blip>
              <a:stretch>
                <a:fillRect/>
              </a:stretch>
            </p:blipFill>
            <p:spPr>
              <a:xfrm>
                <a:off x="-1" y="0"/>
                <a:ext cx="713749" cy="63204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37" name="ZoneTexte 115"/>
              <p:cNvSpPr txBox="1"/>
              <p:nvPr/>
            </p:nvSpPr>
            <p:spPr>
              <a:xfrm>
                <a:off x="661256" y="289406"/>
                <a:ext cx="687196" cy="30733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8" tIns="45718" rIns="45718" bIns="45718" numCol="1" anchor="t">
                <a:spAutoFit/>
              </a:bodyPr>
              <a:lstStyle/>
              <a:p>
                <a:pPr>
                  <a:defRPr>
                    <a:latin typeface="+mn-lt"/>
                    <a:ea typeface="+mn-ea"/>
                    <a:cs typeface="+mn-cs"/>
                    <a:sym typeface="Arial"/>
                  </a:defRPr>
                </a:pPr>
                <a:r>
                  <a:t>/</a:t>
                </a:r>
                <a:r>
                  <a:rPr>
                    <a:latin typeface="Inter"/>
                    <a:ea typeface="Inter"/>
                    <a:cs typeface="Inter"/>
                    <a:sym typeface="Inter"/>
                  </a:rPr>
                  <a:t>predict</a:t>
                </a:r>
              </a:p>
            </p:txBody>
          </p:sp>
        </p:grpSp>
        <p:pic>
          <p:nvPicPr>
            <p:cNvPr id="339" name="Image 198" descr="Image 198"/>
            <p:cNvPicPr>
              <a:picLocks noChangeAspect="1"/>
            </p:cNvPicPr>
            <p:nvPr/>
          </p:nvPicPr>
          <p:blipFill>
            <a:blip r:embed="rId12">
              <a:extLst/>
            </a:blip>
            <a:stretch>
              <a:fillRect/>
            </a:stretch>
          </p:blipFill>
          <p:spPr>
            <a:xfrm>
              <a:off x="618101" y="50390"/>
              <a:ext cx="351250" cy="2133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45" name="Groupe 213"/>
          <p:cNvGrpSpPr/>
          <p:nvPr/>
        </p:nvGrpSpPr>
        <p:grpSpPr>
          <a:xfrm>
            <a:off x="2785854" y="936404"/>
            <a:ext cx="1149389" cy="1137735"/>
            <a:chOff x="0" y="-2"/>
            <a:chExt cx="1149388" cy="1137733"/>
          </a:xfrm>
        </p:grpSpPr>
        <p:grpSp>
          <p:nvGrpSpPr>
            <p:cNvPr id="343" name="Groupe 37"/>
            <p:cNvGrpSpPr/>
            <p:nvPr/>
          </p:nvGrpSpPr>
          <p:grpSpPr>
            <a:xfrm>
              <a:off x="209350" y="-3"/>
              <a:ext cx="940039" cy="1137735"/>
              <a:chOff x="0" y="-1"/>
              <a:chExt cx="940038" cy="1137733"/>
            </a:xfrm>
          </p:grpSpPr>
          <p:pic>
            <p:nvPicPr>
              <p:cNvPr id="341" name="Image 27" descr="Image 27"/>
              <p:cNvPicPr>
                <a:picLocks noChangeAspect="1"/>
              </p:cNvPicPr>
              <p:nvPr/>
            </p:nvPicPr>
            <p:blipFill>
              <a:blip r:embed="rId15">
                <a:extLst/>
              </a:blip>
              <a:stretch>
                <a:fillRect/>
              </a:stretch>
            </p:blipFill>
            <p:spPr>
              <a:xfrm>
                <a:off x="152389" y="-2"/>
                <a:ext cx="571736" cy="63821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42" name="Image 17" descr="Image 17"/>
              <p:cNvPicPr>
                <a:picLocks noChangeAspect="1"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0" y="555407"/>
                <a:ext cx="940039" cy="58232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344" name="Image 201" descr="Image 201"/>
            <p:cNvPicPr>
              <a:picLocks noChangeAspect="1"/>
            </p:cNvPicPr>
            <p:nvPr/>
          </p:nvPicPr>
          <p:blipFill>
            <a:blip r:embed="rId12">
              <a:extLst/>
            </a:blip>
            <a:stretch>
              <a:fillRect/>
            </a:stretch>
          </p:blipFill>
          <p:spPr>
            <a:xfrm>
              <a:off x="0" y="419989"/>
              <a:ext cx="351250" cy="2133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Fond Manchester United" descr="Fond Manchester United"/>
          <p:cNvPicPr>
            <a:picLocks noChangeAspect="1"/>
          </p:cNvPicPr>
          <p:nvPr/>
        </p:nvPicPr>
        <p:blipFill>
          <a:blip r:embed="rId2">
            <a:extLst/>
          </a:blip>
          <a:srcRect l="0" t="7813" r="0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Google Shape;75;p16"/>
          <p:cNvSpPr txBox="1"/>
          <p:nvPr>
            <p:ph type="title"/>
          </p:nvPr>
        </p:nvSpPr>
        <p:spPr>
          <a:xfrm>
            <a:off x="1192662" y="403309"/>
            <a:ext cx="5315105" cy="533103"/>
          </a:xfrm>
          <a:prstGeom prst="rect">
            <a:avLst/>
          </a:prstGeom>
        </p:spPr>
        <p:txBody>
          <a:bodyPr/>
          <a:lstStyle>
            <a:lvl1pPr defTabSz="822958">
              <a:defRPr sz="2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Evolutions</a:t>
            </a:r>
          </a:p>
        </p:txBody>
      </p:sp>
      <p:pic>
        <p:nvPicPr>
          <p:cNvPr id="349" name="Google Shape;76;p16" descr="Google Shape;76;p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3375" y="482852"/>
            <a:ext cx="576901" cy="385907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Google Shape;77;p16"/>
          <p:cNvSpPr/>
          <p:nvPr/>
        </p:nvSpPr>
        <p:spPr>
          <a:xfrm>
            <a:off x="10224" y="4892025"/>
            <a:ext cx="9144001" cy="251400"/>
          </a:xfrm>
          <a:prstGeom prst="rect">
            <a:avLst/>
          </a:prstGeom>
          <a:solidFill>
            <a:srgbClr val="C3FF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351" name="ZoneTexte 2"/>
          <p:cNvSpPr txBox="1"/>
          <p:nvPr/>
        </p:nvSpPr>
        <p:spPr>
          <a:xfrm>
            <a:off x="1238384" y="1975180"/>
            <a:ext cx="7036935" cy="1635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300"/>
              </a:spcBef>
              <a:buClr>
                <a:srgbClr val="015955"/>
              </a:buClr>
              <a:buSzPct val="100000"/>
              <a:buFont typeface="Arial"/>
              <a:buChar char="•"/>
              <a:defRPr sz="1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Améliorer le LLM (prompt engineering, les pré-remplissages des formulaires sur la vue « custom team »)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marL="228600" indent="-228600">
              <a:lnSpc>
                <a:spcPct val="120000"/>
              </a:lnSpc>
              <a:spcBef>
                <a:spcPts val="300"/>
              </a:spcBef>
              <a:buClr>
                <a:srgbClr val="015955"/>
              </a:buClr>
              <a:buSzPct val="100000"/>
              <a:buFont typeface="Arial"/>
              <a:buChar char="•"/>
              <a:defRPr sz="1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Amélioration du modèle : Passer à une target « probabilité de gagner un match »</a:t>
            </a:r>
          </a:p>
          <a:p>
            <a:pPr marL="228600" indent="-228600">
              <a:lnSpc>
                <a:spcPct val="120000"/>
              </a:lnSpc>
              <a:spcBef>
                <a:spcPts val="300"/>
              </a:spcBef>
              <a:buClr>
                <a:srgbClr val="015955"/>
              </a:buClr>
              <a:buSzPct val="100000"/>
              <a:buFont typeface="Arial"/>
              <a:buChar char="•"/>
              <a:defRPr sz="1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marL="228600" indent="-228600">
              <a:lnSpc>
                <a:spcPct val="120000"/>
              </a:lnSpc>
              <a:spcBef>
                <a:spcPts val="300"/>
              </a:spcBef>
              <a:buClr>
                <a:srgbClr val="015955"/>
              </a:buClr>
              <a:buSzPct val="100000"/>
              <a:buFont typeface="Arial"/>
              <a:buChar char="•"/>
              <a:defRPr sz="1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Recherche d’autres sources de données pour mieux jauger les joueurs</a:t>
            </a:r>
          </a:p>
          <a:p>
            <a:pPr marL="228600" indent="-228600">
              <a:lnSpc>
                <a:spcPct val="120000"/>
              </a:lnSpc>
              <a:spcBef>
                <a:spcPts val="300"/>
              </a:spcBef>
              <a:buClr>
                <a:srgbClr val="015955"/>
              </a:buClr>
              <a:buSzPct val="100000"/>
              <a:buFont typeface="Arial"/>
              <a:buChar char="•"/>
              <a:defRPr sz="1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marL="228600" indent="-228600">
              <a:lnSpc>
                <a:spcPct val="120000"/>
              </a:lnSpc>
              <a:buClr>
                <a:srgbClr val="015955"/>
              </a:buClr>
              <a:buSzPct val="100000"/>
              <a:buFont typeface="Arial"/>
              <a:buChar char="•"/>
              <a:defRPr sz="1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Ré-entrainement du modèle après ajout des nouveaux matchs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Fond Bayern Munich" descr="Fond Bayern Munich"/>
          <p:cNvPicPr>
            <a:picLocks noChangeAspect="1"/>
          </p:cNvPicPr>
          <p:nvPr/>
        </p:nvPicPr>
        <p:blipFill>
          <a:blip r:embed="rId2">
            <a:extLst/>
          </a:blip>
          <a:srcRect l="0" t="7813" r="0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Google Shape;75;p16"/>
          <p:cNvSpPr txBox="1"/>
          <p:nvPr>
            <p:ph type="title"/>
          </p:nvPr>
        </p:nvSpPr>
        <p:spPr>
          <a:xfrm>
            <a:off x="1192662" y="403309"/>
            <a:ext cx="5315105" cy="533103"/>
          </a:xfrm>
          <a:prstGeom prst="rect">
            <a:avLst/>
          </a:prstGeom>
        </p:spPr>
        <p:txBody>
          <a:bodyPr/>
          <a:lstStyle>
            <a:lvl1pPr defTabSz="822958">
              <a:defRPr sz="2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Conclusion</a:t>
            </a:r>
          </a:p>
        </p:txBody>
      </p:sp>
      <p:pic>
        <p:nvPicPr>
          <p:cNvPr id="355" name="Google Shape;76;p16" descr="Google Shape;76;p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3375" y="482852"/>
            <a:ext cx="576901" cy="385907"/>
          </a:xfrm>
          <a:prstGeom prst="rect">
            <a:avLst/>
          </a:prstGeom>
          <a:ln w="12700">
            <a:miter lim="400000"/>
          </a:ln>
        </p:spPr>
      </p:pic>
      <p:sp>
        <p:nvSpPr>
          <p:cNvPr id="356" name="Google Shape;77;p16"/>
          <p:cNvSpPr/>
          <p:nvPr/>
        </p:nvSpPr>
        <p:spPr>
          <a:xfrm>
            <a:off x="10224" y="4892025"/>
            <a:ext cx="9144001" cy="251400"/>
          </a:xfrm>
          <a:prstGeom prst="rect">
            <a:avLst/>
          </a:prstGeom>
          <a:solidFill>
            <a:srgbClr val="C3FF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357" name="ZoneTexte 2"/>
          <p:cNvSpPr txBox="1"/>
          <p:nvPr/>
        </p:nvSpPr>
        <p:spPr>
          <a:xfrm>
            <a:off x="1238383" y="1937025"/>
            <a:ext cx="6974090" cy="1907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71450" indent="-171450">
              <a:buClr>
                <a:srgbClr val="000000"/>
              </a:buClr>
              <a:buSzPct val="100000"/>
              <a:buFont typeface="Arial"/>
              <a:buChar char="•"/>
              <a:defRPr sz="1100">
                <a:latin typeface="Inter"/>
                <a:ea typeface="Inter"/>
                <a:cs typeface="Inter"/>
                <a:sym typeface="Inter"/>
              </a:defRPr>
            </a:pPr>
            <a:r>
              <a:t>Besoin : assister un entraineur de foot pour former son équipe</a:t>
            </a:r>
          </a:p>
          <a:p>
            <a:pPr marL="171450" indent="-171450">
              <a:buClr>
                <a:srgbClr val="000000"/>
              </a:buClr>
              <a:buSzPct val="100000"/>
              <a:buFont typeface="Arial"/>
              <a:buChar char="•"/>
              <a:defRPr sz="1100">
                <a:latin typeface="Inter"/>
                <a:ea typeface="Inter"/>
                <a:cs typeface="Inter"/>
                <a:sym typeface="Inter"/>
              </a:defRPr>
            </a:pPr>
          </a:p>
          <a:p>
            <a:pPr marL="171450" indent="-171450">
              <a:buClr>
                <a:srgbClr val="000000"/>
              </a:buClr>
              <a:buSzPct val="100000"/>
              <a:buFont typeface="Arial"/>
              <a:buChar char="•"/>
              <a:defRPr sz="1100">
                <a:latin typeface="Inter"/>
                <a:ea typeface="Inter"/>
                <a:cs typeface="Inter"/>
                <a:sym typeface="Inter"/>
              </a:defRPr>
            </a:pPr>
          </a:p>
          <a:p>
            <a:pPr marL="171450" indent="-171450">
              <a:buClr>
                <a:srgbClr val="000000"/>
              </a:buClr>
              <a:buSzPct val="100000"/>
              <a:buFont typeface="Arial"/>
              <a:buChar char="•"/>
              <a:defRPr sz="1100">
                <a:latin typeface="Inter"/>
                <a:ea typeface="Inter"/>
                <a:cs typeface="Inter"/>
                <a:sym typeface="Inter"/>
              </a:defRPr>
            </a:pPr>
            <a:r>
              <a:t>Proposition : une application pour l’aider à choisir ses joueurs</a:t>
            </a:r>
          </a:p>
          <a:p>
            <a:pPr marL="171450" indent="-171450">
              <a:buClr>
                <a:srgbClr val="000000"/>
              </a:buClr>
              <a:buSzPct val="100000"/>
              <a:buFont typeface="Arial"/>
              <a:buChar char="•"/>
              <a:defRPr sz="1100">
                <a:latin typeface="Inter"/>
                <a:ea typeface="Inter"/>
                <a:cs typeface="Inter"/>
                <a:sym typeface="Inter"/>
              </a:defRPr>
            </a:pPr>
          </a:p>
          <a:p>
            <a:pPr>
              <a:defRPr sz="1100">
                <a:latin typeface="Inter"/>
                <a:ea typeface="Inter"/>
                <a:cs typeface="Inter"/>
                <a:sym typeface="Inter"/>
              </a:defRPr>
            </a:pPr>
          </a:p>
          <a:p>
            <a:pPr marL="171450" indent="-171450">
              <a:buClr>
                <a:srgbClr val="000000"/>
              </a:buClr>
              <a:buSzPct val="100000"/>
              <a:buFont typeface="Arial"/>
              <a:buChar char="•"/>
              <a:defRPr sz="1100">
                <a:latin typeface="Inter"/>
                <a:ea typeface="Inter"/>
                <a:cs typeface="Inter"/>
                <a:sym typeface="Inter"/>
              </a:defRPr>
            </a:pPr>
            <a:r>
              <a:t>Plusieurs perspectives d’évolution</a:t>
            </a:r>
          </a:p>
          <a:p>
            <a:pPr marL="171450" indent="-171450">
              <a:buClr>
                <a:srgbClr val="000000"/>
              </a:buClr>
              <a:buSzPct val="100000"/>
              <a:buFont typeface="Arial"/>
              <a:buChar char="•"/>
              <a:defRPr sz="1100">
                <a:latin typeface="Inter"/>
                <a:ea typeface="Inter"/>
                <a:cs typeface="Inter"/>
                <a:sym typeface="Inter"/>
              </a:defRPr>
            </a:pPr>
          </a:p>
          <a:p>
            <a:pPr marL="171450" indent="-171450">
              <a:buClr>
                <a:srgbClr val="000000"/>
              </a:buClr>
              <a:buSzPct val="100000"/>
              <a:buFont typeface="Arial"/>
              <a:buChar char="•"/>
              <a:defRPr sz="1100">
                <a:latin typeface="Inter"/>
                <a:ea typeface="Inter"/>
                <a:cs typeface="Inter"/>
                <a:sym typeface="Inter"/>
              </a:defRPr>
            </a:pPr>
          </a:p>
          <a:p>
            <a:pPr marL="171450" indent="-171450">
              <a:buClr>
                <a:srgbClr val="000000"/>
              </a:buClr>
              <a:buSzPct val="100000"/>
              <a:buFont typeface="Arial"/>
              <a:buChar char="•"/>
              <a:defRPr sz="1100">
                <a:latin typeface="Inter"/>
                <a:ea typeface="Inter"/>
                <a:cs typeface="Inter"/>
                <a:sym typeface="Inter"/>
              </a:defRPr>
            </a:pPr>
            <a:r>
              <a:t>Point fort du projet : ETL, EDA, comparaison modèles ML, intégration, déploiement sur Render</a:t>
            </a:r>
          </a:p>
          <a:p>
            <a:pPr>
              <a:defRPr sz="1100">
                <a:latin typeface="Inter"/>
                <a:ea typeface="Inter"/>
                <a:cs typeface="Inter"/>
                <a:sym typeface="Inter"/>
              </a:defRPr>
            </a:pP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DB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110;p21"/>
          <p:cNvSpPr txBox="1"/>
          <p:nvPr>
            <p:ph type="title"/>
          </p:nvPr>
        </p:nvSpPr>
        <p:spPr>
          <a:xfrm>
            <a:off x="1089725" y="1970775"/>
            <a:ext cx="6269100" cy="698403"/>
          </a:xfrm>
          <a:prstGeom prst="rect">
            <a:avLst/>
          </a:prstGeom>
        </p:spPr>
        <p:txBody>
          <a:bodyPr/>
          <a:lstStyle>
            <a:lvl1pPr defTabSz="576072">
              <a:defRPr sz="3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Any questions ?</a:t>
            </a:r>
          </a:p>
        </p:txBody>
      </p:sp>
      <p:pic>
        <p:nvPicPr>
          <p:cNvPr id="360" name="Google Shape;111;p21" descr="Google Shape;111;p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18625" y="3006625"/>
            <a:ext cx="4599302" cy="2136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Google Shape;112;p21" descr="Google Shape;112;p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32374" y="915775"/>
            <a:ext cx="797426" cy="8398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Fond logo club" descr="Fond logo club"/>
          <p:cNvPicPr>
            <a:picLocks noChangeAspect="1"/>
          </p:cNvPicPr>
          <p:nvPr/>
        </p:nvPicPr>
        <p:blipFill>
          <a:blip r:embed="rId2">
            <a:alphaModFix amt="22000"/>
            <a:extLst/>
          </a:blip>
          <a:srcRect l="0" t="21875" r="0" b="2187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364" name="Google Shape;75;p16"/>
          <p:cNvSpPr txBox="1"/>
          <p:nvPr>
            <p:ph type="title"/>
          </p:nvPr>
        </p:nvSpPr>
        <p:spPr>
          <a:xfrm>
            <a:off x="1192662" y="403309"/>
            <a:ext cx="5315105" cy="533103"/>
          </a:xfrm>
          <a:prstGeom prst="rect">
            <a:avLst/>
          </a:prstGeom>
        </p:spPr>
        <p:txBody>
          <a:bodyPr/>
          <a:lstStyle>
            <a:lvl1pPr defTabSz="822958">
              <a:defRPr sz="2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Annexes</a:t>
            </a:r>
          </a:p>
        </p:txBody>
      </p:sp>
      <p:pic>
        <p:nvPicPr>
          <p:cNvPr id="365" name="Google Shape;76;p16" descr="Google Shape;76;p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3375" y="482852"/>
            <a:ext cx="576901" cy="385907"/>
          </a:xfrm>
          <a:prstGeom prst="rect">
            <a:avLst/>
          </a:prstGeom>
          <a:ln w="12700">
            <a:miter lim="400000"/>
          </a:ln>
        </p:spPr>
      </p:pic>
      <p:sp>
        <p:nvSpPr>
          <p:cNvPr id="366" name="Google Shape;77;p16"/>
          <p:cNvSpPr/>
          <p:nvPr/>
        </p:nvSpPr>
        <p:spPr>
          <a:xfrm>
            <a:off x="10224" y="4892025"/>
            <a:ext cx="9144001" cy="251400"/>
          </a:xfrm>
          <a:prstGeom prst="rect">
            <a:avLst/>
          </a:prstGeom>
          <a:solidFill>
            <a:srgbClr val="C3FF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367" name="ZoneTexte 2"/>
          <p:cNvSpPr txBox="1"/>
          <p:nvPr/>
        </p:nvSpPr>
        <p:spPr>
          <a:xfrm>
            <a:off x="2089323" y="1450335"/>
            <a:ext cx="4484504" cy="690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0000"/>
              </a:lnSpc>
              <a:spcBef>
                <a:spcPts val="500"/>
              </a:spcBef>
              <a:defRPr b="1" spc="60" sz="11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LES LIENS DU PROJET</a:t>
            </a:r>
          </a:p>
          <a:p>
            <a:pPr marL="228600" indent="-228600">
              <a:lnSpc>
                <a:spcPct val="120000"/>
              </a:lnSpc>
              <a:spcBef>
                <a:spcPts val="300"/>
              </a:spcBef>
              <a:buClr>
                <a:srgbClr val="015955"/>
              </a:buClr>
              <a:buSzPct val="100000"/>
              <a:buFont typeface="Arial"/>
              <a:buChar char="•"/>
              <a:defRPr sz="1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https://football-predictor-front.onrender.com/</a:t>
            </a:r>
          </a:p>
          <a:p>
            <a:pPr marL="228600" indent="-228600">
              <a:lnSpc>
                <a:spcPct val="120000"/>
              </a:lnSpc>
              <a:buClr>
                <a:srgbClr val="015955"/>
              </a:buClr>
              <a:buSzPct val="100000"/>
              <a:buFont typeface="Arial"/>
              <a:buChar char="•"/>
              <a:defRPr sz="1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https://github.com/kinpintouche-star/football-predictor</a:t>
            </a:r>
          </a:p>
        </p:txBody>
      </p:sp>
      <p:sp>
        <p:nvSpPr>
          <p:cNvPr id="368" name="ZoneTexte 4"/>
          <p:cNvSpPr txBox="1"/>
          <p:nvPr/>
        </p:nvSpPr>
        <p:spPr>
          <a:xfrm>
            <a:off x="2089323" y="2739058"/>
            <a:ext cx="6646352" cy="927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0000"/>
              </a:lnSpc>
              <a:spcBef>
                <a:spcPts val="500"/>
              </a:spcBef>
              <a:defRPr b="1" spc="60" sz="11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LES SOURCES</a:t>
            </a:r>
          </a:p>
          <a:p>
            <a:pPr marL="228600" indent="-228600">
              <a:lnSpc>
                <a:spcPct val="120000"/>
              </a:lnSpc>
              <a:spcBef>
                <a:spcPts val="300"/>
              </a:spcBef>
              <a:buClr>
                <a:srgbClr val="015955"/>
              </a:buClr>
              <a:buSzPct val="100000"/>
              <a:buFont typeface="Arial"/>
              <a:buChar char="•"/>
              <a:defRPr sz="1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https://sofifa.com/</a:t>
            </a:r>
          </a:p>
          <a:p>
            <a:pPr marL="228600" indent="-228600">
              <a:lnSpc>
                <a:spcPct val="120000"/>
              </a:lnSpc>
              <a:spcBef>
                <a:spcPts val="300"/>
              </a:spcBef>
              <a:buClr>
                <a:srgbClr val="015955"/>
              </a:buClr>
              <a:buSzPct val="100000"/>
              <a:buFont typeface="Arial"/>
              <a:buChar char="•"/>
              <a:defRPr sz="1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https://github.com/dcaribou/transfermarkt-datasets</a:t>
            </a:r>
          </a:p>
          <a:p>
            <a:pPr marL="228600" indent="-228600">
              <a:lnSpc>
                <a:spcPct val="120000"/>
              </a:lnSpc>
              <a:buClr>
                <a:srgbClr val="015955"/>
              </a:buClr>
              <a:buSzPct val="100000"/>
              <a:buFont typeface="Arial"/>
              <a:buChar char="•"/>
              <a:defRPr sz="1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https://pub-e682421888d945d684bcae8890b0ec20.r2.dev/data/transfermarkt-datasets.zip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75;p16"/>
          <p:cNvSpPr txBox="1"/>
          <p:nvPr>
            <p:ph type="title"/>
          </p:nvPr>
        </p:nvSpPr>
        <p:spPr>
          <a:xfrm>
            <a:off x="1192662" y="403309"/>
            <a:ext cx="5315105" cy="533103"/>
          </a:xfrm>
          <a:prstGeom prst="rect">
            <a:avLst/>
          </a:prstGeom>
        </p:spPr>
        <p:txBody>
          <a:bodyPr/>
          <a:lstStyle>
            <a:lvl1pPr defTabSz="822958">
              <a:defRPr sz="2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Architecture – templates formes</a:t>
            </a:r>
          </a:p>
        </p:txBody>
      </p:sp>
      <p:pic>
        <p:nvPicPr>
          <p:cNvPr id="371" name="Google Shape;76;p16" descr="Google Shape;76;p1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3375" y="482852"/>
            <a:ext cx="576901" cy="385907"/>
          </a:xfrm>
          <a:prstGeom prst="rect">
            <a:avLst/>
          </a:prstGeom>
          <a:ln w="12700">
            <a:miter lim="400000"/>
          </a:ln>
        </p:spPr>
      </p:pic>
      <p:sp>
        <p:nvSpPr>
          <p:cNvPr id="372" name="Google Shape;77;p16"/>
          <p:cNvSpPr/>
          <p:nvPr/>
        </p:nvSpPr>
        <p:spPr>
          <a:xfrm>
            <a:off x="10224" y="4892025"/>
            <a:ext cx="9144001" cy="251400"/>
          </a:xfrm>
          <a:prstGeom prst="rect">
            <a:avLst/>
          </a:prstGeom>
          <a:solidFill>
            <a:srgbClr val="C3FF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pic>
        <p:nvPicPr>
          <p:cNvPr id="373" name="Image 2" descr="Imag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19621" y="1716950"/>
            <a:ext cx="759823" cy="69836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76" name="Groupe 35"/>
          <p:cNvGrpSpPr/>
          <p:nvPr/>
        </p:nvGrpSpPr>
        <p:grpSpPr>
          <a:xfrm>
            <a:off x="4261163" y="1653244"/>
            <a:ext cx="1508896" cy="1050888"/>
            <a:chOff x="0" y="-1"/>
            <a:chExt cx="1508895" cy="1050887"/>
          </a:xfrm>
        </p:grpSpPr>
        <p:pic>
          <p:nvPicPr>
            <p:cNvPr id="374" name="Image 6" descr="Image 6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-2"/>
              <a:ext cx="1508896" cy="76207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75" name="ZoneTexte 7"/>
            <p:cNvSpPr txBox="1"/>
            <p:nvPr/>
          </p:nvSpPr>
          <p:spPr>
            <a:xfrm>
              <a:off x="345738" y="762066"/>
              <a:ext cx="779308" cy="288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Tracking</a:t>
              </a:r>
            </a:p>
          </p:txBody>
        </p:sp>
      </p:grpSp>
      <p:grpSp>
        <p:nvGrpSpPr>
          <p:cNvPr id="379" name="Groupe 34"/>
          <p:cNvGrpSpPr/>
          <p:nvPr/>
        </p:nvGrpSpPr>
        <p:grpSpPr>
          <a:xfrm>
            <a:off x="5770055" y="1653244"/>
            <a:ext cx="1508896" cy="1050888"/>
            <a:chOff x="0" y="-1"/>
            <a:chExt cx="1508895" cy="1050887"/>
          </a:xfrm>
        </p:grpSpPr>
        <p:pic>
          <p:nvPicPr>
            <p:cNvPr id="377" name="Image 9" descr="Image 9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-2"/>
              <a:ext cx="1508896" cy="76207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78" name="ZoneTexte 11"/>
            <p:cNvSpPr txBox="1"/>
            <p:nvPr/>
          </p:nvSpPr>
          <p:spPr>
            <a:xfrm>
              <a:off x="345739" y="762066"/>
              <a:ext cx="588399" cy="288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Model</a:t>
              </a:r>
            </a:p>
          </p:txBody>
        </p:sp>
      </p:grpSp>
      <p:pic>
        <p:nvPicPr>
          <p:cNvPr id="380" name="Image 13" descr="Image 1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318622" y="1680726"/>
            <a:ext cx="1143102" cy="12193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1" name="Image 19" descr="Image 1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699570" y="2928402"/>
            <a:ext cx="1198430" cy="698367"/>
          </a:xfrm>
          <a:prstGeom prst="rect">
            <a:avLst/>
          </a:prstGeom>
          <a:ln w="12700">
            <a:miter lim="400000"/>
          </a:ln>
        </p:spPr>
      </p:pic>
      <p:pic>
        <p:nvPicPr>
          <p:cNvPr id="382" name="Image 21" descr="Image 21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782757" y="3564866"/>
            <a:ext cx="713746" cy="6320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83" name="Image 23" descr="Image 2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883493" y="3663755"/>
            <a:ext cx="940036" cy="582324"/>
          </a:xfrm>
          <a:prstGeom prst="rect">
            <a:avLst/>
          </a:prstGeom>
          <a:ln w="12700">
            <a:miter lim="400000"/>
          </a:ln>
        </p:spPr>
      </p:pic>
      <p:pic>
        <p:nvPicPr>
          <p:cNvPr id="384" name="Image 25" descr="Image 25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5395183" y="3812004"/>
            <a:ext cx="1010882" cy="319062"/>
          </a:xfrm>
          <a:prstGeom prst="rect">
            <a:avLst/>
          </a:prstGeom>
          <a:ln w="12700">
            <a:miter lim="400000"/>
          </a:ln>
        </p:spPr>
      </p:pic>
      <p:pic>
        <p:nvPicPr>
          <p:cNvPr id="385" name="Image 27" descr="Image 27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2724293" y="3542217"/>
            <a:ext cx="728055" cy="599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386" name="Image 29" descr="Image 29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6634663" y="3669243"/>
            <a:ext cx="571734" cy="638214"/>
          </a:xfrm>
          <a:prstGeom prst="rect">
            <a:avLst/>
          </a:prstGeom>
          <a:ln w="12700">
            <a:miter lim="400000"/>
          </a:ln>
        </p:spPr>
      </p:pic>
      <p:pic>
        <p:nvPicPr>
          <p:cNvPr id="387" name="Image 31" descr="Image 31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7617028" y="3666204"/>
            <a:ext cx="844694" cy="53069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8" name="Image 33" descr="Image 33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3566616" y="2831400"/>
            <a:ext cx="1196483" cy="577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389" name="Image 37" descr="Image 37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583047" y="2520892"/>
            <a:ext cx="699804" cy="6272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0" name="Image 3" descr="Image 3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807362" y="3635006"/>
            <a:ext cx="759822" cy="778355"/>
          </a:xfrm>
          <a:prstGeom prst="rect">
            <a:avLst/>
          </a:prstGeom>
          <a:ln w="12700">
            <a:miter lim="400000"/>
          </a:ln>
        </p:spPr>
      </p:pic>
      <p:pic>
        <p:nvPicPr>
          <p:cNvPr id="391" name="Image 8" descr="Image 8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5736113" y="2855183"/>
            <a:ext cx="707869" cy="681972"/>
          </a:xfrm>
          <a:prstGeom prst="rect">
            <a:avLst/>
          </a:prstGeom>
          <a:ln w="12700">
            <a:miter lim="400000"/>
          </a:ln>
        </p:spPr>
      </p:pic>
      <p:pic>
        <p:nvPicPr>
          <p:cNvPr id="392" name="Image 12" descr="Image 12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5151661" y="2901642"/>
            <a:ext cx="301645" cy="183243"/>
          </a:xfrm>
          <a:prstGeom prst="rect">
            <a:avLst/>
          </a:prstGeom>
          <a:ln w="12700">
            <a:miter lim="400000"/>
          </a:ln>
        </p:spPr>
      </p:pic>
      <p:pic>
        <p:nvPicPr>
          <p:cNvPr id="393" name="Image 16" descr="Image 16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2116589" y="2709552"/>
            <a:ext cx="759823" cy="4106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