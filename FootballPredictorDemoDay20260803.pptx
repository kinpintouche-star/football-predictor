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ink/ink1.xml" ContentType="application/inkml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6"/>
  </p:notesMasterIdLst>
  <p:sldIdLst>
    <p:sldId id="256" r:id="rId2"/>
    <p:sldId id="279" r:id="rId3"/>
    <p:sldId id="280" r:id="rId4"/>
    <p:sldId id="259" r:id="rId5"/>
    <p:sldId id="268" r:id="rId6"/>
    <p:sldId id="278" r:id="rId7"/>
    <p:sldId id="273" r:id="rId8"/>
    <p:sldId id="272" r:id="rId9"/>
    <p:sldId id="265" r:id="rId10"/>
    <p:sldId id="271" r:id="rId11"/>
    <p:sldId id="269" r:id="rId12"/>
    <p:sldId id="264" r:id="rId13"/>
    <p:sldId id="270" r:id="rId14"/>
    <p:sldId id="266" r:id="rId15"/>
  </p:sldIdLst>
  <p:sldSz cx="9144000" cy="5143500" type="screen16x9"/>
  <p:notesSz cx="6858000" cy="9144000"/>
  <p:embeddedFontLst>
    <p:embeddedFont>
      <p:font typeface="Inter" panose="020B0604020202020204" charset="0"/>
      <p:regular r:id="rId17"/>
      <p:bold r:id="rId18"/>
      <p:italic r:id="rId19"/>
      <p:boldItalic r:id="rId20"/>
    </p:embeddedFont>
    <p:embeddedFont>
      <p:font typeface="Inter SemiBold" panose="020B0604020202020204" charset="0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2" d="100"/>
          <a:sy n="92" d="100"/>
        </p:scale>
        <p:origin x="9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7-29T13:09:52.455"/>
    </inkml:context>
    <inkml:brush xml:id="br0">
      <inkml:brushProperty name="width" value="0.3" units="cm"/>
      <inkml:brushProperty name="height" value="0.6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6353 1906,'-2'-3,"1"1,0-1,-1 0,0 1,1-1,-1 1,0 0,0 0,-1 0,1 0,0 0,-1 0,1 0,-5-1,1-1,-148-112,76 53,-11-6,-48-32,11 6,-217-146,188 123,11 8,114 88,-188-144,63 43,64 54,31 21,-166-122,198 151,-1 2,-1 1,0 1,-43-14,29 12,28 11,1 0,-20-5,-35-9,-12-3,-41-6,83 18,-1 1,0 2,-60-3,-298 12,159 1,219-4,0 0,0-1,0-1,-25-8,-26-5,42 13,-1 2,1 1,-35 3,37-1,-1 0,1-2,-55-8,53 4,-1 1,0 2,-37 2,-34-3,-8-18,23 10,57 6,-50-2,-270 8,330 0,1 1,-1 0,1 1,0 2,-30 10,-88 44,38-12,85-40,-1-1,-28 8,26-9,0 0,-16 9,-55 33,51-26,-1-1,-1-2,-53 17,81-31,0 1,0 0,0 0,1 1,0 1,0-1,1 2,0-1,0 1,-10 13,-10 12,-32 50,24-25,24-35,-1-1,-26 31,30-41,2 1,-1 0,2 0,-1 1,2 0,-6 16,-7 15,-32 40,33-49,3 0,1 1,1 1,3 0,0 0,3 1,1 0,2 0,1 44,4-46,-2 1,-10 58,-3 22,6-40,-6 90,6-53,-2 367,12-300,-2 1398,2-1534,2 1,12 50,-7-52,-3-1,2 66,4 281,19-86,-27-282,1-1,0 0,12 27,-8-22,9 38,9 57,11 66,-32-135,23 98,16 69,-15-57,-19-104,-2 0,-2 1,-3 99,-4-142,1 0,0-1,1 1,1-1,1 0,0 0,1 0,1 0,9 19,-10-23,-1 0,0 0,-1 0,0 0,-1 1,-1 0,1 22,-1-5,1-18,0 0,1-1,0 1,8 18,-7-19,1 2,-2-1,1 0,1 16,-3 221,-4-125,2-116,-1 4,1-1,1 1,4 21,-4-29,0 0,1 0,0 0,0 0,0 0,0 0,1 0,-1-1,1 1,0-1,0 0,0 0,6 4,21 17,1 1,41 25,-51-37,0 1,-1 1,-1 0,0 2,-1 0,-1 1,29 40,-36-45,1 1,1-1,0-1,0 0,1-1,1 0,0-1,0-1,1 0,0-1,1 0,17 5,-4-1,-1 1,0 1,0 2,40 30,-42-29,1-1,0 0,49 17,95 25,-140-48,26 5,86 12,-83-18,78 22,-80-12,-26-7,0-2,1-2,0 0,57 4,285-12,-161-2,147-25,-276 18,410-2,-299 14,2444-3,-2616-2,-1 0,1-2,39-10,-37 7,0 1,41-3,-35 6,0-1,0-2,-1-1,0-1,36-15,-33 12,-1 2,38-5,-33 7,52-16,78-21,-113 33,80-29,89-32,-89 32,-23 11,-70 19,55-19,106-32,-2 1,-161 44,-1-1,70-43,-69 36,-27 16,0 1,0-2,0 0,14-13,117-118,80-94,-190 196,7-3,74-58,-19 18,-44 38,22-23,-46 38,-7 8,0-2,22-31,-17 19,-19 27,0-2,-1 1,0-1,0 0,-1 0,0 0,4-14,41-134,-24 101,-20 45,-1-1,1 1,-2-1,5-14,1-7,1 0,2 1,1 0,30-49,7-14,-25 43,-13 28,-1-1,-1-1,10-32,-10 23,2 0,19-37,-20 46,-7 11,0-1,-1 1,-1-1,0 0,-1 0,-1 0,-2-31,3-20,15-600,-18 576,0 63,-2 1,-1 0,-10-34,7 30,1 0,-3-35,8 49,0-21,-2 0,-1 1,-13-49,-2 18,-42-95,46 123,-20-78,-5-16,-44-125,14 36,63 207,-1 0,-1 1,-13-20,-16-29,19 28,-1 2,-1 1,-3 0,0 2,-2 0,-49-43,61 62,0 2,-1-1,-25-12,24 14,0 0,0-1,-16-14,17 12,0 2,0 0,-1 1,0 1,-22-8,-4-3,18 8,-46-12,-10-4,-111-43,172 63,-1 1,1 1,-35-4,33 7,0-2,0-1,-23-8,26 7,-1 1,0 2,0 0,-1 0,1 2,-38 2,33 0,-1-1,0-2,-37-6,-13-12,49 11,-1 2,0 1,-45-4,12 3,-116-26,148 27,-40-10,-194-33,111 28,136 18,-1-1,1-1,0 0,0-1,-24-13,23 10,0 1,0 1,-1 1,-21-5,15 5,1-1,0-1,-30-15,34 15,0 0,0 0,0 2,-1 0,-36-5,25 6,0-2,0-1,1-1,-49-23,45 19,-22-16,41 21,-1 0,-19-7,-80-32,-12 7,-15-15,127 50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a5178bf3d4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ga5178bf3d4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2D5EDBDD-00D0-521B-4A40-C3A831D4E1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1c7feb7f43d_0_37:notes">
            <a:extLst>
              <a:ext uri="{FF2B5EF4-FFF2-40B4-BE49-F238E27FC236}">
                <a16:creationId xmlns:a16="http://schemas.microsoft.com/office/drawing/2014/main" id="{630C0F11-CF55-A172-664C-4813BE9090B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3" name="Google Shape;73;g1c7feb7f43d_0_37:notes">
            <a:extLst>
              <a:ext uri="{FF2B5EF4-FFF2-40B4-BE49-F238E27FC236}">
                <a16:creationId xmlns:a16="http://schemas.microsoft.com/office/drawing/2014/main" id="{C464C598-D383-A5B1-EE52-A70C8FB75E3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225652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A0C97E29-662A-43A8-11C5-2FB4829CCF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1c7feb7f43d_0_37:notes">
            <a:extLst>
              <a:ext uri="{FF2B5EF4-FFF2-40B4-BE49-F238E27FC236}">
                <a16:creationId xmlns:a16="http://schemas.microsoft.com/office/drawing/2014/main" id="{03359848-DC3B-9304-8C9D-5086B79E1DF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3" name="Google Shape;73;g1c7feb7f43d_0_37:notes">
            <a:extLst>
              <a:ext uri="{FF2B5EF4-FFF2-40B4-BE49-F238E27FC236}">
                <a16:creationId xmlns:a16="http://schemas.microsoft.com/office/drawing/2014/main" id="{C4F3E900-6296-4312-1490-BDB1A112186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252083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7D3F8B5F-EE98-B699-A406-89003BD450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1c7feb7f43d_0_37:notes">
            <a:extLst>
              <a:ext uri="{FF2B5EF4-FFF2-40B4-BE49-F238E27FC236}">
                <a16:creationId xmlns:a16="http://schemas.microsoft.com/office/drawing/2014/main" id="{0748BF55-8D1D-238F-DBC1-7BB062C7A7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3" name="Google Shape;73;g1c7feb7f43d_0_37:notes">
            <a:extLst>
              <a:ext uri="{FF2B5EF4-FFF2-40B4-BE49-F238E27FC236}">
                <a16:creationId xmlns:a16="http://schemas.microsoft.com/office/drawing/2014/main" id="{5D6C53EF-F228-6FEF-1D08-1B0E9CD6768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797815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31839906-0063-0532-F79A-A96A381AFE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1c7feb7f43d_0_37:notes">
            <a:extLst>
              <a:ext uri="{FF2B5EF4-FFF2-40B4-BE49-F238E27FC236}">
                <a16:creationId xmlns:a16="http://schemas.microsoft.com/office/drawing/2014/main" id="{3C0A2F1D-2793-6D06-9256-627EC238EE9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3" name="Google Shape;73;g1c7feb7f43d_0_37:notes">
            <a:extLst>
              <a:ext uri="{FF2B5EF4-FFF2-40B4-BE49-F238E27FC236}">
                <a16:creationId xmlns:a16="http://schemas.microsoft.com/office/drawing/2014/main" id="{200F7F08-8C19-94C3-D467-63AE7526451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513726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CEE1AE98-AE68-2B62-21AE-C1630F0440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1c7feb7f43d_0_37:notes">
            <a:extLst>
              <a:ext uri="{FF2B5EF4-FFF2-40B4-BE49-F238E27FC236}">
                <a16:creationId xmlns:a16="http://schemas.microsoft.com/office/drawing/2014/main" id="{4A2B8C2E-0BA3-9FE9-4B13-D400B02D98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3" name="Google Shape;73;g1c7feb7f43d_0_37:notes">
            <a:extLst>
              <a:ext uri="{FF2B5EF4-FFF2-40B4-BE49-F238E27FC236}">
                <a16:creationId xmlns:a16="http://schemas.microsoft.com/office/drawing/2014/main" id="{527B4AFA-D581-1E50-78AE-78D078B8D71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710757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4084E956-8E23-9824-5AFC-C5888535CE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1c7feb7f43d_0_37:notes">
            <a:extLst>
              <a:ext uri="{FF2B5EF4-FFF2-40B4-BE49-F238E27FC236}">
                <a16:creationId xmlns:a16="http://schemas.microsoft.com/office/drawing/2014/main" id="{92DE0609-2A3E-C454-C3BE-0E360991A1B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3" name="Google Shape;73;g1c7feb7f43d_0_37:notes">
            <a:extLst>
              <a:ext uri="{FF2B5EF4-FFF2-40B4-BE49-F238E27FC236}">
                <a16:creationId xmlns:a16="http://schemas.microsoft.com/office/drawing/2014/main" id="{9AAB966A-46C3-60CA-BB19-D0B447C92E7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6125997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156C9D36-B839-E9EE-AF83-594D768F67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1c7feb7f43d_0_37:notes">
            <a:extLst>
              <a:ext uri="{FF2B5EF4-FFF2-40B4-BE49-F238E27FC236}">
                <a16:creationId xmlns:a16="http://schemas.microsoft.com/office/drawing/2014/main" id="{F6991A4E-2106-B770-EAA1-E4FB9C0DAB4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3" name="Google Shape;73;g1c7feb7f43d_0_37:notes">
            <a:extLst>
              <a:ext uri="{FF2B5EF4-FFF2-40B4-BE49-F238E27FC236}">
                <a16:creationId xmlns:a16="http://schemas.microsoft.com/office/drawing/2014/main" id="{9AFCC4BE-888F-C78A-ECFA-42C9A2114CC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129333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a5178bf3d4_2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8" name="Google Shape;108;ga5178bf3d4_2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8D43903C-6E0C-7070-828F-3792225816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1c7feb7f43d_0_37:notes">
            <a:extLst>
              <a:ext uri="{FF2B5EF4-FFF2-40B4-BE49-F238E27FC236}">
                <a16:creationId xmlns:a16="http://schemas.microsoft.com/office/drawing/2014/main" id="{6DCA27FA-8960-AC48-3CA9-2F7A5D3BF78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3" name="Google Shape;73;g1c7feb7f43d_0_37:notes">
            <a:extLst>
              <a:ext uri="{FF2B5EF4-FFF2-40B4-BE49-F238E27FC236}">
                <a16:creationId xmlns:a16="http://schemas.microsoft.com/office/drawing/2014/main" id="{7167ABCD-A2DA-D708-63D1-4142A9512CF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5400234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13444296-63D0-9381-61C1-C961F83FDD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1c7feb7f43d_0_37:notes">
            <a:extLst>
              <a:ext uri="{FF2B5EF4-FFF2-40B4-BE49-F238E27FC236}">
                <a16:creationId xmlns:a16="http://schemas.microsoft.com/office/drawing/2014/main" id="{8ADCCFB6-E22A-243F-56DE-1A587656FC4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3" name="Google Shape;73;g1c7feb7f43d_0_37:notes">
            <a:extLst>
              <a:ext uri="{FF2B5EF4-FFF2-40B4-BE49-F238E27FC236}">
                <a16:creationId xmlns:a16="http://schemas.microsoft.com/office/drawing/2014/main" id="{47371EE3-4CAE-DAA8-37F7-60D223FCD2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907177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.png"/><Relationship Id="rId5" Type="http://schemas.openxmlformats.org/officeDocument/2006/relationships/image" Target="../media/image7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26.png"/><Relationship Id="rId3" Type="http://schemas.openxmlformats.org/officeDocument/2006/relationships/image" Target="../media/image20.jpg"/><Relationship Id="rId7" Type="http://schemas.openxmlformats.org/officeDocument/2006/relationships/image" Target="../media/image18.png"/><Relationship Id="rId12" Type="http://schemas.openxmlformats.org/officeDocument/2006/relationships/image" Target="../media/image2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2.png"/><Relationship Id="rId11" Type="http://schemas.openxmlformats.org/officeDocument/2006/relationships/image" Target="../media/image24.png"/><Relationship Id="rId5" Type="http://schemas.openxmlformats.org/officeDocument/2006/relationships/image" Target="../media/image21.png"/><Relationship Id="rId10" Type="http://schemas.openxmlformats.org/officeDocument/2006/relationships/image" Target="../media/image17.png"/><Relationship Id="rId4" Type="http://schemas.openxmlformats.org/officeDocument/2006/relationships/image" Target="../media/image2.png"/><Relationship Id="rId9" Type="http://schemas.openxmlformats.org/officeDocument/2006/relationships/image" Target="../media/image16.png"/><Relationship Id="rId14" Type="http://schemas.openxmlformats.org/officeDocument/2006/relationships/image" Target="../media/image2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4.png"/><Relationship Id="rId18" Type="http://schemas.openxmlformats.org/officeDocument/2006/relationships/image" Target="../media/image34.png"/><Relationship Id="rId3" Type="http://schemas.openxmlformats.org/officeDocument/2006/relationships/image" Target="../media/image28.jpg"/><Relationship Id="rId7" Type="http://schemas.openxmlformats.org/officeDocument/2006/relationships/image" Target="../media/image22.png"/><Relationship Id="rId12" Type="http://schemas.openxmlformats.org/officeDocument/2006/relationships/image" Target="../media/image31.png"/><Relationship Id="rId17" Type="http://schemas.openxmlformats.org/officeDocument/2006/relationships/image" Target="../media/image33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32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1.png"/><Relationship Id="rId11" Type="http://schemas.openxmlformats.org/officeDocument/2006/relationships/customXml" Target="../ink/ink1.xml"/><Relationship Id="rId5" Type="http://schemas.openxmlformats.org/officeDocument/2006/relationships/image" Target="../media/image29.png"/><Relationship Id="rId15" Type="http://schemas.openxmlformats.org/officeDocument/2006/relationships/image" Target="../media/image26.png"/><Relationship Id="rId10" Type="http://schemas.openxmlformats.org/officeDocument/2006/relationships/image" Target="../media/image30.png"/><Relationship Id="rId19" Type="http://schemas.openxmlformats.org/officeDocument/2006/relationships/image" Target="../media/image35.png"/><Relationship Id="rId4" Type="http://schemas.openxmlformats.org/officeDocument/2006/relationships/image" Target="../media/image2.png"/><Relationship Id="rId9" Type="http://schemas.openxmlformats.org/officeDocument/2006/relationships/image" Target="../media/image17.png"/><Relationship Id="rId14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13" Type="http://schemas.openxmlformats.org/officeDocument/2006/relationships/image" Target="../media/image22.png"/><Relationship Id="rId18" Type="http://schemas.openxmlformats.org/officeDocument/2006/relationships/image" Target="../media/image26.png"/><Relationship Id="rId3" Type="http://schemas.openxmlformats.org/officeDocument/2006/relationships/image" Target="../media/image2.png"/><Relationship Id="rId7" Type="http://schemas.openxmlformats.org/officeDocument/2006/relationships/image" Target="../media/image33.png"/><Relationship Id="rId12" Type="http://schemas.openxmlformats.org/officeDocument/2006/relationships/image" Target="../media/image34.png"/><Relationship Id="rId17" Type="http://schemas.openxmlformats.org/officeDocument/2006/relationships/image" Target="../media/image30.png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17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1.png"/><Relationship Id="rId11" Type="http://schemas.openxmlformats.org/officeDocument/2006/relationships/image" Target="../media/image25.png"/><Relationship Id="rId5" Type="http://schemas.openxmlformats.org/officeDocument/2006/relationships/image" Target="../media/image24.png"/><Relationship Id="rId15" Type="http://schemas.openxmlformats.org/officeDocument/2006/relationships/image" Target="../media/image23.png"/><Relationship Id="rId10" Type="http://schemas.openxmlformats.org/officeDocument/2006/relationships/image" Target="../media/image29.png"/><Relationship Id="rId19" Type="http://schemas.openxmlformats.org/officeDocument/2006/relationships/image" Target="../media/image27.png"/><Relationship Id="rId4" Type="http://schemas.openxmlformats.org/officeDocument/2006/relationships/image" Target="../media/image16.png"/><Relationship Id="rId9" Type="http://schemas.openxmlformats.org/officeDocument/2006/relationships/image" Target="../media/image35.png"/><Relationship Id="rId1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FDAD2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1718100" y="866768"/>
            <a:ext cx="6478200" cy="61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fr" sz="2100">
                <a:solidFill>
                  <a:srgbClr val="0E3449"/>
                </a:solidFill>
                <a:latin typeface="Inter"/>
                <a:ea typeface="Inter"/>
                <a:cs typeface="Inter"/>
                <a:sym typeface="Inter"/>
              </a:rPr>
              <a:t>Your Tech Bootcamp</a:t>
            </a:r>
            <a:endParaRPr sz="2100">
              <a:solidFill>
                <a:srgbClr val="0E344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55" name="Google Shape;55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4500" y="795925"/>
            <a:ext cx="721025" cy="759375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 txBox="1">
            <a:spLocks noGrp="1"/>
          </p:cNvSpPr>
          <p:nvPr>
            <p:ph type="ctrTitle"/>
          </p:nvPr>
        </p:nvSpPr>
        <p:spPr>
          <a:xfrm>
            <a:off x="844500" y="2225275"/>
            <a:ext cx="7271700" cy="9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fr" sz="4000" dirty="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Group # - FootBall Predictor</a:t>
            </a:r>
            <a:endParaRPr sz="4000" dirty="0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61;p14"/>
          <p:cNvSpPr/>
          <p:nvPr/>
        </p:nvSpPr>
        <p:spPr>
          <a:xfrm>
            <a:off x="5500" y="-17777"/>
            <a:ext cx="3335400" cy="5161204"/>
          </a:xfrm>
          <a:prstGeom prst="rect">
            <a:avLst/>
          </a:prstGeom>
          <a:solidFill>
            <a:srgbClr val="C3FFFC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latin typeface="+mn-lt"/>
                <a:ea typeface="+mn-ea"/>
                <a:cs typeface="+mn-cs"/>
                <a:sym typeface="Arial"/>
              </a:defRPr>
            </a:pPr>
            <a:endParaRPr/>
          </a:p>
        </p:txBody>
      </p:sp>
      <p:sp>
        <p:nvSpPr>
          <p:cNvPr id="114" name="Google Shape;62;p14"/>
          <p:cNvSpPr txBox="1">
            <a:spLocks noGrp="1"/>
          </p:cNvSpPr>
          <p:nvPr>
            <p:ph type="title"/>
          </p:nvPr>
        </p:nvSpPr>
        <p:spPr>
          <a:xfrm>
            <a:off x="390598" y="1138673"/>
            <a:ext cx="2513104" cy="3458104"/>
          </a:xfrm>
          <a:prstGeom prst="rect">
            <a:avLst/>
          </a:prstGeom>
        </p:spPr>
        <p:txBody>
          <a:bodyPr/>
          <a:lstStyle/>
          <a:p>
            <a:pPr>
              <a:defRPr sz="2400">
                <a:solidFill>
                  <a:srgbClr val="01595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Group members</a:t>
            </a:r>
          </a:p>
          <a:p>
            <a:pPr>
              <a:defRPr sz="2400">
                <a:solidFill>
                  <a:srgbClr val="015955"/>
                </a:solidFill>
                <a:latin typeface="Inter"/>
                <a:ea typeface="Inter"/>
                <a:cs typeface="Inter"/>
                <a:sym typeface="Inter"/>
              </a:defRPr>
            </a:pPr>
            <a:endParaRPr/>
          </a:p>
          <a:p>
            <a:pPr>
              <a:defRPr sz="1500">
                <a:solidFill>
                  <a:srgbClr val="015955"/>
                </a:solidFill>
                <a:latin typeface="Inter"/>
                <a:ea typeface="Inter"/>
                <a:cs typeface="Inter"/>
                <a:sym typeface="Inter"/>
              </a:defRPr>
            </a:pPr>
            <a:endParaRPr/>
          </a:p>
          <a:p>
            <a:pPr>
              <a:defRPr sz="1500">
                <a:solidFill>
                  <a:srgbClr val="015955"/>
                </a:solidFill>
                <a:latin typeface="Inter"/>
                <a:ea typeface="Inter"/>
                <a:cs typeface="Inter"/>
                <a:sym typeface="Inter"/>
              </a:defRPr>
            </a:pPr>
            <a:endParaRPr/>
          </a:p>
          <a:p>
            <a:pPr>
              <a:defRPr sz="1500">
                <a:solidFill>
                  <a:srgbClr val="01595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Frank IDDA</a:t>
            </a:r>
          </a:p>
          <a:p>
            <a:pPr>
              <a:defRPr sz="1500">
                <a:solidFill>
                  <a:srgbClr val="01595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Hugo PIERRE</a:t>
            </a:r>
          </a:p>
          <a:p>
            <a:pPr>
              <a:defRPr sz="1500">
                <a:solidFill>
                  <a:srgbClr val="01595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Safidy RAMAHERISON</a:t>
            </a:r>
          </a:p>
        </p:txBody>
      </p:sp>
      <p:pic>
        <p:nvPicPr>
          <p:cNvPr id="115" name="Google Shape;63;p14" descr="Google Shape;63;p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375" y="482852"/>
            <a:ext cx="576901" cy="385906"/>
          </a:xfrm>
          <a:prstGeom prst="rect">
            <a:avLst/>
          </a:prstGeom>
          <a:ln w="12700">
            <a:miter lim="400000"/>
          </a:ln>
        </p:spPr>
      </p:pic>
      <p:pic>
        <p:nvPicPr>
          <p:cNvPr id="116" name="pasted-movie.png" descr="pasted-movi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5986" y="1081707"/>
            <a:ext cx="5018376" cy="296223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Fond AC Milan"/>
          <p:cNvPicPr>
            <a:picLocks noChangeAspect="1"/>
          </p:cNvPicPr>
          <p:nvPr/>
        </p:nvPicPr>
        <p:blipFill>
          <a:blip r:embed="rId2"/>
          <a:srcRect t="7813" b="781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18" name="Google Shape;68;p15"/>
          <p:cNvSpPr txBox="1">
            <a:spLocks noGrp="1"/>
          </p:cNvSpPr>
          <p:nvPr>
            <p:ph type="title"/>
          </p:nvPr>
        </p:nvSpPr>
        <p:spPr>
          <a:xfrm>
            <a:off x="1192663" y="403307"/>
            <a:ext cx="5315103" cy="533103"/>
          </a:xfrm>
          <a:prstGeom prst="rect">
            <a:avLst/>
          </a:prstGeom>
        </p:spPr>
        <p:txBody>
          <a:bodyPr/>
          <a:lstStyle>
            <a:lvl1pPr defTabSz="822958">
              <a:defRPr sz="220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</a:lstStyle>
          <a:p>
            <a:r>
              <a:t>Pitch</a:t>
            </a:r>
          </a:p>
        </p:txBody>
      </p:sp>
      <p:sp>
        <p:nvSpPr>
          <p:cNvPr id="119" name="Google Shape;69;p15"/>
          <p:cNvSpPr/>
          <p:nvPr/>
        </p:nvSpPr>
        <p:spPr>
          <a:xfrm>
            <a:off x="10224" y="4892025"/>
            <a:ext cx="9144001" cy="251400"/>
          </a:xfrm>
          <a:prstGeom prst="rect">
            <a:avLst/>
          </a:prstGeom>
          <a:solidFill>
            <a:srgbClr val="C3FFFC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latin typeface="+mn-lt"/>
                <a:ea typeface="+mn-ea"/>
                <a:cs typeface="+mn-cs"/>
                <a:sym typeface="Arial"/>
              </a:defRPr>
            </a:pPr>
            <a:endParaRPr/>
          </a:p>
        </p:txBody>
      </p:sp>
      <p:pic>
        <p:nvPicPr>
          <p:cNvPr id="120" name="Google Shape;70;p15" descr="Google Shape;70;p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375" y="482852"/>
            <a:ext cx="576901" cy="385906"/>
          </a:xfrm>
          <a:prstGeom prst="rect">
            <a:avLst/>
          </a:prstGeom>
          <a:ln w="12700">
            <a:miter lim="400000"/>
          </a:ln>
        </p:spPr>
      </p:pic>
      <p:sp>
        <p:nvSpPr>
          <p:cNvPr id="121" name="intro"/>
          <p:cNvSpPr txBox="1"/>
          <p:nvPr/>
        </p:nvSpPr>
        <p:spPr>
          <a:xfrm>
            <a:off x="568000" y="1120000"/>
            <a:ext cx="8007999" cy="360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18000" tIns="18000" rIns="18000" bIns="18000" anchor="ctr">
            <a:normAutofit/>
          </a:bodyPr>
          <a:lstStyle>
            <a:lvl1pPr>
              <a:defRPr sz="120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</a:lstStyle>
          <a:p>
            <a:r>
              <a:t>Le foot moderne génère une masse de données — on les exploite pour prédire l’issue d’un match.</a:t>
            </a:r>
          </a:p>
        </p:txBody>
      </p:sp>
      <p:sp>
        <p:nvSpPr>
          <p:cNvPr id="122" name="fcard"/>
          <p:cNvSpPr/>
          <p:nvPr/>
        </p:nvSpPr>
        <p:spPr>
          <a:xfrm>
            <a:off x="550000" y="1619999"/>
            <a:ext cx="2441333" cy="1400001"/>
          </a:xfrm>
          <a:prstGeom prst="roundRect">
            <a:avLst>
              <a:gd name="adj" fmla="val 7000"/>
            </a:avLst>
          </a:prstGeom>
          <a:solidFill>
            <a:srgbClr val="F3F7FA"/>
          </a:solidFill>
          <a:ln w="12700">
            <a:miter lim="400000"/>
          </a:ln>
          <a:effectLst>
            <a:outerShdw blurRad="88900" dist="26000" dir="5400000" rotWithShape="0">
              <a:srgbClr val="0E3449">
                <a:alpha val="13000"/>
              </a:srgbClr>
            </a:outerShdw>
          </a:effectLst>
        </p:spPr>
        <p:txBody>
          <a:bodyPr lIns="0" tIns="0" rIns="0" bIns="0"/>
          <a:lstStyle/>
          <a:p>
            <a:pPr>
              <a:defRPr>
                <a:latin typeface="+mn-lt"/>
                <a:ea typeface="+mn-ea"/>
                <a:cs typeface="+mn-cs"/>
                <a:sym typeface="Arial"/>
              </a:defRPr>
            </a:pPr>
            <a:endParaRPr/>
          </a:p>
        </p:txBody>
      </p:sp>
      <p:sp>
        <p:nvSpPr>
          <p:cNvPr id="123" name="fcard"/>
          <p:cNvSpPr/>
          <p:nvPr/>
        </p:nvSpPr>
        <p:spPr>
          <a:xfrm>
            <a:off x="3351333" y="1619999"/>
            <a:ext cx="2441333" cy="1400001"/>
          </a:xfrm>
          <a:prstGeom prst="roundRect">
            <a:avLst>
              <a:gd name="adj" fmla="val 7000"/>
            </a:avLst>
          </a:prstGeom>
          <a:solidFill>
            <a:srgbClr val="F3F7FA"/>
          </a:solidFill>
          <a:ln w="12700">
            <a:miter lim="400000"/>
          </a:ln>
          <a:effectLst>
            <a:outerShdw blurRad="88900" dist="26000" dir="5400000" rotWithShape="0">
              <a:srgbClr val="0E3449">
                <a:alpha val="13000"/>
              </a:srgbClr>
            </a:outerShdw>
          </a:effectLst>
        </p:spPr>
        <p:txBody>
          <a:bodyPr lIns="0" tIns="0" rIns="0" bIns="0"/>
          <a:lstStyle/>
          <a:p>
            <a:pPr>
              <a:defRPr>
                <a:latin typeface="+mn-lt"/>
                <a:ea typeface="+mn-ea"/>
                <a:cs typeface="+mn-cs"/>
                <a:sym typeface="Arial"/>
              </a:defRPr>
            </a:pPr>
            <a:endParaRPr/>
          </a:p>
        </p:txBody>
      </p:sp>
      <p:sp>
        <p:nvSpPr>
          <p:cNvPr id="124" name="fcard"/>
          <p:cNvSpPr/>
          <p:nvPr/>
        </p:nvSpPr>
        <p:spPr>
          <a:xfrm>
            <a:off x="6152665" y="1619999"/>
            <a:ext cx="2441334" cy="1400001"/>
          </a:xfrm>
          <a:prstGeom prst="roundRect">
            <a:avLst>
              <a:gd name="adj" fmla="val 7000"/>
            </a:avLst>
          </a:prstGeom>
          <a:solidFill>
            <a:srgbClr val="F3F7FA"/>
          </a:solidFill>
          <a:ln w="12700">
            <a:miter lim="400000"/>
          </a:ln>
          <a:effectLst>
            <a:outerShdw blurRad="88900" dist="26000" dir="5400000" rotWithShape="0">
              <a:srgbClr val="0E3449">
                <a:alpha val="13000"/>
              </a:srgbClr>
            </a:outerShdw>
          </a:effectLst>
        </p:spPr>
        <p:txBody>
          <a:bodyPr lIns="0" tIns="0" rIns="0" bIns="0"/>
          <a:lstStyle/>
          <a:p>
            <a:pPr>
              <a:defRPr>
                <a:latin typeface="+mn-lt"/>
                <a:ea typeface="+mn-ea"/>
                <a:cs typeface="+mn-cs"/>
                <a:sym typeface="Arial"/>
              </a:defRPr>
            </a:pPr>
            <a:endParaRPr/>
          </a:p>
        </p:txBody>
      </p:sp>
      <p:sp>
        <p:nvSpPr>
          <p:cNvPr id="125" name="arrow304"/>
          <p:cNvSpPr/>
          <p:nvPr/>
        </p:nvSpPr>
        <p:spPr>
          <a:xfrm>
            <a:off x="3051332" y="1934999"/>
            <a:ext cx="240001" cy="110001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9BB4C2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latin typeface="+mn-lt"/>
                <a:ea typeface="+mn-ea"/>
                <a:cs typeface="+mn-cs"/>
                <a:sym typeface="Arial"/>
              </a:defRPr>
            </a:pPr>
            <a:endParaRPr/>
          </a:p>
        </p:txBody>
      </p:sp>
      <p:sp>
        <p:nvSpPr>
          <p:cNvPr id="126" name="arrow305"/>
          <p:cNvSpPr/>
          <p:nvPr/>
        </p:nvSpPr>
        <p:spPr>
          <a:xfrm>
            <a:off x="5852666" y="1934999"/>
            <a:ext cx="240001" cy="110001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9BB4C2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latin typeface="+mn-lt"/>
                <a:ea typeface="+mn-ea"/>
                <a:cs typeface="+mn-cs"/>
                <a:sym typeface="Arial"/>
              </a:defRPr>
            </a:pPr>
            <a:endParaRPr/>
          </a:p>
        </p:txBody>
      </p:sp>
      <p:sp>
        <p:nvSpPr>
          <p:cNvPr id="127" name="fcirc"/>
          <p:cNvSpPr/>
          <p:nvPr/>
        </p:nvSpPr>
        <p:spPr>
          <a:xfrm>
            <a:off x="1520665" y="1739999"/>
            <a:ext cx="500001" cy="500001"/>
          </a:xfrm>
          <a:prstGeom prst="ellipse">
            <a:avLst/>
          </a:prstGeom>
          <a:solidFill>
            <a:srgbClr val="0E3449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latin typeface="+mn-lt"/>
                <a:ea typeface="+mn-ea"/>
                <a:cs typeface="+mn-cs"/>
                <a:sym typeface="Arial"/>
              </a:defRPr>
            </a:pPr>
            <a:endParaRPr/>
          </a:p>
        </p:txBody>
      </p:sp>
      <p:sp>
        <p:nvSpPr>
          <p:cNvPr id="128" name="fcirc"/>
          <p:cNvSpPr/>
          <p:nvPr/>
        </p:nvSpPr>
        <p:spPr>
          <a:xfrm>
            <a:off x="4321998" y="1739999"/>
            <a:ext cx="500001" cy="500001"/>
          </a:xfrm>
          <a:prstGeom prst="ellipse">
            <a:avLst/>
          </a:prstGeom>
          <a:solidFill>
            <a:srgbClr val="0E3449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latin typeface="+mn-lt"/>
                <a:ea typeface="+mn-ea"/>
                <a:cs typeface="+mn-cs"/>
                <a:sym typeface="Arial"/>
              </a:defRPr>
            </a:pPr>
            <a:endParaRPr/>
          </a:p>
        </p:txBody>
      </p:sp>
      <p:sp>
        <p:nvSpPr>
          <p:cNvPr id="129" name="fcirc"/>
          <p:cNvSpPr/>
          <p:nvPr/>
        </p:nvSpPr>
        <p:spPr>
          <a:xfrm>
            <a:off x="7123331" y="1739999"/>
            <a:ext cx="500001" cy="500001"/>
          </a:xfrm>
          <a:prstGeom prst="ellipse">
            <a:avLst/>
          </a:prstGeom>
          <a:solidFill>
            <a:srgbClr val="0E3449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latin typeface="+mn-lt"/>
                <a:ea typeface="+mn-ea"/>
                <a:cs typeface="+mn-cs"/>
                <a:sym typeface="Arial"/>
              </a:defRPr>
            </a:pPr>
            <a:endParaRPr/>
          </a:p>
        </p:txBody>
      </p:sp>
      <p:pic>
        <p:nvPicPr>
          <p:cNvPr id="130" name="ficon" descr="f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5666" y="1835000"/>
            <a:ext cx="310001" cy="3100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31" name="ficon" descr="f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16998" y="1835000"/>
            <a:ext cx="310001" cy="3100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32" name="ficon" descr="f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18332" y="1835000"/>
            <a:ext cx="310001" cy="310001"/>
          </a:xfrm>
          <a:prstGeom prst="rect">
            <a:avLst/>
          </a:prstGeom>
          <a:ln w="12700">
            <a:miter lim="400000"/>
          </a:ln>
        </p:spPr>
      </p:pic>
      <p:sp>
        <p:nvSpPr>
          <p:cNvPr id="133" name="flab"/>
          <p:cNvSpPr txBox="1"/>
          <p:nvPr/>
        </p:nvSpPr>
        <p:spPr>
          <a:xfrm>
            <a:off x="638000" y="2279999"/>
            <a:ext cx="2265333" cy="260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18000" tIns="18000" rIns="18000" bIns="18000" anchor="ctr">
            <a:normAutofit/>
          </a:bodyPr>
          <a:lstStyle>
            <a:lvl1pPr algn="ctr">
              <a:defRPr sz="1200" b="1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</a:lstStyle>
          <a:p>
            <a:r>
              <a:t>Les données</a:t>
            </a:r>
          </a:p>
        </p:txBody>
      </p:sp>
      <p:sp>
        <p:nvSpPr>
          <p:cNvPr id="134" name="fsub"/>
          <p:cNvSpPr txBox="1"/>
          <p:nvPr/>
        </p:nvSpPr>
        <p:spPr>
          <a:xfrm>
            <a:off x="657999" y="2549999"/>
            <a:ext cx="2225335" cy="440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18000" tIns="18000" rIns="18000" bIns="18000">
            <a:normAutofit/>
          </a:bodyPr>
          <a:lstStyle>
            <a:lvl1pPr algn="ctr">
              <a:defRPr sz="1000">
                <a:solidFill>
                  <a:srgbClr val="4C6B7C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</a:lstStyle>
          <a:p>
            <a:r>
              <a:t>matchs, équipes et joueurs des championnats européens</a:t>
            </a:r>
          </a:p>
        </p:txBody>
      </p:sp>
      <p:sp>
        <p:nvSpPr>
          <p:cNvPr id="135" name="flab"/>
          <p:cNvSpPr txBox="1"/>
          <p:nvPr/>
        </p:nvSpPr>
        <p:spPr>
          <a:xfrm>
            <a:off x="3439333" y="2279999"/>
            <a:ext cx="2265334" cy="260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18000" tIns="18000" rIns="18000" bIns="18000" anchor="ctr">
            <a:normAutofit/>
          </a:bodyPr>
          <a:lstStyle>
            <a:lvl1pPr algn="ctr">
              <a:defRPr sz="1200" b="1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</a:lstStyle>
          <a:p>
            <a:r>
              <a:t>Le modèle</a:t>
            </a:r>
          </a:p>
        </p:txBody>
      </p:sp>
      <p:sp>
        <p:nvSpPr>
          <p:cNvPr id="136" name="fsub"/>
          <p:cNvSpPr txBox="1"/>
          <p:nvPr/>
        </p:nvSpPr>
        <p:spPr>
          <a:xfrm>
            <a:off x="3459332" y="2549999"/>
            <a:ext cx="2225335" cy="440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18000" tIns="18000" rIns="18000" bIns="18000">
            <a:normAutofit/>
          </a:bodyPr>
          <a:lstStyle>
            <a:lvl1pPr algn="ctr">
              <a:defRPr sz="1000">
                <a:solidFill>
                  <a:srgbClr val="4C6B7C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</a:lstStyle>
          <a:p>
            <a:r>
              <a:t>à partir des notes FIFA 26 et du domicile / extérieur</a:t>
            </a:r>
          </a:p>
        </p:txBody>
      </p:sp>
      <p:sp>
        <p:nvSpPr>
          <p:cNvPr id="137" name="flab"/>
          <p:cNvSpPr txBox="1"/>
          <p:nvPr/>
        </p:nvSpPr>
        <p:spPr>
          <a:xfrm>
            <a:off x="6240665" y="2279999"/>
            <a:ext cx="2265334" cy="260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18000" tIns="18000" rIns="18000" bIns="18000" anchor="ctr">
            <a:normAutofit/>
          </a:bodyPr>
          <a:lstStyle>
            <a:lvl1pPr algn="ctr">
              <a:defRPr sz="1200" b="1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</a:lstStyle>
          <a:p>
            <a:r>
              <a:t>La prédiction</a:t>
            </a:r>
          </a:p>
        </p:txBody>
      </p:sp>
      <p:sp>
        <p:nvSpPr>
          <p:cNvPr id="138" name="fsub"/>
          <p:cNvSpPr txBox="1"/>
          <p:nvPr/>
        </p:nvSpPr>
        <p:spPr>
          <a:xfrm>
            <a:off x="6260665" y="2549999"/>
            <a:ext cx="2225334" cy="440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18000" tIns="18000" rIns="18000" bIns="18000">
            <a:normAutofit/>
          </a:bodyPr>
          <a:lstStyle>
            <a:lvl1pPr algn="ctr">
              <a:defRPr sz="1000">
                <a:solidFill>
                  <a:srgbClr val="4C6B7C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</a:lstStyle>
          <a:p>
            <a:r>
              <a:t>le résultat d’un match entre deux équipes</a:t>
            </a:r>
          </a:p>
        </p:txBody>
      </p:sp>
      <p:sp>
        <p:nvSpPr>
          <p:cNvPr id="139" name="pourqui"/>
          <p:cNvSpPr txBox="1"/>
          <p:nvPr/>
        </p:nvSpPr>
        <p:spPr>
          <a:xfrm>
            <a:off x="568000" y="3079999"/>
            <a:ext cx="8007999" cy="300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18000" tIns="18000" rIns="18000" bIns="18000" anchor="ctr">
            <a:normAutofit/>
          </a:bodyPr>
          <a:lstStyle>
            <a:lvl1pPr>
              <a:defRPr sz="1300" b="1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</a:lstStyle>
          <a:p>
            <a:r>
              <a:t>Pour qui ?</a:t>
            </a:r>
          </a:p>
        </p:txBody>
      </p:sp>
      <p:sp>
        <p:nvSpPr>
          <p:cNvPr id="140" name="acard"/>
          <p:cNvSpPr/>
          <p:nvPr/>
        </p:nvSpPr>
        <p:spPr>
          <a:xfrm>
            <a:off x="550000" y="3399999"/>
            <a:ext cx="3872001" cy="1220001"/>
          </a:xfrm>
          <a:prstGeom prst="roundRect">
            <a:avLst>
              <a:gd name="adj" fmla="val 7000"/>
            </a:avLst>
          </a:prstGeom>
          <a:solidFill>
            <a:srgbClr val="F3F7FA"/>
          </a:solidFill>
          <a:ln w="12700">
            <a:miter lim="400000"/>
          </a:ln>
          <a:effectLst>
            <a:outerShdw blurRad="88900" dist="26000" dir="5400000" rotWithShape="0">
              <a:srgbClr val="0E3449">
                <a:alpha val="13000"/>
              </a:srgbClr>
            </a:outerShdw>
          </a:effectLst>
        </p:spPr>
        <p:txBody>
          <a:bodyPr lIns="0" tIns="0" rIns="0" bIns="0"/>
          <a:lstStyle/>
          <a:p>
            <a:pPr>
              <a:defRPr>
                <a:latin typeface="+mn-lt"/>
                <a:ea typeface="+mn-ea"/>
                <a:cs typeface="+mn-cs"/>
                <a:sym typeface="Arial"/>
              </a:defRPr>
            </a:pPr>
            <a:endParaRPr/>
          </a:p>
        </p:txBody>
      </p:sp>
      <p:sp>
        <p:nvSpPr>
          <p:cNvPr id="141" name="acard"/>
          <p:cNvSpPr/>
          <p:nvPr/>
        </p:nvSpPr>
        <p:spPr>
          <a:xfrm>
            <a:off x="4722000" y="3399999"/>
            <a:ext cx="3872001" cy="1220001"/>
          </a:xfrm>
          <a:prstGeom prst="roundRect">
            <a:avLst>
              <a:gd name="adj" fmla="val 7000"/>
            </a:avLst>
          </a:prstGeom>
          <a:solidFill>
            <a:srgbClr val="F3F7FA"/>
          </a:solidFill>
          <a:ln w="12700">
            <a:miter lim="400000"/>
          </a:ln>
          <a:effectLst>
            <a:outerShdw blurRad="88900" dist="26000" dir="5400000" rotWithShape="0">
              <a:srgbClr val="0E3449">
                <a:alpha val="13000"/>
              </a:srgbClr>
            </a:outerShdw>
          </a:effectLst>
        </p:spPr>
        <p:txBody>
          <a:bodyPr lIns="0" tIns="0" rIns="0" bIns="0"/>
          <a:lstStyle/>
          <a:p>
            <a:pPr>
              <a:defRPr>
                <a:latin typeface="+mn-lt"/>
                <a:ea typeface="+mn-ea"/>
                <a:cs typeface="+mn-cs"/>
                <a:sym typeface="Arial"/>
              </a:defRPr>
            </a:pPr>
            <a:endParaRPr/>
          </a:p>
        </p:txBody>
      </p:sp>
      <p:sp>
        <p:nvSpPr>
          <p:cNvPr id="142" name="acirc"/>
          <p:cNvSpPr/>
          <p:nvPr/>
        </p:nvSpPr>
        <p:spPr>
          <a:xfrm>
            <a:off x="789999" y="3709999"/>
            <a:ext cx="600001" cy="600001"/>
          </a:xfrm>
          <a:prstGeom prst="ellipse">
            <a:avLst/>
          </a:prstGeom>
          <a:solidFill>
            <a:srgbClr val="0E3449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latin typeface="+mn-lt"/>
                <a:ea typeface="+mn-ea"/>
                <a:cs typeface="+mn-cs"/>
                <a:sym typeface="Arial"/>
              </a:defRPr>
            </a:pPr>
            <a:endParaRPr/>
          </a:p>
        </p:txBody>
      </p:sp>
      <p:sp>
        <p:nvSpPr>
          <p:cNvPr id="143" name="acirc"/>
          <p:cNvSpPr/>
          <p:nvPr/>
        </p:nvSpPr>
        <p:spPr>
          <a:xfrm>
            <a:off x="4961999" y="3709999"/>
            <a:ext cx="600001" cy="600001"/>
          </a:xfrm>
          <a:prstGeom prst="ellipse">
            <a:avLst/>
          </a:prstGeom>
          <a:solidFill>
            <a:srgbClr val="0E3449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latin typeface="+mn-lt"/>
                <a:ea typeface="+mn-ea"/>
                <a:cs typeface="+mn-cs"/>
                <a:sym typeface="Arial"/>
              </a:defRPr>
            </a:pPr>
            <a:endParaRPr/>
          </a:p>
        </p:txBody>
      </p:sp>
      <p:pic>
        <p:nvPicPr>
          <p:cNvPr id="144" name="aicon" descr="aic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999" y="3835000"/>
            <a:ext cx="350001" cy="3500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45" name="aicon" descr="aicon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86999" y="3835000"/>
            <a:ext cx="350001" cy="350001"/>
          </a:xfrm>
          <a:prstGeom prst="rect">
            <a:avLst/>
          </a:prstGeom>
          <a:ln w="12700">
            <a:miter lim="400000"/>
          </a:ln>
        </p:spPr>
      </p:pic>
      <p:sp>
        <p:nvSpPr>
          <p:cNvPr id="146" name="atxt"/>
          <p:cNvSpPr txBox="1"/>
          <p:nvPr/>
        </p:nvSpPr>
        <p:spPr>
          <a:xfrm>
            <a:off x="1597999" y="3399999"/>
            <a:ext cx="2606001" cy="1220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18000" tIns="18000" rIns="18000" bIns="18000" anchor="ctr">
            <a:normAutofit/>
          </a:bodyPr>
          <a:lstStyle/>
          <a:p>
            <a:pPr>
              <a:defRPr sz="1200" b="1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pPr>
            <a:r>
              <a:t>L’entraîneur</a:t>
            </a:r>
            <a:endParaRPr>
              <a:latin typeface="+mn-lt"/>
              <a:ea typeface="+mn-ea"/>
              <a:cs typeface="+mn-cs"/>
              <a:sym typeface="Arial"/>
            </a:endParaRPr>
          </a:p>
          <a:p>
            <a:pPr>
              <a:defRPr sz="1000">
                <a:solidFill>
                  <a:srgbClr val="4C6B7C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pPr>
            <a:r>
              <a:t>optimise sa composition et sa stratégie de recrutement</a:t>
            </a:r>
          </a:p>
        </p:txBody>
      </p:sp>
      <p:sp>
        <p:nvSpPr>
          <p:cNvPr id="147" name="atxt"/>
          <p:cNvSpPr txBox="1"/>
          <p:nvPr/>
        </p:nvSpPr>
        <p:spPr>
          <a:xfrm>
            <a:off x="5770000" y="3399999"/>
            <a:ext cx="2606001" cy="1220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18000" tIns="18000" rIns="18000" bIns="18000" anchor="ctr">
            <a:normAutofit/>
          </a:bodyPr>
          <a:lstStyle/>
          <a:p>
            <a:pPr>
              <a:defRPr sz="1200" b="1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pPr>
            <a:r>
              <a:t>Le recruteur</a:t>
            </a:r>
            <a:endParaRPr>
              <a:latin typeface="+mn-lt"/>
              <a:ea typeface="+mn-ea"/>
              <a:cs typeface="+mn-cs"/>
              <a:sym typeface="Arial"/>
            </a:endParaRPr>
          </a:p>
          <a:p>
            <a:pPr>
              <a:defRPr sz="1000">
                <a:solidFill>
                  <a:srgbClr val="4C6B7C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pPr>
            <a:r>
              <a:t>repère les joueurs à fort potentiel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Fond Sporting Portugal"/>
          <p:cNvPicPr>
            <a:picLocks noChangeAspect="1"/>
          </p:cNvPicPr>
          <p:nvPr/>
        </p:nvPicPr>
        <p:blipFill>
          <a:blip r:embed="rId2"/>
          <a:srcRect t="7813" b="781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49" name="Google Shape;89;p18"/>
          <p:cNvSpPr txBox="1">
            <a:spLocks noGrp="1"/>
          </p:cNvSpPr>
          <p:nvPr>
            <p:ph type="title"/>
          </p:nvPr>
        </p:nvSpPr>
        <p:spPr>
          <a:xfrm>
            <a:off x="1192663" y="403307"/>
            <a:ext cx="5315103" cy="533103"/>
          </a:xfrm>
          <a:prstGeom prst="rect">
            <a:avLst/>
          </a:prstGeom>
        </p:spPr>
        <p:txBody>
          <a:bodyPr/>
          <a:lstStyle>
            <a:lvl1pPr defTabSz="822958">
              <a:defRPr sz="220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</a:lstStyle>
          <a:p>
            <a:r>
              <a:t>Football predictor</a:t>
            </a:r>
          </a:p>
        </p:txBody>
      </p:sp>
      <p:pic>
        <p:nvPicPr>
          <p:cNvPr id="150" name="Google Shape;90;p18" descr="Google Shape;90;p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375" y="482852"/>
            <a:ext cx="576901" cy="385906"/>
          </a:xfrm>
          <a:prstGeom prst="rect">
            <a:avLst/>
          </a:prstGeom>
          <a:ln w="12700">
            <a:miter lim="400000"/>
          </a:ln>
        </p:spPr>
      </p:pic>
      <p:sp>
        <p:nvSpPr>
          <p:cNvPr id="151" name="Google Shape;91;p18"/>
          <p:cNvSpPr/>
          <p:nvPr/>
        </p:nvSpPr>
        <p:spPr>
          <a:xfrm>
            <a:off x="10224" y="4892025"/>
            <a:ext cx="9144001" cy="251400"/>
          </a:xfrm>
          <a:prstGeom prst="rect">
            <a:avLst/>
          </a:prstGeom>
          <a:solidFill>
            <a:srgbClr val="C3FFFC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latin typeface="+mn-lt"/>
                <a:ea typeface="+mn-ea"/>
                <a:cs typeface="+mn-cs"/>
                <a:sym typeface="Arial"/>
              </a:defRPr>
            </a:pPr>
            <a:endParaRPr/>
          </a:p>
        </p:txBody>
      </p:sp>
      <p:sp>
        <p:nvSpPr>
          <p:cNvPr id="152" name="card"/>
          <p:cNvSpPr/>
          <p:nvPr/>
        </p:nvSpPr>
        <p:spPr>
          <a:xfrm>
            <a:off x="550000" y="1200000"/>
            <a:ext cx="3872001" cy="1635001"/>
          </a:xfrm>
          <a:prstGeom prst="roundRect">
            <a:avLst>
              <a:gd name="adj" fmla="val 7000"/>
            </a:avLst>
          </a:prstGeom>
          <a:solidFill>
            <a:srgbClr val="F3F7FA"/>
          </a:solidFill>
          <a:ln w="12700">
            <a:miter lim="400000"/>
          </a:ln>
          <a:effectLst>
            <a:outerShdw blurRad="88900" dist="26000" dir="5400000" rotWithShape="0">
              <a:srgbClr val="0E3449">
                <a:alpha val="13000"/>
              </a:srgbClr>
            </a:outerShdw>
          </a:effectLst>
        </p:spPr>
        <p:txBody>
          <a:bodyPr lIns="0" tIns="0" rIns="0" bIns="0"/>
          <a:lstStyle/>
          <a:p>
            <a:pPr>
              <a:defRPr>
                <a:latin typeface="+mn-lt"/>
                <a:ea typeface="+mn-ea"/>
                <a:cs typeface="+mn-cs"/>
                <a:sym typeface="Arial"/>
              </a:defRPr>
            </a:pPr>
            <a:endParaRPr/>
          </a:p>
        </p:txBody>
      </p:sp>
      <p:sp>
        <p:nvSpPr>
          <p:cNvPr id="153" name="card"/>
          <p:cNvSpPr/>
          <p:nvPr/>
        </p:nvSpPr>
        <p:spPr>
          <a:xfrm>
            <a:off x="4722000" y="1200000"/>
            <a:ext cx="3872001" cy="1635001"/>
          </a:xfrm>
          <a:prstGeom prst="roundRect">
            <a:avLst>
              <a:gd name="adj" fmla="val 7000"/>
            </a:avLst>
          </a:prstGeom>
          <a:solidFill>
            <a:srgbClr val="F3F7FA"/>
          </a:solidFill>
          <a:ln w="12700">
            <a:miter lim="400000"/>
          </a:ln>
          <a:effectLst>
            <a:outerShdw blurRad="88900" dist="26000" dir="5400000" rotWithShape="0">
              <a:srgbClr val="0E3449">
                <a:alpha val="13000"/>
              </a:srgbClr>
            </a:outerShdw>
          </a:effectLst>
        </p:spPr>
        <p:txBody>
          <a:bodyPr lIns="0" tIns="0" rIns="0" bIns="0"/>
          <a:lstStyle/>
          <a:p>
            <a:pPr>
              <a:defRPr>
                <a:latin typeface="+mn-lt"/>
                <a:ea typeface="+mn-ea"/>
                <a:cs typeface="+mn-cs"/>
                <a:sym typeface="Arial"/>
              </a:defRPr>
            </a:pPr>
            <a:endParaRPr/>
          </a:p>
        </p:txBody>
      </p:sp>
      <p:sp>
        <p:nvSpPr>
          <p:cNvPr id="154" name="card"/>
          <p:cNvSpPr/>
          <p:nvPr/>
        </p:nvSpPr>
        <p:spPr>
          <a:xfrm>
            <a:off x="550000" y="3114999"/>
            <a:ext cx="3872001" cy="1635001"/>
          </a:xfrm>
          <a:prstGeom prst="roundRect">
            <a:avLst>
              <a:gd name="adj" fmla="val 7000"/>
            </a:avLst>
          </a:prstGeom>
          <a:solidFill>
            <a:srgbClr val="F3F7FA"/>
          </a:solidFill>
          <a:ln w="12700">
            <a:miter lim="400000"/>
          </a:ln>
          <a:effectLst>
            <a:outerShdw blurRad="88900" dist="26000" dir="5400000" rotWithShape="0">
              <a:srgbClr val="0E3449">
                <a:alpha val="13000"/>
              </a:srgbClr>
            </a:outerShdw>
          </a:effectLst>
        </p:spPr>
        <p:txBody>
          <a:bodyPr lIns="0" tIns="0" rIns="0" bIns="0"/>
          <a:lstStyle/>
          <a:p>
            <a:pPr>
              <a:defRPr>
                <a:latin typeface="+mn-lt"/>
                <a:ea typeface="+mn-ea"/>
                <a:cs typeface="+mn-cs"/>
                <a:sym typeface="Arial"/>
              </a:defRPr>
            </a:pPr>
            <a:endParaRPr/>
          </a:p>
        </p:txBody>
      </p:sp>
      <p:sp>
        <p:nvSpPr>
          <p:cNvPr id="155" name="card"/>
          <p:cNvSpPr/>
          <p:nvPr/>
        </p:nvSpPr>
        <p:spPr>
          <a:xfrm>
            <a:off x="4722000" y="3114999"/>
            <a:ext cx="3872001" cy="1635001"/>
          </a:xfrm>
          <a:prstGeom prst="roundRect">
            <a:avLst>
              <a:gd name="adj" fmla="val 7000"/>
            </a:avLst>
          </a:prstGeom>
          <a:solidFill>
            <a:srgbClr val="F3F7FA"/>
          </a:solidFill>
          <a:ln w="12700">
            <a:miter lim="400000"/>
          </a:ln>
          <a:effectLst>
            <a:outerShdw blurRad="88900" dist="26000" dir="5400000" rotWithShape="0">
              <a:srgbClr val="0E3449">
                <a:alpha val="13000"/>
              </a:srgbClr>
            </a:outerShdw>
          </a:effectLst>
        </p:spPr>
        <p:txBody>
          <a:bodyPr lIns="0" tIns="0" rIns="0" bIns="0"/>
          <a:lstStyle/>
          <a:p>
            <a:pPr>
              <a:defRPr>
                <a:latin typeface="+mn-lt"/>
                <a:ea typeface="+mn-ea"/>
                <a:cs typeface="+mn-cs"/>
                <a:sym typeface="Arial"/>
              </a:defRPr>
            </a:pPr>
            <a:endParaRPr/>
          </a:p>
        </p:txBody>
      </p:sp>
      <p:sp>
        <p:nvSpPr>
          <p:cNvPr id="156" name="circ"/>
          <p:cNvSpPr/>
          <p:nvPr/>
        </p:nvSpPr>
        <p:spPr>
          <a:xfrm>
            <a:off x="789999" y="1439999"/>
            <a:ext cx="620001" cy="620001"/>
          </a:xfrm>
          <a:prstGeom prst="ellipse">
            <a:avLst/>
          </a:prstGeom>
          <a:solidFill>
            <a:srgbClr val="0E3449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latin typeface="+mn-lt"/>
                <a:ea typeface="+mn-ea"/>
                <a:cs typeface="+mn-cs"/>
                <a:sym typeface="Arial"/>
              </a:defRPr>
            </a:pPr>
            <a:endParaRPr/>
          </a:p>
        </p:txBody>
      </p:sp>
      <p:sp>
        <p:nvSpPr>
          <p:cNvPr id="157" name="circ"/>
          <p:cNvSpPr/>
          <p:nvPr/>
        </p:nvSpPr>
        <p:spPr>
          <a:xfrm>
            <a:off x="4961999" y="1439999"/>
            <a:ext cx="620001" cy="620001"/>
          </a:xfrm>
          <a:prstGeom prst="ellipse">
            <a:avLst/>
          </a:prstGeom>
          <a:solidFill>
            <a:srgbClr val="0E3449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latin typeface="+mn-lt"/>
                <a:ea typeface="+mn-ea"/>
                <a:cs typeface="+mn-cs"/>
                <a:sym typeface="Arial"/>
              </a:defRPr>
            </a:pPr>
            <a:endParaRPr/>
          </a:p>
        </p:txBody>
      </p:sp>
      <p:sp>
        <p:nvSpPr>
          <p:cNvPr id="158" name="circ"/>
          <p:cNvSpPr/>
          <p:nvPr/>
        </p:nvSpPr>
        <p:spPr>
          <a:xfrm>
            <a:off x="789999" y="3354999"/>
            <a:ext cx="620001" cy="620001"/>
          </a:xfrm>
          <a:prstGeom prst="ellipse">
            <a:avLst/>
          </a:prstGeom>
          <a:solidFill>
            <a:srgbClr val="0E3449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latin typeface="+mn-lt"/>
                <a:ea typeface="+mn-ea"/>
                <a:cs typeface="+mn-cs"/>
                <a:sym typeface="Arial"/>
              </a:defRPr>
            </a:pPr>
            <a:endParaRPr/>
          </a:p>
        </p:txBody>
      </p:sp>
      <p:sp>
        <p:nvSpPr>
          <p:cNvPr id="159" name="circ"/>
          <p:cNvSpPr/>
          <p:nvPr/>
        </p:nvSpPr>
        <p:spPr>
          <a:xfrm>
            <a:off x="4961999" y="3354999"/>
            <a:ext cx="620001" cy="620001"/>
          </a:xfrm>
          <a:prstGeom prst="ellipse">
            <a:avLst/>
          </a:prstGeom>
          <a:solidFill>
            <a:srgbClr val="0E3449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latin typeface="+mn-lt"/>
                <a:ea typeface="+mn-ea"/>
                <a:cs typeface="+mn-cs"/>
                <a:sym typeface="Arial"/>
              </a:defRPr>
            </a:pPr>
            <a:endParaRPr/>
          </a:p>
        </p:txBody>
      </p:sp>
      <p:pic>
        <p:nvPicPr>
          <p:cNvPr id="160" name="icon" descr="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000" y="1570000"/>
            <a:ext cx="360001" cy="3600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61" name="icon" descr="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92000" y="1570000"/>
            <a:ext cx="360001" cy="3600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62" name="icon" descr="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0000" y="3485000"/>
            <a:ext cx="360001" cy="3600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63" name="icon" descr="ic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92000" y="3485000"/>
            <a:ext cx="360001" cy="360001"/>
          </a:xfrm>
          <a:prstGeom prst="rect">
            <a:avLst/>
          </a:prstGeom>
          <a:ln w="12700">
            <a:miter lim="400000"/>
          </a:ln>
        </p:spPr>
      </p:pic>
      <p:sp>
        <p:nvSpPr>
          <p:cNvPr id="164" name="title"/>
          <p:cNvSpPr txBox="1"/>
          <p:nvPr/>
        </p:nvSpPr>
        <p:spPr>
          <a:xfrm>
            <a:off x="1607999" y="1439999"/>
            <a:ext cx="2556002" cy="620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18000" tIns="18000" rIns="18000" bIns="18000" anchor="ctr">
            <a:normAutofit/>
          </a:bodyPr>
          <a:lstStyle>
            <a:lvl1pPr>
              <a:defRPr sz="1300" b="1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</a:lstStyle>
          <a:p>
            <a:r>
              <a:t>Équipes &amp; effectifs</a:t>
            </a:r>
          </a:p>
        </p:txBody>
      </p:sp>
      <p:sp>
        <p:nvSpPr>
          <p:cNvPr id="165" name="desc"/>
          <p:cNvSpPr txBox="1"/>
          <p:nvPr/>
        </p:nvSpPr>
        <p:spPr>
          <a:xfrm>
            <a:off x="808000" y="2130000"/>
            <a:ext cx="3356000" cy="54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18000" tIns="18000" rIns="18000" bIns="18000">
            <a:normAutofit/>
          </a:bodyPr>
          <a:lstStyle>
            <a:lvl1pPr>
              <a:defRPr sz="1000">
                <a:solidFill>
                  <a:srgbClr val="4C6B7C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</a:lstStyle>
          <a:p>
            <a:r>
              <a:t>effectif de la saison, notes &amp; valeur marchande, dernière compo officielle</a:t>
            </a:r>
          </a:p>
        </p:txBody>
      </p:sp>
      <p:sp>
        <p:nvSpPr>
          <p:cNvPr id="166" name="title"/>
          <p:cNvSpPr txBox="1"/>
          <p:nvPr/>
        </p:nvSpPr>
        <p:spPr>
          <a:xfrm>
            <a:off x="5779999" y="1439999"/>
            <a:ext cx="2556001" cy="620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18000" tIns="18000" rIns="18000" bIns="18000" anchor="ctr">
            <a:normAutofit/>
          </a:bodyPr>
          <a:lstStyle>
            <a:lvl1pPr>
              <a:defRPr sz="1300" b="1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</a:lstStyle>
          <a:p>
            <a:r>
              <a:t>Prédiction de match</a:t>
            </a:r>
          </a:p>
        </p:txBody>
      </p:sp>
      <p:sp>
        <p:nvSpPr>
          <p:cNvPr id="167" name="desc"/>
          <p:cNvSpPr txBox="1"/>
          <p:nvPr/>
        </p:nvSpPr>
        <p:spPr>
          <a:xfrm>
            <a:off x="4979999" y="2130000"/>
            <a:ext cx="3356001" cy="54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18000" tIns="18000" rIns="18000" bIns="18000">
            <a:normAutofit/>
          </a:bodyPr>
          <a:lstStyle>
            <a:lvl1pPr>
              <a:defRPr sz="1000">
                <a:solidFill>
                  <a:srgbClr val="4C6B7C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</a:lstStyle>
          <a:p>
            <a:r>
              <a:t>résultat prédit entre deux équipes données</a:t>
            </a:r>
          </a:p>
        </p:txBody>
      </p:sp>
      <p:sp>
        <p:nvSpPr>
          <p:cNvPr id="168" name="title"/>
          <p:cNvSpPr txBox="1"/>
          <p:nvPr/>
        </p:nvSpPr>
        <p:spPr>
          <a:xfrm>
            <a:off x="1607999" y="3354999"/>
            <a:ext cx="2556002" cy="620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18000" tIns="18000" rIns="18000" bIns="18000" anchor="ctr">
            <a:normAutofit/>
          </a:bodyPr>
          <a:lstStyle>
            <a:lvl1pPr>
              <a:defRPr sz="1300" b="1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</a:lstStyle>
          <a:p>
            <a:r>
              <a:t>Mode Fantasy</a:t>
            </a:r>
          </a:p>
        </p:txBody>
      </p:sp>
      <p:sp>
        <p:nvSpPr>
          <p:cNvPr id="169" name="desc"/>
          <p:cNvSpPr txBox="1"/>
          <p:nvPr/>
        </p:nvSpPr>
        <p:spPr>
          <a:xfrm>
            <a:off x="808000" y="4044999"/>
            <a:ext cx="3356000" cy="5450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18000" tIns="18000" rIns="18000" bIns="18000">
            <a:normAutofit/>
          </a:bodyPr>
          <a:lstStyle>
            <a:lvl1pPr>
              <a:defRPr sz="1000">
                <a:solidFill>
                  <a:srgbClr val="4C6B7C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</a:lstStyle>
          <a:p>
            <a:r>
              <a:t>créer sa dream team et lancer un tournoi (équipes fictives ou réelles)</a:t>
            </a:r>
          </a:p>
        </p:txBody>
      </p:sp>
      <p:sp>
        <p:nvSpPr>
          <p:cNvPr id="170" name="title"/>
          <p:cNvSpPr txBox="1"/>
          <p:nvPr/>
        </p:nvSpPr>
        <p:spPr>
          <a:xfrm>
            <a:off x="5779999" y="3354999"/>
            <a:ext cx="2556001" cy="620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18000" tIns="18000" rIns="18000" bIns="18000" anchor="ctr">
            <a:normAutofit/>
          </a:bodyPr>
          <a:lstStyle>
            <a:lvl1pPr>
              <a:defRPr sz="1300" b="1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</a:lstStyle>
          <a:p>
            <a:r>
              <a:t>Chatbot IA</a:t>
            </a:r>
          </a:p>
        </p:txBody>
      </p:sp>
      <p:sp>
        <p:nvSpPr>
          <p:cNvPr id="171" name="desc"/>
          <p:cNvSpPr txBox="1"/>
          <p:nvPr/>
        </p:nvSpPr>
        <p:spPr>
          <a:xfrm>
            <a:off x="4979999" y="4044999"/>
            <a:ext cx="3356001" cy="5450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18000" tIns="18000" rIns="18000" bIns="18000">
            <a:normAutofit/>
          </a:bodyPr>
          <a:lstStyle>
            <a:lvl1pPr>
              <a:defRPr sz="1000">
                <a:solidFill>
                  <a:srgbClr val="4C6B7C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</a:lstStyle>
          <a:p>
            <a:r>
              <a:t>réponses générées depuis les bases neondb &amp; Transfermarkt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>
          <a:extLst>
            <a:ext uri="{FF2B5EF4-FFF2-40B4-BE49-F238E27FC236}">
              <a16:creationId xmlns:a16="http://schemas.microsoft.com/office/drawing/2014/main" id="{1CFBC3AC-7D89-6983-6A38-156BB448A2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Fond Paris Saint-Germain"/>
          <p:cNvPicPr>
            <a:picLocks noChangeAspect="1"/>
          </p:cNvPicPr>
          <p:nvPr/>
        </p:nvPicPr>
        <p:blipFill>
          <a:blip r:embed="rId3"/>
          <a:srcRect t="7813" b="781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5" name="Google Shape;75;p16">
            <a:extLst>
              <a:ext uri="{FF2B5EF4-FFF2-40B4-BE49-F238E27FC236}">
                <a16:creationId xmlns:a16="http://schemas.microsoft.com/office/drawing/2014/main" id="{21316AE5-33FD-3B02-EEDB-8F2263AD4CBC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1192664" y="403309"/>
            <a:ext cx="6786770" cy="5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fr-FR" sz="2400" dirty="0">
                <a:latin typeface="Inter SemiBold" panose="020B0604020202020204" charset="0"/>
                <a:ea typeface="Inter SemiBold" panose="020B0604020202020204" charset="0"/>
              </a:rPr>
              <a:t>ETL, EDA et choix de données modèle</a:t>
            </a:r>
          </a:p>
        </p:txBody>
      </p:sp>
      <p:pic>
        <p:nvPicPr>
          <p:cNvPr id="76" name="Google Shape;76;p16">
            <a:extLst>
              <a:ext uri="{FF2B5EF4-FFF2-40B4-BE49-F238E27FC236}">
                <a16:creationId xmlns:a16="http://schemas.microsoft.com/office/drawing/2014/main" id="{DB931E49-E071-F819-585E-1E16EBC1E0F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6">
            <a:extLst>
              <a:ext uri="{FF2B5EF4-FFF2-40B4-BE49-F238E27FC236}">
                <a16:creationId xmlns:a16="http://schemas.microsoft.com/office/drawing/2014/main" id="{71098868-1DE9-B2A0-96B7-BD7DAD9178CD}"/>
              </a:ext>
            </a:extLst>
          </p:cNvPr>
          <p:cNvSpPr/>
          <p:nvPr/>
        </p:nvSpPr>
        <p:spPr>
          <a:xfrm>
            <a:off x="10225" y="4892025"/>
            <a:ext cx="9144000" cy="25140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" name="Groupe 13">
            <a:extLst>
              <a:ext uri="{FF2B5EF4-FFF2-40B4-BE49-F238E27FC236}">
                <a16:creationId xmlns:a16="http://schemas.microsoft.com/office/drawing/2014/main" id="{01DC0FC6-B573-A226-3B5C-AFCB766C5895}"/>
              </a:ext>
            </a:extLst>
          </p:cNvPr>
          <p:cNvGrpSpPr/>
          <p:nvPr/>
        </p:nvGrpSpPr>
        <p:grpSpPr>
          <a:xfrm>
            <a:off x="817153" y="2657190"/>
            <a:ext cx="5680321" cy="1343026"/>
            <a:chOff x="866182" y="2902723"/>
            <a:chExt cx="5680321" cy="1343026"/>
          </a:xfrm>
        </p:grpSpPr>
        <p:grpSp>
          <p:nvGrpSpPr>
            <p:cNvPr id="13" name="Groupe 12">
              <a:extLst>
                <a:ext uri="{FF2B5EF4-FFF2-40B4-BE49-F238E27FC236}">
                  <a16:creationId xmlns:a16="http://schemas.microsoft.com/office/drawing/2014/main" id="{85AF1CB8-48F2-CF7B-CBCB-8C9A3D51DD89}"/>
                </a:ext>
              </a:extLst>
            </p:cNvPr>
            <p:cNvGrpSpPr/>
            <p:nvPr/>
          </p:nvGrpSpPr>
          <p:grpSpPr>
            <a:xfrm>
              <a:off x="866182" y="2902723"/>
              <a:ext cx="5680321" cy="1343026"/>
              <a:chOff x="866182" y="2902723"/>
              <a:chExt cx="5680321" cy="1343026"/>
            </a:xfrm>
          </p:grpSpPr>
          <p:sp>
            <p:nvSpPr>
              <p:cNvPr id="6" name="Rectangle">
                <a:extLst>
                  <a:ext uri="{FF2B5EF4-FFF2-40B4-BE49-F238E27FC236}">
                    <a16:creationId xmlns:a16="http://schemas.microsoft.com/office/drawing/2014/main" id="{EFA76702-948B-29E0-0CBF-EA2F3C61B6D4}"/>
                  </a:ext>
                </a:extLst>
              </p:cNvPr>
              <p:cNvSpPr/>
              <p:nvPr/>
            </p:nvSpPr>
            <p:spPr>
              <a:xfrm>
                <a:off x="866182" y="2902723"/>
                <a:ext cx="5680321" cy="1343026"/>
              </a:xfrm>
              <a:prstGeom prst="rect">
                <a:avLst/>
              </a:prstGeom>
              <a:solidFill>
                <a:srgbClr val="EDEDED"/>
              </a:solidFill>
              <a:ln w="12700">
                <a:miter lim="400000"/>
              </a:ln>
            </p:spPr>
            <p:txBody>
              <a:bodyPr lIns="0" tIns="0" rIns="0" bIns="0"/>
              <a:lstStyle/>
              <a:p>
                <a:endParaRPr sz="1050"/>
              </a:p>
            </p:txBody>
          </p:sp>
          <p:sp>
            <p:nvSpPr>
              <p:cNvPr id="8" name="Décision structurante">
                <a:extLst>
                  <a:ext uri="{FF2B5EF4-FFF2-40B4-BE49-F238E27FC236}">
                    <a16:creationId xmlns:a16="http://schemas.microsoft.com/office/drawing/2014/main" id="{7BB1AE7C-C012-7AD3-470B-F06CB01EEBB7}"/>
                  </a:ext>
                </a:extLst>
              </p:cNvPr>
              <p:cNvSpPr txBox="1"/>
              <p:nvPr/>
            </p:nvSpPr>
            <p:spPr>
              <a:xfrm>
                <a:off x="966451" y="3200537"/>
                <a:ext cx="2788921" cy="261610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lIns="34289" rIns="34289">
                <a:spAutoFit/>
              </a:bodyPr>
              <a:lstStyle>
                <a:lvl1pPr>
                  <a:defRPr b="1"/>
                </a:lvl1pPr>
              </a:lstStyle>
              <a:p>
                <a:r>
                  <a:rPr sz="1100" err="1">
                    <a:latin typeface="Inter" panose="020B0604020202020204" charset="0"/>
                    <a:ea typeface="Inter" panose="020B0604020202020204" charset="0"/>
                  </a:rPr>
                  <a:t>Décision</a:t>
                </a:r>
                <a:r>
                  <a:rPr sz="1100">
                    <a:latin typeface="Inter" panose="020B0604020202020204" charset="0"/>
                    <a:ea typeface="Inter" panose="020B0604020202020204" charset="0"/>
                  </a:rPr>
                  <a:t> </a:t>
                </a:r>
                <a:r>
                  <a:rPr sz="1100" err="1">
                    <a:latin typeface="Inter" panose="020B0604020202020204" charset="0"/>
                    <a:ea typeface="Inter" panose="020B0604020202020204" charset="0"/>
                  </a:rPr>
                  <a:t>structurante</a:t>
                </a:r>
                <a:endParaRPr sz="1100">
                  <a:latin typeface="Inter" panose="020B0604020202020204" charset="0"/>
                  <a:ea typeface="Inter" panose="020B0604020202020204" charset="0"/>
                </a:endParaRPr>
              </a:p>
            </p:txBody>
          </p:sp>
        </p:grpSp>
        <p:sp>
          <p:nvSpPr>
            <p:cNvPr id="10" name="Conserver l'information joueur détaillée, puis tester si les abstractions apportent vraiment de la performance.">
              <a:extLst>
                <a:ext uri="{FF2B5EF4-FFF2-40B4-BE49-F238E27FC236}">
                  <a16:creationId xmlns:a16="http://schemas.microsoft.com/office/drawing/2014/main" id="{96E9B7F8-EB18-E835-4992-E378A7898C28}"/>
                </a:ext>
              </a:extLst>
            </p:cNvPr>
            <p:cNvSpPr txBox="1"/>
            <p:nvPr/>
          </p:nvSpPr>
          <p:spPr>
            <a:xfrm>
              <a:off x="966451" y="3574236"/>
              <a:ext cx="5392016" cy="430887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34289" rIns="34289">
              <a:spAutoFit/>
            </a:bodyPr>
            <a:lstStyle>
              <a:lvl1pPr>
                <a:defRPr sz="1500"/>
              </a:lvl1pPr>
            </a:lstStyle>
            <a:p>
              <a:r>
                <a:rPr sz="1100">
                  <a:latin typeface="Inter" panose="020B0604020202020204" charset="0"/>
                  <a:ea typeface="Inter" panose="020B0604020202020204" charset="0"/>
                </a:rPr>
                <a:t>Conserver </a:t>
              </a:r>
              <a:r>
                <a:rPr sz="1100" err="1">
                  <a:latin typeface="Inter" panose="020B0604020202020204" charset="0"/>
                  <a:ea typeface="Inter" panose="020B0604020202020204" charset="0"/>
                </a:rPr>
                <a:t>l'information</a:t>
              </a:r>
              <a:r>
                <a:rPr sz="1100">
                  <a:latin typeface="Inter" panose="020B0604020202020204" charset="0"/>
                  <a:ea typeface="Inter" panose="020B0604020202020204" charset="0"/>
                </a:rPr>
                <a:t> </a:t>
              </a:r>
              <a:r>
                <a:rPr sz="1100" err="1">
                  <a:latin typeface="Inter" panose="020B0604020202020204" charset="0"/>
                  <a:ea typeface="Inter" panose="020B0604020202020204" charset="0"/>
                </a:rPr>
                <a:t>joueur</a:t>
              </a:r>
              <a:r>
                <a:rPr sz="1100">
                  <a:latin typeface="Inter" panose="020B0604020202020204" charset="0"/>
                  <a:ea typeface="Inter" panose="020B0604020202020204" charset="0"/>
                </a:rPr>
                <a:t> </a:t>
              </a:r>
              <a:r>
                <a:rPr sz="1100" err="1">
                  <a:latin typeface="Inter" panose="020B0604020202020204" charset="0"/>
                  <a:ea typeface="Inter" panose="020B0604020202020204" charset="0"/>
                </a:rPr>
                <a:t>détaillée</a:t>
              </a:r>
              <a:r>
                <a:rPr sz="1100">
                  <a:latin typeface="Inter" panose="020B0604020202020204" charset="0"/>
                  <a:ea typeface="Inter" panose="020B0604020202020204" charset="0"/>
                </a:rPr>
                <a:t>, </a:t>
              </a:r>
              <a:r>
                <a:rPr sz="1100" err="1">
                  <a:latin typeface="Inter" panose="020B0604020202020204" charset="0"/>
                  <a:ea typeface="Inter" panose="020B0604020202020204" charset="0"/>
                </a:rPr>
                <a:t>puis</a:t>
              </a:r>
              <a:r>
                <a:rPr sz="1100">
                  <a:latin typeface="Inter" panose="020B0604020202020204" charset="0"/>
                  <a:ea typeface="Inter" panose="020B0604020202020204" charset="0"/>
                </a:rPr>
                <a:t> tester </a:t>
              </a:r>
              <a:r>
                <a:rPr sz="1100" err="1">
                  <a:latin typeface="Inter" panose="020B0604020202020204" charset="0"/>
                  <a:ea typeface="Inter" panose="020B0604020202020204" charset="0"/>
                </a:rPr>
                <a:t>si</a:t>
              </a:r>
              <a:r>
                <a:rPr sz="1100">
                  <a:latin typeface="Inter" panose="020B0604020202020204" charset="0"/>
                  <a:ea typeface="Inter" panose="020B0604020202020204" charset="0"/>
                </a:rPr>
                <a:t> les abstractions </a:t>
              </a:r>
              <a:r>
                <a:rPr sz="1100" err="1">
                  <a:latin typeface="Inter" panose="020B0604020202020204" charset="0"/>
                  <a:ea typeface="Inter" panose="020B0604020202020204" charset="0"/>
                </a:rPr>
                <a:t>apportent</a:t>
              </a:r>
              <a:r>
                <a:rPr sz="1100">
                  <a:latin typeface="Inter" panose="020B0604020202020204" charset="0"/>
                  <a:ea typeface="Inter" panose="020B0604020202020204" charset="0"/>
                </a:rPr>
                <a:t> </a:t>
              </a:r>
              <a:r>
                <a:rPr sz="1100" err="1">
                  <a:latin typeface="Inter" panose="020B0604020202020204" charset="0"/>
                  <a:ea typeface="Inter" panose="020B0604020202020204" charset="0"/>
                </a:rPr>
                <a:t>vraiment</a:t>
              </a:r>
              <a:r>
                <a:rPr sz="1100">
                  <a:latin typeface="Inter" panose="020B0604020202020204" charset="0"/>
                  <a:ea typeface="Inter" panose="020B0604020202020204" charset="0"/>
                </a:rPr>
                <a:t> de la performance.</a:t>
              </a:r>
            </a:p>
          </p:txBody>
        </p:sp>
      </p:grpSp>
      <p:sp>
        <p:nvSpPr>
          <p:cNvPr id="12" name="Rectangle">
            <a:extLst>
              <a:ext uri="{FF2B5EF4-FFF2-40B4-BE49-F238E27FC236}">
                <a16:creationId xmlns:a16="http://schemas.microsoft.com/office/drawing/2014/main" id="{E550F46A-B87D-A383-5D06-D3F1C6D8F659}"/>
              </a:ext>
            </a:extLst>
          </p:cNvPr>
          <p:cNvSpPr/>
          <p:nvPr/>
        </p:nvSpPr>
        <p:spPr>
          <a:xfrm>
            <a:off x="817153" y="1284871"/>
            <a:ext cx="5778380" cy="662462"/>
          </a:xfrm>
          <a:prstGeom prst="rect">
            <a:avLst/>
          </a:prstGeom>
          <a:solidFill>
            <a:srgbClr val="EDEDED"/>
          </a:solidFill>
          <a:ln w="12700">
            <a:miter lim="400000"/>
          </a:ln>
        </p:spPr>
        <p:txBody>
          <a:bodyPr lIns="0" tIns="0" rIns="0" bIns="0"/>
          <a:lstStyle/>
          <a:p>
            <a:endParaRPr lang="fr-FR" sz="1050" b="1" dirty="0">
              <a:latin typeface="Inter" panose="020B0604020202020204" charset="0"/>
              <a:ea typeface="Inter" panose="020B0604020202020204" charset="0"/>
            </a:endParaRPr>
          </a:p>
          <a:p>
            <a:r>
              <a:rPr lang="fr-FR" sz="1050" b="1" dirty="0">
                <a:latin typeface="Inter" panose="020B0604020202020204" charset="0"/>
                <a:ea typeface="Inter" panose="020B0604020202020204" charset="0"/>
              </a:rPr>
              <a:t>Objectif</a:t>
            </a:r>
            <a:r>
              <a:rPr lang="fr-FR" sz="1050" dirty="0">
                <a:latin typeface="Inter" panose="020B0604020202020204" charset="0"/>
                <a:ea typeface="Inter" panose="020B0604020202020204" charset="0"/>
              </a:rPr>
              <a:t>: transformer des données football hétérogènes en </a:t>
            </a:r>
            <a:r>
              <a:rPr lang="fr-FR" sz="1050" dirty="0" err="1">
                <a:latin typeface="Inter" panose="020B0604020202020204" charset="0"/>
                <a:ea typeface="Inter" panose="020B0604020202020204" charset="0"/>
              </a:rPr>
              <a:t>datasets</a:t>
            </a:r>
            <a:r>
              <a:rPr lang="fr-FR" sz="1050" dirty="0">
                <a:latin typeface="Inter" panose="020B0604020202020204" charset="0"/>
                <a:ea typeface="Inter" panose="020B0604020202020204" charset="0"/>
              </a:rPr>
              <a:t> fiables pour entraîner et comparer les modèles.</a:t>
            </a:r>
          </a:p>
          <a:p>
            <a:endParaRPr sz="1050" dirty="0"/>
          </a:p>
        </p:txBody>
      </p:sp>
    </p:spTree>
    <p:extLst>
      <p:ext uri="{BB962C8B-B14F-4D97-AF65-F5344CB8AC3E}">
        <p14:creationId xmlns:p14="http://schemas.microsoft.com/office/powerpoint/2010/main" val="11811494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>
          <a:extLst>
            <a:ext uri="{FF2B5EF4-FFF2-40B4-BE49-F238E27FC236}">
              <a16:creationId xmlns:a16="http://schemas.microsoft.com/office/drawing/2014/main" id="{A0C10B95-424A-7702-5D4F-93E8248A21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Fond Girondins de Bordeaux"/>
          <p:cNvPicPr preferRelativeResize="0"/>
          <p:nvPr/>
        </p:nvPicPr>
        <p:blipFill rotWithShape="1">
          <a:blip r:embed="rId3"/>
          <a:srcRect t="7813" b="7813"/>
          <a:stretch>
            <a:fillRect/>
          </a:stretch>
        </p:blipFill>
        <p:spPr>
          <a:xfrm>
            <a:off x="30174" y="0"/>
            <a:ext cx="9144000" cy="5143500"/>
          </a:xfrm>
          <a:prstGeom prst="rect">
            <a:avLst/>
          </a:prstGeom>
        </p:spPr>
      </p:pic>
      <p:sp>
        <p:nvSpPr>
          <p:cNvPr id="75" name="Google Shape;75;p16">
            <a:extLst>
              <a:ext uri="{FF2B5EF4-FFF2-40B4-BE49-F238E27FC236}">
                <a16:creationId xmlns:a16="http://schemas.microsoft.com/office/drawing/2014/main" id="{C2FFDF59-253C-331B-24DC-D04F538D5934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1192663" y="403309"/>
            <a:ext cx="8097985" cy="5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fr" sz="2500" dirty="0">
                <a:solidFill>
                  <a:srgbClr val="0E3449"/>
                </a:solidFill>
                <a:latin typeface="Inter SemiBold" panose="020B0604020202020204" charset="0"/>
                <a:ea typeface="Inter SemiBold" panose="020B0604020202020204" charset="0"/>
                <a:cs typeface="Inter SemiBold"/>
                <a:sym typeface="Inter SemiBold"/>
              </a:rPr>
              <a:t>ETL : </a:t>
            </a:r>
            <a:r>
              <a:rPr lang="fr-FR" sz="2500" dirty="0">
                <a:latin typeface="Inter SemiBold" panose="020B0604020202020204" charset="0"/>
                <a:ea typeface="Inter SemiBold" panose="020B0604020202020204" charset="0"/>
              </a:rPr>
              <a:t>données</a:t>
            </a:r>
            <a:r>
              <a:rPr lang="fr-FR" dirty="0">
                <a:latin typeface="Inter SemiBold" panose="020B0604020202020204" charset="0"/>
                <a:ea typeface="Inter SemiBold" panose="020B0604020202020204" charset="0"/>
              </a:rPr>
              <a:t> passent par trois niveaux clairs</a:t>
            </a:r>
            <a:endParaRPr sz="2500" i="0" u="none" strike="noStrike" cap="none" dirty="0">
              <a:solidFill>
                <a:srgbClr val="0E3449"/>
              </a:solidFill>
              <a:latin typeface="Inter SemiBold" panose="020B0604020202020204" charset="0"/>
              <a:ea typeface="Inter SemiBold" panose="020B0604020202020204" charset="0"/>
              <a:cs typeface="Inter SemiBold"/>
              <a:sym typeface="Inter SemiBold"/>
            </a:endParaRPr>
          </a:p>
        </p:txBody>
      </p:sp>
      <p:pic>
        <p:nvPicPr>
          <p:cNvPr id="76" name="Google Shape;76;p16">
            <a:extLst>
              <a:ext uri="{FF2B5EF4-FFF2-40B4-BE49-F238E27FC236}">
                <a16:creationId xmlns:a16="http://schemas.microsoft.com/office/drawing/2014/main" id="{3598B1D8-E9DC-6CEC-D212-9E8971A2B3B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6">
            <a:extLst>
              <a:ext uri="{FF2B5EF4-FFF2-40B4-BE49-F238E27FC236}">
                <a16:creationId xmlns:a16="http://schemas.microsoft.com/office/drawing/2014/main" id="{6B918901-C1B2-136C-C8A3-B5990DDDD9A9}"/>
              </a:ext>
            </a:extLst>
          </p:cNvPr>
          <p:cNvSpPr/>
          <p:nvPr/>
        </p:nvSpPr>
        <p:spPr>
          <a:xfrm>
            <a:off x="10225" y="4892025"/>
            <a:ext cx="9144000" cy="25140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3" name="Groupe 42">
            <a:extLst>
              <a:ext uri="{FF2B5EF4-FFF2-40B4-BE49-F238E27FC236}">
                <a16:creationId xmlns:a16="http://schemas.microsoft.com/office/drawing/2014/main" id="{8A9A9798-72F3-3561-226B-07F7E0CE0068}"/>
              </a:ext>
            </a:extLst>
          </p:cNvPr>
          <p:cNvGrpSpPr/>
          <p:nvPr/>
        </p:nvGrpSpPr>
        <p:grpSpPr>
          <a:xfrm>
            <a:off x="340861" y="1180473"/>
            <a:ext cx="2510118" cy="1705339"/>
            <a:chOff x="340861" y="1180473"/>
            <a:chExt cx="1996575" cy="1705339"/>
          </a:xfrm>
        </p:grpSpPr>
        <p:sp>
          <p:nvSpPr>
            <p:cNvPr id="2" name="Sources">
              <a:extLst>
                <a:ext uri="{FF2B5EF4-FFF2-40B4-BE49-F238E27FC236}">
                  <a16:creationId xmlns:a16="http://schemas.microsoft.com/office/drawing/2014/main" id="{7D1E78D8-3AA2-6871-B878-0DF7F6AF5E3C}"/>
                </a:ext>
              </a:extLst>
            </p:cNvPr>
            <p:cNvSpPr txBox="1"/>
            <p:nvPr/>
          </p:nvSpPr>
          <p:spPr>
            <a:xfrm>
              <a:off x="620077" y="1180473"/>
              <a:ext cx="1717359" cy="276999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lIns="34289" rIns="34289">
              <a:spAutoFit/>
            </a:bodyPr>
            <a:lstStyle>
              <a:lvl1pPr>
                <a:defRPr sz="1600" b="1">
                  <a:solidFill>
                    <a:srgbClr val="555555"/>
                  </a:solidFill>
                </a:defRPr>
              </a:lvl1pPr>
            </a:lstStyle>
            <a:p>
              <a:r>
                <a:rPr sz="1100">
                  <a:latin typeface="Inter"/>
                  <a:ea typeface="Inter"/>
                  <a:cs typeface="Inter"/>
                  <a:sym typeface="Inter"/>
                </a:rPr>
                <a:t>Sources</a:t>
              </a:r>
            </a:p>
          </p:txBody>
        </p:sp>
        <p:grpSp>
          <p:nvGrpSpPr>
            <p:cNvPr id="30" name="Groupe 29">
              <a:extLst>
                <a:ext uri="{FF2B5EF4-FFF2-40B4-BE49-F238E27FC236}">
                  <a16:creationId xmlns:a16="http://schemas.microsoft.com/office/drawing/2014/main" id="{23AFC5BA-AE1B-B921-6B3B-96EB69AC4D42}"/>
                </a:ext>
              </a:extLst>
            </p:cNvPr>
            <p:cNvGrpSpPr/>
            <p:nvPr/>
          </p:nvGrpSpPr>
          <p:grpSpPr>
            <a:xfrm>
              <a:off x="340861" y="1570966"/>
              <a:ext cx="1845946" cy="1314846"/>
              <a:chOff x="340861" y="1694017"/>
              <a:chExt cx="1845946" cy="1314846"/>
            </a:xfrm>
          </p:grpSpPr>
          <p:sp>
            <p:nvSpPr>
              <p:cNvPr id="6" name="Rectangle">
                <a:extLst>
                  <a:ext uri="{FF2B5EF4-FFF2-40B4-BE49-F238E27FC236}">
                    <a16:creationId xmlns:a16="http://schemas.microsoft.com/office/drawing/2014/main" id="{750B8596-DE20-3E77-E964-1DD4F7F8227D}"/>
                  </a:ext>
                </a:extLst>
              </p:cNvPr>
              <p:cNvSpPr/>
              <p:nvPr/>
            </p:nvSpPr>
            <p:spPr>
              <a:xfrm>
                <a:off x="340861" y="1694017"/>
                <a:ext cx="1845946" cy="1096984"/>
              </a:xfrm>
              <a:prstGeom prst="rect">
                <a:avLst/>
              </a:prstGeom>
              <a:solidFill>
                <a:srgbClr val="EDEDED"/>
              </a:solidFill>
              <a:ln w="12700">
                <a:miter lim="400000"/>
              </a:ln>
            </p:spPr>
            <p:txBody>
              <a:bodyPr lIns="0" tIns="0" rIns="0" bIns="0"/>
              <a:lstStyle/>
              <a:p>
                <a:endParaRPr sz="1050"/>
              </a:p>
            </p:txBody>
          </p:sp>
          <p:sp>
            <p:nvSpPr>
              <p:cNvPr id="7" name="SoFIFA">
                <a:extLst>
                  <a:ext uri="{FF2B5EF4-FFF2-40B4-BE49-F238E27FC236}">
                    <a16:creationId xmlns:a16="http://schemas.microsoft.com/office/drawing/2014/main" id="{D61B3BB1-E51F-E428-47E7-5EA679C33C61}"/>
                  </a:ext>
                </a:extLst>
              </p:cNvPr>
              <p:cNvSpPr txBox="1"/>
              <p:nvPr/>
            </p:nvSpPr>
            <p:spPr>
              <a:xfrm>
                <a:off x="428625" y="1780547"/>
                <a:ext cx="1244717" cy="253916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lIns="34289" rIns="34289">
                <a:spAutoFit/>
              </a:bodyPr>
              <a:lstStyle>
                <a:lvl1pPr>
                  <a:defRPr b="1">
                    <a:solidFill>
                      <a:srgbClr val="FF4B4B"/>
                    </a:solidFill>
                  </a:defRPr>
                </a:lvl1pPr>
              </a:lstStyle>
              <a:p>
                <a:r>
                  <a:rPr sz="1100" err="1">
                    <a:latin typeface="Inter"/>
                    <a:ea typeface="Inter"/>
                    <a:cs typeface="Inter"/>
                    <a:sym typeface="Inter"/>
                  </a:rPr>
                  <a:t>SoFIFA</a:t>
                </a:r>
                <a:endParaRPr sz="1100"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" name="Scraping des notes détaillées joueurs: attaque, technique, mouvement, défense, gardien.">
                <a:extLst>
                  <a:ext uri="{FF2B5EF4-FFF2-40B4-BE49-F238E27FC236}">
                    <a16:creationId xmlns:a16="http://schemas.microsoft.com/office/drawing/2014/main" id="{820BDB84-9EC2-5166-572F-033F54CF7D65}"/>
                  </a:ext>
                </a:extLst>
              </p:cNvPr>
              <p:cNvSpPr txBox="1"/>
              <p:nvPr/>
            </p:nvSpPr>
            <p:spPr>
              <a:xfrm>
                <a:off x="428625" y="2070144"/>
                <a:ext cx="1667299" cy="938719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lIns="34289" rIns="34289">
                <a:spAutoFit/>
              </a:bodyPr>
              <a:lstStyle>
                <a:lvl1pPr>
                  <a:defRPr sz="1300"/>
                </a:lvl1pPr>
              </a:lstStyle>
              <a:p>
                <a:r>
                  <a:rPr sz="1100">
                    <a:latin typeface="Inter" panose="020B0604020202020204" charset="0"/>
                    <a:ea typeface="Inter" panose="020B0604020202020204" charset="0"/>
                    <a:cs typeface="Inter"/>
                    <a:sym typeface="Inter"/>
                  </a:rPr>
                  <a:t>Scraping des notes </a:t>
                </a:r>
                <a:r>
                  <a:rPr sz="1100" err="1">
                    <a:latin typeface="Inter" panose="020B0604020202020204" charset="0"/>
                    <a:ea typeface="Inter" panose="020B0604020202020204" charset="0"/>
                    <a:cs typeface="Inter"/>
                    <a:sym typeface="Inter"/>
                  </a:rPr>
                  <a:t>détaillées</a:t>
                </a:r>
                <a:r>
                  <a:rPr sz="1100">
                    <a:latin typeface="Inter" panose="020B0604020202020204" charset="0"/>
                    <a:ea typeface="Inter" panose="020B0604020202020204" charset="0"/>
                    <a:cs typeface="Inter"/>
                    <a:sym typeface="Inter"/>
                  </a:rPr>
                  <a:t> </a:t>
                </a:r>
                <a:r>
                  <a:rPr sz="1100" err="1">
                    <a:latin typeface="Inter" panose="020B0604020202020204" charset="0"/>
                    <a:ea typeface="Inter" panose="020B0604020202020204" charset="0"/>
                    <a:cs typeface="Inter"/>
                    <a:sym typeface="Inter"/>
                  </a:rPr>
                  <a:t>joueurs</a:t>
                </a:r>
                <a:r>
                  <a:rPr sz="1100">
                    <a:latin typeface="Inter" panose="020B0604020202020204" charset="0"/>
                    <a:ea typeface="Inter" panose="020B0604020202020204" charset="0"/>
                    <a:cs typeface="Inter"/>
                    <a:sym typeface="Inter"/>
                  </a:rPr>
                  <a:t>: </a:t>
                </a:r>
                <a:r>
                  <a:rPr sz="1100" err="1">
                    <a:latin typeface="Inter" panose="020B0604020202020204" charset="0"/>
                    <a:ea typeface="Inter" panose="020B0604020202020204" charset="0"/>
                    <a:cs typeface="Inter"/>
                    <a:sym typeface="Inter"/>
                  </a:rPr>
                  <a:t>attaque</a:t>
                </a:r>
                <a:r>
                  <a:rPr sz="1100">
                    <a:latin typeface="Inter" panose="020B0604020202020204" charset="0"/>
                    <a:ea typeface="Inter" panose="020B0604020202020204" charset="0"/>
                    <a:cs typeface="Inter"/>
                    <a:sym typeface="Inter"/>
                  </a:rPr>
                  <a:t>, technique, </a:t>
                </a:r>
                <a:r>
                  <a:rPr sz="1100" err="1">
                    <a:latin typeface="Inter" panose="020B0604020202020204" charset="0"/>
                    <a:ea typeface="Inter" panose="020B0604020202020204" charset="0"/>
                    <a:cs typeface="Inter"/>
                    <a:sym typeface="Inter"/>
                  </a:rPr>
                  <a:t>mouvement</a:t>
                </a:r>
                <a:r>
                  <a:rPr sz="1100">
                    <a:latin typeface="Inter" panose="020B0604020202020204" charset="0"/>
                    <a:ea typeface="Inter" panose="020B0604020202020204" charset="0"/>
                    <a:cs typeface="Inter"/>
                    <a:sym typeface="Inter"/>
                  </a:rPr>
                  <a:t>, </a:t>
                </a:r>
                <a:r>
                  <a:rPr sz="1100" err="1">
                    <a:latin typeface="Inter" panose="020B0604020202020204" charset="0"/>
                    <a:ea typeface="Inter" panose="020B0604020202020204" charset="0"/>
                    <a:cs typeface="Inter"/>
                    <a:sym typeface="Inter"/>
                  </a:rPr>
                  <a:t>défense</a:t>
                </a:r>
                <a:r>
                  <a:rPr sz="1100">
                    <a:latin typeface="Inter" panose="020B0604020202020204" charset="0"/>
                    <a:ea typeface="Inter" panose="020B0604020202020204" charset="0"/>
                    <a:cs typeface="Inter"/>
                    <a:sym typeface="Inter"/>
                  </a:rPr>
                  <a:t>, </a:t>
                </a:r>
                <a:r>
                  <a:rPr sz="1100" err="1">
                    <a:latin typeface="Inter" panose="020B0604020202020204" charset="0"/>
                    <a:ea typeface="Inter" panose="020B0604020202020204" charset="0"/>
                    <a:cs typeface="Inter"/>
                    <a:sym typeface="Inter"/>
                  </a:rPr>
                  <a:t>gardien</a:t>
                </a:r>
                <a:r>
                  <a:rPr sz="1100">
                    <a:latin typeface="Inter" panose="020B0604020202020204" charset="0"/>
                    <a:ea typeface="Inter" panose="020B0604020202020204" charset="0"/>
                    <a:cs typeface="Inter"/>
                    <a:sym typeface="Inter"/>
                  </a:rPr>
                  <a:t>.</a:t>
                </a:r>
              </a:p>
            </p:txBody>
          </p:sp>
        </p:grpSp>
      </p:grpSp>
      <p:grpSp>
        <p:nvGrpSpPr>
          <p:cNvPr id="29" name="Groupe 28">
            <a:extLst>
              <a:ext uri="{FF2B5EF4-FFF2-40B4-BE49-F238E27FC236}">
                <a16:creationId xmlns:a16="http://schemas.microsoft.com/office/drawing/2014/main" id="{2960EDC3-4035-D0EE-848E-8B64308DE187}"/>
              </a:ext>
            </a:extLst>
          </p:cNvPr>
          <p:cNvGrpSpPr/>
          <p:nvPr/>
        </p:nvGrpSpPr>
        <p:grpSpPr>
          <a:xfrm>
            <a:off x="340861" y="3612991"/>
            <a:ext cx="2540362" cy="1133545"/>
            <a:chOff x="340861" y="2965604"/>
            <a:chExt cx="2033629" cy="1133545"/>
          </a:xfrm>
        </p:grpSpPr>
        <p:grpSp>
          <p:nvGrpSpPr>
            <p:cNvPr id="28" name="Groupe 27">
              <a:extLst>
                <a:ext uri="{FF2B5EF4-FFF2-40B4-BE49-F238E27FC236}">
                  <a16:creationId xmlns:a16="http://schemas.microsoft.com/office/drawing/2014/main" id="{309B18E1-9D50-989D-688D-D8E8477AE025}"/>
                </a:ext>
              </a:extLst>
            </p:cNvPr>
            <p:cNvGrpSpPr/>
            <p:nvPr/>
          </p:nvGrpSpPr>
          <p:grpSpPr>
            <a:xfrm>
              <a:off x="340861" y="2965604"/>
              <a:ext cx="2033629" cy="1071563"/>
              <a:chOff x="340861" y="2965604"/>
              <a:chExt cx="2033629" cy="1071563"/>
            </a:xfrm>
          </p:grpSpPr>
          <p:sp>
            <p:nvSpPr>
              <p:cNvPr id="9" name="Rectangle">
                <a:extLst>
                  <a:ext uri="{FF2B5EF4-FFF2-40B4-BE49-F238E27FC236}">
                    <a16:creationId xmlns:a16="http://schemas.microsoft.com/office/drawing/2014/main" id="{AA8376F2-098D-3798-1995-82050924A00C}"/>
                  </a:ext>
                </a:extLst>
              </p:cNvPr>
              <p:cNvSpPr/>
              <p:nvPr/>
            </p:nvSpPr>
            <p:spPr>
              <a:xfrm>
                <a:off x="340861" y="2965604"/>
                <a:ext cx="1845946" cy="1071563"/>
              </a:xfrm>
              <a:prstGeom prst="rect">
                <a:avLst/>
              </a:prstGeom>
              <a:solidFill>
                <a:srgbClr val="EDEDED"/>
              </a:solidFill>
              <a:ln w="12700">
                <a:miter lim="400000"/>
              </a:ln>
            </p:spPr>
            <p:txBody>
              <a:bodyPr lIns="0" tIns="0" rIns="0" bIns="0"/>
              <a:lstStyle/>
              <a:p>
                <a:endParaRPr sz="1050"/>
              </a:p>
            </p:txBody>
          </p:sp>
          <p:sp>
            <p:nvSpPr>
              <p:cNvPr id="10" name="Transfermarkt">
                <a:extLst>
                  <a:ext uri="{FF2B5EF4-FFF2-40B4-BE49-F238E27FC236}">
                    <a16:creationId xmlns:a16="http://schemas.microsoft.com/office/drawing/2014/main" id="{09D81B03-961C-0310-F716-C106122BDB60}"/>
                  </a:ext>
                </a:extLst>
              </p:cNvPr>
              <p:cNvSpPr txBox="1"/>
              <p:nvPr/>
            </p:nvSpPr>
            <p:spPr>
              <a:xfrm>
                <a:off x="442819" y="3079098"/>
                <a:ext cx="1931671" cy="253916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lIns="34289" rIns="34289">
                <a:spAutoFit/>
              </a:bodyPr>
              <a:lstStyle>
                <a:lvl1pPr>
                  <a:defRPr b="1">
                    <a:solidFill>
                      <a:srgbClr val="FF4B4B"/>
                    </a:solidFill>
                  </a:defRPr>
                </a:lvl1pPr>
              </a:lstStyle>
              <a:p>
                <a:r>
                  <a:rPr sz="1100" err="1">
                    <a:latin typeface="Inter"/>
                    <a:ea typeface="Inter"/>
                    <a:cs typeface="Inter"/>
                    <a:sym typeface="Inter"/>
                  </a:rPr>
                  <a:t>Transfermarkt</a:t>
                </a:r>
                <a:endParaRPr sz="1050"/>
              </a:p>
            </p:txBody>
          </p:sp>
        </p:grpSp>
        <p:sp>
          <p:nvSpPr>
            <p:cNvPr id="11" name="CSV GitHub: matchs, lineups, joueurs, clubs et transferts. Mise à jour régulière.">
              <a:extLst>
                <a:ext uri="{FF2B5EF4-FFF2-40B4-BE49-F238E27FC236}">
                  <a16:creationId xmlns:a16="http://schemas.microsoft.com/office/drawing/2014/main" id="{AC9C9BA2-7CFC-7BF5-1912-34E20F9F9B1E}"/>
                </a:ext>
              </a:extLst>
            </p:cNvPr>
            <p:cNvSpPr txBox="1"/>
            <p:nvPr/>
          </p:nvSpPr>
          <p:spPr>
            <a:xfrm>
              <a:off x="430183" y="3406652"/>
              <a:ext cx="1667300" cy="692497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lIns="34289" rIns="34289">
              <a:spAutoFit/>
            </a:bodyPr>
            <a:lstStyle>
              <a:lvl1pPr>
                <a:defRPr sz="1300"/>
              </a:lvl1pPr>
            </a:lstStyle>
            <a:p>
              <a:r>
                <a:rPr sz="1100">
                  <a:latin typeface="Inter"/>
                  <a:ea typeface="Inter"/>
                  <a:cs typeface="Inter"/>
                  <a:sym typeface="Inter"/>
                </a:rPr>
                <a:t>CSV GitHub: </a:t>
              </a:r>
              <a:r>
                <a:rPr sz="1100" err="1">
                  <a:latin typeface="Inter"/>
                  <a:ea typeface="Inter"/>
                  <a:cs typeface="Inter"/>
                  <a:sym typeface="Inter"/>
                </a:rPr>
                <a:t>matchs</a:t>
              </a:r>
              <a:r>
                <a:rPr sz="1100">
                  <a:latin typeface="Inter"/>
                  <a:ea typeface="Inter"/>
                  <a:cs typeface="Inter"/>
                  <a:sym typeface="Inter"/>
                </a:rPr>
                <a:t>, lineups, </a:t>
              </a:r>
              <a:r>
                <a:rPr sz="1100" err="1">
                  <a:latin typeface="Inter"/>
                  <a:ea typeface="Inter"/>
                  <a:cs typeface="Inter"/>
                  <a:sym typeface="Inter"/>
                </a:rPr>
                <a:t>joueurs</a:t>
              </a:r>
              <a:r>
                <a:rPr sz="1100">
                  <a:latin typeface="Inter"/>
                  <a:ea typeface="Inter"/>
                  <a:cs typeface="Inter"/>
                  <a:sym typeface="Inter"/>
                </a:rPr>
                <a:t>, clubs et </a:t>
              </a:r>
              <a:r>
                <a:rPr sz="1100" err="1">
                  <a:latin typeface="Inter"/>
                  <a:ea typeface="Inter"/>
                  <a:cs typeface="Inter"/>
                  <a:sym typeface="Inter"/>
                </a:rPr>
                <a:t>transferts</a:t>
              </a:r>
              <a:r>
                <a:rPr sz="1100">
                  <a:latin typeface="Inter"/>
                  <a:ea typeface="Inter"/>
                  <a:cs typeface="Inter"/>
                  <a:sym typeface="Inter"/>
                </a:rPr>
                <a:t>. Mise à jour </a:t>
              </a:r>
              <a:r>
                <a:rPr sz="1100" err="1">
                  <a:latin typeface="Inter"/>
                  <a:ea typeface="Inter"/>
                  <a:cs typeface="Inter"/>
                  <a:sym typeface="Inter"/>
                </a:rPr>
                <a:t>régulière</a:t>
              </a:r>
              <a:r>
                <a:rPr sz="1100">
                  <a:latin typeface="Inter"/>
                  <a:ea typeface="Inter"/>
                  <a:cs typeface="Inter"/>
                  <a:sym typeface="Inter"/>
                </a:rPr>
                <a:t>.</a:t>
              </a:r>
            </a:p>
          </p:txBody>
        </p:sp>
      </p:grpSp>
      <p:grpSp>
        <p:nvGrpSpPr>
          <p:cNvPr id="32" name="Groupe 31">
            <a:extLst>
              <a:ext uri="{FF2B5EF4-FFF2-40B4-BE49-F238E27FC236}">
                <a16:creationId xmlns:a16="http://schemas.microsoft.com/office/drawing/2014/main" id="{68064D82-257C-8659-0D70-DBA18D15B52F}"/>
              </a:ext>
            </a:extLst>
          </p:cNvPr>
          <p:cNvGrpSpPr/>
          <p:nvPr/>
        </p:nvGrpSpPr>
        <p:grpSpPr>
          <a:xfrm>
            <a:off x="3010221" y="3001971"/>
            <a:ext cx="866910" cy="418793"/>
            <a:chOff x="2926954" y="3150249"/>
            <a:chExt cx="1857376" cy="1011258"/>
          </a:xfrm>
        </p:grpSpPr>
        <p:sp>
          <p:nvSpPr>
            <p:cNvPr id="12" name="Rectangle">
              <a:extLst>
                <a:ext uri="{FF2B5EF4-FFF2-40B4-BE49-F238E27FC236}">
                  <a16:creationId xmlns:a16="http://schemas.microsoft.com/office/drawing/2014/main" id="{864645F5-218E-53F6-D288-2BCD88B46D8A}"/>
                </a:ext>
              </a:extLst>
            </p:cNvPr>
            <p:cNvSpPr/>
            <p:nvPr/>
          </p:nvSpPr>
          <p:spPr>
            <a:xfrm>
              <a:off x="2926954" y="3150249"/>
              <a:ext cx="1857376" cy="1011258"/>
            </a:xfrm>
            <a:prstGeom prst="rect">
              <a:avLst/>
            </a:prstGeom>
            <a:solidFill>
              <a:srgbClr val="EDEDED"/>
            </a:solidFill>
            <a:ln w="12700">
              <a:miter lim="400000"/>
            </a:ln>
          </p:spPr>
          <p:txBody>
            <a:bodyPr lIns="0" tIns="0" rIns="0" bIns="0"/>
            <a:lstStyle/>
            <a:p>
              <a:endParaRPr sz="1050"/>
            </a:p>
          </p:txBody>
        </p:sp>
        <p:sp>
          <p:nvSpPr>
            <p:cNvPr id="13" name="/raw">
              <a:extLst>
                <a:ext uri="{FF2B5EF4-FFF2-40B4-BE49-F238E27FC236}">
                  <a16:creationId xmlns:a16="http://schemas.microsoft.com/office/drawing/2014/main" id="{C2207D1E-26CF-1D73-068E-59A2A2B9B3E0}"/>
                </a:ext>
              </a:extLst>
            </p:cNvPr>
            <p:cNvSpPr txBox="1"/>
            <p:nvPr/>
          </p:nvSpPr>
          <p:spPr>
            <a:xfrm>
              <a:off x="3101262" y="3150249"/>
              <a:ext cx="1417321" cy="25391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lIns="34289" rIns="34289">
              <a:spAutoFit/>
            </a:bodyPr>
            <a:lstStyle>
              <a:lvl1pPr>
                <a:defRPr b="1">
                  <a:solidFill>
                    <a:srgbClr val="2563EB"/>
                  </a:solidFill>
                </a:defRPr>
              </a:lvl1pPr>
            </a:lstStyle>
            <a:p>
              <a:r>
                <a:rPr sz="1100">
                  <a:latin typeface="Inter"/>
                  <a:ea typeface="Inter"/>
                  <a:cs typeface="Inter"/>
                  <a:sym typeface="Inter"/>
                </a:rPr>
                <a:t>/raw</a:t>
              </a:r>
            </a:p>
          </p:txBody>
        </p:sp>
        <p:sp>
          <p:nvSpPr>
            <p:cNvPr id="14" name="Données sources conservées en base sans transformation métier lourde.">
              <a:extLst>
                <a:ext uri="{FF2B5EF4-FFF2-40B4-BE49-F238E27FC236}">
                  <a16:creationId xmlns:a16="http://schemas.microsoft.com/office/drawing/2014/main" id="{69AD3BC6-6DF9-1AFE-6696-F9A4F93F8C4F}"/>
                </a:ext>
              </a:extLst>
            </p:cNvPr>
            <p:cNvSpPr txBox="1"/>
            <p:nvPr/>
          </p:nvSpPr>
          <p:spPr>
            <a:xfrm>
              <a:off x="3101262" y="3432319"/>
              <a:ext cx="1417321" cy="261610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lIns="34289" rIns="34289">
              <a:spAutoFit/>
            </a:bodyPr>
            <a:lstStyle>
              <a:lvl1pPr>
                <a:defRPr sz="1300"/>
              </a:lvl1pPr>
            </a:lstStyle>
            <a:p>
              <a:endParaRPr sz="1100"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1" name="Groupe 30">
            <a:extLst>
              <a:ext uri="{FF2B5EF4-FFF2-40B4-BE49-F238E27FC236}">
                <a16:creationId xmlns:a16="http://schemas.microsoft.com/office/drawing/2014/main" id="{FBE9095F-09F7-F684-9B2C-D21C3A4E4267}"/>
              </a:ext>
            </a:extLst>
          </p:cNvPr>
          <p:cNvGrpSpPr/>
          <p:nvPr/>
        </p:nvGrpSpPr>
        <p:grpSpPr>
          <a:xfrm>
            <a:off x="3776910" y="1101851"/>
            <a:ext cx="2894649" cy="1147998"/>
            <a:chOff x="4137904" y="1580523"/>
            <a:chExt cx="1857376" cy="1147998"/>
          </a:xfrm>
        </p:grpSpPr>
        <p:sp>
          <p:nvSpPr>
            <p:cNvPr id="15" name="Rectangle">
              <a:extLst>
                <a:ext uri="{FF2B5EF4-FFF2-40B4-BE49-F238E27FC236}">
                  <a16:creationId xmlns:a16="http://schemas.microsoft.com/office/drawing/2014/main" id="{04C4C627-74F4-82CB-0A82-C43269276744}"/>
                </a:ext>
              </a:extLst>
            </p:cNvPr>
            <p:cNvSpPr/>
            <p:nvPr/>
          </p:nvSpPr>
          <p:spPr>
            <a:xfrm>
              <a:off x="4137904" y="1580523"/>
              <a:ext cx="1857376" cy="1071563"/>
            </a:xfrm>
            <a:prstGeom prst="rect">
              <a:avLst/>
            </a:prstGeom>
            <a:solidFill>
              <a:srgbClr val="EDEDED"/>
            </a:solidFill>
            <a:ln w="12700">
              <a:miter lim="400000"/>
            </a:ln>
          </p:spPr>
          <p:txBody>
            <a:bodyPr lIns="0" tIns="0" rIns="0" bIns="0"/>
            <a:lstStyle/>
            <a:p>
              <a:endParaRPr sz="1050"/>
            </a:p>
          </p:txBody>
        </p:sp>
        <p:sp>
          <p:nvSpPr>
            <p:cNvPr id="16" name="/staging">
              <a:extLst>
                <a:ext uri="{FF2B5EF4-FFF2-40B4-BE49-F238E27FC236}">
                  <a16:creationId xmlns:a16="http://schemas.microsoft.com/office/drawing/2014/main" id="{E8CCDB26-97D2-DC97-664C-DB0F14EF9222}"/>
                </a:ext>
              </a:extLst>
            </p:cNvPr>
            <p:cNvSpPr txBox="1"/>
            <p:nvPr/>
          </p:nvSpPr>
          <p:spPr>
            <a:xfrm>
              <a:off x="4272207" y="1671262"/>
              <a:ext cx="1417321" cy="25391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lIns="34289" rIns="34289">
              <a:spAutoFit/>
            </a:bodyPr>
            <a:lstStyle>
              <a:lvl1pPr>
                <a:defRPr b="1">
                  <a:solidFill>
                    <a:srgbClr val="2563EB"/>
                  </a:solidFill>
                </a:defRPr>
              </a:lvl1pPr>
            </a:lstStyle>
            <a:p>
              <a:r>
                <a:rPr sz="1050"/>
                <a:t>/staging</a:t>
              </a:r>
            </a:p>
          </p:txBody>
        </p:sp>
        <p:sp>
          <p:nvSpPr>
            <p:cNvPr id="17" name="training_match_dataset et match_outcome_team_ratings dans NeonDB.">
              <a:extLst>
                <a:ext uri="{FF2B5EF4-FFF2-40B4-BE49-F238E27FC236}">
                  <a16:creationId xmlns:a16="http://schemas.microsoft.com/office/drawing/2014/main" id="{40AA9C4C-1540-9B25-BC76-04253ADD99E9}"/>
                </a:ext>
              </a:extLst>
            </p:cNvPr>
            <p:cNvSpPr txBox="1"/>
            <p:nvPr/>
          </p:nvSpPr>
          <p:spPr>
            <a:xfrm>
              <a:off x="4272207" y="1878288"/>
              <a:ext cx="1626602" cy="850233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34289" rIns="34289">
              <a:spAutoFit/>
            </a:bodyPr>
            <a:lstStyle>
              <a:lvl1pPr>
                <a:defRPr sz="1300"/>
              </a:lvl1pPr>
            </a:lstStyle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sz="975" err="1"/>
                <a:t>training_match_dataset</a:t>
              </a:r>
              <a:endParaRPr lang="fr-FR" sz="975"/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sz="975" err="1"/>
                <a:t>match_outcome_team_ratings</a:t>
              </a:r>
              <a:endParaRPr lang="fr-FR" sz="975"/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fr-FR" sz="1000"/>
                <a:t>Clé de passage: réconciliation </a:t>
              </a:r>
              <a:r>
                <a:rPr lang="fr-FR" sz="1000" err="1"/>
                <a:t>player_id</a:t>
              </a:r>
              <a:r>
                <a:rPr lang="fr-FR" sz="1000"/>
                <a:t> </a:t>
              </a:r>
              <a:r>
                <a:rPr lang="fr-FR" sz="1000" err="1"/>
                <a:t>SoFIFA</a:t>
              </a:r>
              <a:r>
                <a:rPr lang="fr-FR" sz="1000"/>
                <a:t> et </a:t>
              </a:r>
              <a:r>
                <a:rPr lang="fr-FR" sz="1000" err="1"/>
                <a:t>Transfermarkt</a:t>
              </a:r>
              <a:r>
                <a:rPr lang="fr-FR" sz="1000"/>
                <a:t>.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endParaRPr sz="975"/>
            </a:p>
          </p:txBody>
        </p:sp>
      </p:grpSp>
      <p:grpSp>
        <p:nvGrpSpPr>
          <p:cNvPr id="35" name="Groupe 34">
            <a:extLst>
              <a:ext uri="{FF2B5EF4-FFF2-40B4-BE49-F238E27FC236}">
                <a16:creationId xmlns:a16="http://schemas.microsoft.com/office/drawing/2014/main" id="{52C49BEB-FCE6-8156-11FA-B8335933FCE2}"/>
              </a:ext>
            </a:extLst>
          </p:cNvPr>
          <p:cNvGrpSpPr/>
          <p:nvPr/>
        </p:nvGrpSpPr>
        <p:grpSpPr>
          <a:xfrm>
            <a:off x="7019906" y="2003582"/>
            <a:ext cx="1931671" cy="1397792"/>
            <a:chOff x="7019906" y="2003582"/>
            <a:chExt cx="1931671" cy="1397792"/>
          </a:xfrm>
        </p:grpSpPr>
        <p:sp>
          <p:nvSpPr>
            <p:cNvPr id="5" name="Analyse et modeles">
              <a:extLst>
                <a:ext uri="{FF2B5EF4-FFF2-40B4-BE49-F238E27FC236}">
                  <a16:creationId xmlns:a16="http://schemas.microsoft.com/office/drawing/2014/main" id="{3031B4D0-522B-9242-9449-DDF74FD309AB}"/>
                </a:ext>
              </a:extLst>
            </p:cNvPr>
            <p:cNvSpPr txBox="1"/>
            <p:nvPr/>
          </p:nvSpPr>
          <p:spPr>
            <a:xfrm>
              <a:off x="7126605" y="2003582"/>
              <a:ext cx="1788796" cy="276999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lIns="34289" rIns="34289">
              <a:spAutoFit/>
            </a:bodyPr>
            <a:lstStyle>
              <a:lvl1pPr>
                <a:defRPr sz="1600" b="1">
                  <a:solidFill>
                    <a:srgbClr val="555555"/>
                  </a:solidFill>
                </a:defRPr>
              </a:lvl1pPr>
            </a:lstStyle>
            <a:p>
              <a:r>
                <a:rPr sz="1100" err="1">
                  <a:latin typeface="Inter"/>
                  <a:ea typeface="Inter"/>
                  <a:cs typeface="Inter"/>
                  <a:sym typeface="Inter"/>
                </a:rPr>
                <a:t>Analyse</a:t>
              </a:r>
              <a:r>
                <a:rPr sz="1100">
                  <a:latin typeface="Inter"/>
                  <a:ea typeface="Inter"/>
                  <a:cs typeface="Inter"/>
                  <a:sym typeface="Inter"/>
                </a:rPr>
                <a:t> et </a:t>
              </a:r>
              <a:r>
                <a:rPr sz="1100" err="1">
                  <a:latin typeface="Inter"/>
                  <a:ea typeface="Inter"/>
                  <a:cs typeface="Inter"/>
                  <a:sym typeface="Inter"/>
                </a:rPr>
                <a:t>modeles</a:t>
              </a:r>
              <a:endParaRPr sz="1200"/>
            </a:p>
          </p:txBody>
        </p:sp>
        <p:grpSp>
          <p:nvGrpSpPr>
            <p:cNvPr id="34" name="Groupe 33">
              <a:extLst>
                <a:ext uri="{FF2B5EF4-FFF2-40B4-BE49-F238E27FC236}">
                  <a16:creationId xmlns:a16="http://schemas.microsoft.com/office/drawing/2014/main" id="{E3D0DB7B-72F4-A01B-6287-46D144D198A2}"/>
                </a:ext>
              </a:extLst>
            </p:cNvPr>
            <p:cNvGrpSpPr/>
            <p:nvPr/>
          </p:nvGrpSpPr>
          <p:grpSpPr>
            <a:xfrm>
              <a:off x="7019906" y="2329811"/>
              <a:ext cx="1931671" cy="1071563"/>
              <a:chOff x="7019906" y="2329811"/>
              <a:chExt cx="1931671" cy="1071563"/>
            </a:xfrm>
          </p:grpSpPr>
          <p:grpSp>
            <p:nvGrpSpPr>
              <p:cNvPr id="33" name="Groupe 32">
                <a:extLst>
                  <a:ext uri="{FF2B5EF4-FFF2-40B4-BE49-F238E27FC236}">
                    <a16:creationId xmlns:a16="http://schemas.microsoft.com/office/drawing/2014/main" id="{F5D37B6F-4CC4-7170-8F45-93906D302A64}"/>
                  </a:ext>
                </a:extLst>
              </p:cNvPr>
              <p:cNvGrpSpPr/>
              <p:nvPr/>
            </p:nvGrpSpPr>
            <p:grpSpPr>
              <a:xfrm>
                <a:off x="7019906" y="2329811"/>
                <a:ext cx="1931671" cy="1071563"/>
                <a:chOff x="7019906" y="2329811"/>
                <a:chExt cx="1931671" cy="1071563"/>
              </a:xfrm>
            </p:grpSpPr>
            <p:sp>
              <p:nvSpPr>
                <p:cNvPr id="18" name="Rectangle">
                  <a:extLst>
                    <a:ext uri="{FF2B5EF4-FFF2-40B4-BE49-F238E27FC236}">
                      <a16:creationId xmlns:a16="http://schemas.microsoft.com/office/drawing/2014/main" id="{D1EB461B-BC77-C643-A10A-E1C04F7EBC20}"/>
                    </a:ext>
                  </a:extLst>
                </p:cNvPr>
                <p:cNvSpPr/>
                <p:nvPr/>
              </p:nvSpPr>
              <p:spPr>
                <a:xfrm>
                  <a:off x="7019906" y="2329811"/>
                  <a:ext cx="1931671" cy="1071563"/>
                </a:xfrm>
                <a:prstGeom prst="rect">
                  <a:avLst/>
                </a:prstGeom>
                <a:solidFill>
                  <a:srgbClr val="EDEDED"/>
                </a:solidFill>
                <a:ln w="12700">
                  <a:miter lim="400000"/>
                </a:ln>
              </p:spPr>
              <p:txBody>
                <a:bodyPr lIns="0" tIns="0" rIns="0" bIns="0"/>
                <a:lstStyle/>
                <a:p>
                  <a:endParaRPr sz="1050"/>
                </a:p>
              </p:txBody>
            </p:sp>
            <p:sp>
              <p:nvSpPr>
                <p:cNvPr id="19" name="/curated">
                  <a:extLst>
                    <a:ext uri="{FF2B5EF4-FFF2-40B4-BE49-F238E27FC236}">
                      <a16:creationId xmlns:a16="http://schemas.microsoft.com/office/drawing/2014/main" id="{870AC80B-0448-B699-5B79-C52D00272AFC}"/>
                    </a:ext>
                  </a:extLst>
                </p:cNvPr>
                <p:cNvSpPr txBox="1"/>
                <p:nvPr/>
              </p:nvSpPr>
              <p:spPr>
                <a:xfrm>
                  <a:off x="7098029" y="2430446"/>
                  <a:ext cx="1845947" cy="253916"/>
                </a:xfrm>
                <a:prstGeom prst="rect">
                  <a:avLst/>
                </a:prstGeom>
                <a:ln w="12700">
                  <a:miter lim="400000"/>
                </a:ln>
                <a:extLst>
                  <a:ext uri="{C572A759-6A51-4108-AA02-DFA0A04FC94B}">
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 lIns="34289" rIns="34289">
                  <a:spAutoFit/>
                </a:bodyPr>
                <a:lstStyle>
                  <a:lvl1pPr>
                    <a:defRPr b="1">
                      <a:solidFill>
                        <a:srgbClr val="15803D"/>
                      </a:solidFill>
                    </a:defRPr>
                  </a:lvl1pPr>
                </a:lstStyle>
                <a:p>
                  <a:r>
                    <a:rPr sz="1100">
                      <a:latin typeface="Inter"/>
                      <a:ea typeface="Inter"/>
                      <a:cs typeface="Inter"/>
                      <a:sym typeface="Inter"/>
                    </a:rPr>
                    <a:t>/curated</a:t>
                  </a:r>
                </a:p>
              </p:txBody>
            </p:sp>
          </p:grpSp>
          <p:sp>
            <p:nvSpPr>
              <p:cNvPr id="20" name="Datasets locaux de notebook pour entraînement ML, dont training_dataset_df.">
                <a:extLst>
                  <a:ext uri="{FF2B5EF4-FFF2-40B4-BE49-F238E27FC236}">
                    <a16:creationId xmlns:a16="http://schemas.microsoft.com/office/drawing/2014/main" id="{E08EA325-3DAA-41B0-A713-647FAC8F6A55}"/>
                  </a:ext>
                </a:extLst>
              </p:cNvPr>
              <p:cNvSpPr txBox="1"/>
              <p:nvPr/>
            </p:nvSpPr>
            <p:spPr>
              <a:xfrm>
                <a:off x="7098030" y="2751843"/>
                <a:ext cx="1845946" cy="542456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lIns="34289" rIns="34289">
                <a:spAutoFit/>
              </a:bodyPr>
              <a:lstStyle>
                <a:lvl1pPr>
                  <a:defRPr sz="1300"/>
                </a:lvl1pPr>
              </a:lstStyle>
              <a:p>
                <a:r>
                  <a:rPr sz="1100">
                    <a:latin typeface="Inter"/>
                    <a:ea typeface="Inter"/>
                    <a:cs typeface="Inter"/>
                    <a:sym typeface="Inter"/>
                  </a:rPr>
                  <a:t>Datasets </a:t>
                </a:r>
                <a:r>
                  <a:rPr sz="1100" err="1">
                    <a:latin typeface="Inter"/>
                    <a:ea typeface="Inter"/>
                    <a:cs typeface="Inter"/>
                    <a:sym typeface="Inter"/>
                  </a:rPr>
                  <a:t>locaux</a:t>
                </a:r>
                <a:r>
                  <a:rPr sz="1100">
                    <a:latin typeface="Inter"/>
                    <a:ea typeface="Inter"/>
                    <a:cs typeface="Inter"/>
                    <a:sym typeface="Inter"/>
                  </a:rPr>
                  <a:t> de notebook pour </a:t>
                </a:r>
                <a:r>
                  <a:rPr sz="1100" err="1">
                    <a:latin typeface="Inter"/>
                    <a:ea typeface="Inter"/>
                    <a:cs typeface="Inter"/>
                    <a:sym typeface="Inter"/>
                  </a:rPr>
                  <a:t>entraînement</a:t>
                </a:r>
                <a:r>
                  <a:rPr sz="1100">
                    <a:latin typeface="Inter"/>
                    <a:ea typeface="Inter"/>
                    <a:cs typeface="Inter"/>
                    <a:sym typeface="Inter"/>
                  </a:rPr>
                  <a:t> ML, </a:t>
                </a:r>
                <a:r>
                  <a:rPr sz="1100" err="1">
                    <a:latin typeface="Inter"/>
                    <a:ea typeface="Inter"/>
                    <a:cs typeface="Inter"/>
                    <a:sym typeface="Inter"/>
                  </a:rPr>
                  <a:t>dont</a:t>
                </a:r>
                <a:r>
                  <a:rPr sz="1100">
                    <a:latin typeface="Inter"/>
                    <a:ea typeface="Inter"/>
                    <a:cs typeface="Inter"/>
                    <a:sym typeface="Inter"/>
                  </a:rPr>
                  <a:t> </a:t>
                </a:r>
                <a:r>
                  <a:rPr sz="1100" err="1">
                    <a:latin typeface="Inter"/>
                    <a:ea typeface="Inter"/>
                    <a:cs typeface="Inter"/>
                    <a:sym typeface="Inter"/>
                  </a:rPr>
                  <a:t>training_dataset_df</a:t>
                </a:r>
                <a:r>
                  <a:rPr sz="1100">
                    <a:latin typeface="Inter"/>
                    <a:ea typeface="Inter"/>
                    <a:cs typeface="Inter"/>
                    <a:sym typeface="Inter"/>
                  </a:rPr>
                  <a:t>.</a:t>
                </a:r>
              </a:p>
            </p:txBody>
          </p:sp>
        </p:grpSp>
      </p:grpSp>
      <p:grpSp>
        <p:nvGrpSpPr>
          <p:cNvPr id="36" name="Groupe 35">
            <a:extLst>
              <a:ext uri="{FF2B5EF4-FFF2-40B4-BE49-F238E27FC236}">
                <a16:creationId xmlns:a16="http://schemas.microsoft.com/office/drawing/2014/main" id="{E18E692B-456F-04E3-F5E2-04240A3F6771}"/>
              </a:ext>
            </a:extLst>
          </p:cNvPr>
          <p:cNvGrpSpPr/>
          <p:nvPr/>
        </p:nvGrpSpPr>
        <p:grpSpPr>
          <a:xfrm>
            <a:off x="3152739" y="1081898"/>
            <a:ext cx="806200" cy="1390010"/>
            <a:chOff x="2410363" y="1793953"/>
            <a:chExt cx="806200" cy="1390010"/>
          </a:xfrm>
        </p:grpSpPr>
        <p:pic>
          <p:nvPicPr>
            <p:cNvPr id="37" name="Image 36">
              <a:extLst>
                <a:ext uri="{FF2B5EF4-FFF2-40B4-BE49-F238E27FC236}">
                  <a16:creationId xmlns:a16="http://schemas.microsoft.com/office/drawing/2014/main" id="{7451D25C-3341-5DD3-FC65-8D3DFE79535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410363" y="1793953"/>
              <a:ext cx="759820" cy="698364"/>
            </a:xfrm>
            <a:prstGeom prst="rect">
              <a:avLst/>
            </a:prstGeom>
          </p:spPr>
        </p:pic>
        <p:pic>
          <p:nvPicPr>
            <p:cNvPr id="38" name="Image 37">
              <a:extLst>
                <a:ext uri="{FF2B5EF4-FFF2-40B4-BE49-F238E27FC236}">
                  <a16:creationId xmlns:a16="http://schemas.microsoft.com/office/drawing/2014/main" id="{AC59FDC1-392D-39BA-8126-4AA2F9922A7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456743" y="2405611"/>
              <a:ext cx="759820" cy="778352"/>
            </a:xfrm>
            <a:prstGeom prst="rect">
              <a:avLst/>
            </a:prstGeom>
          </p:spPr>
        </p:pic>
      </p:grpSp>
      <p:pic>
        <p:nvPicPr>
          <p:cNvPr id="58" name="Image 57">
            <a:extLst>
              <a:ext uri="{FF2B5EF4-FFF2-40B4-BE49-F238E27FC236}">
                <a16:creationId xmlns:a16="http://schemas.microsoft.com/office/drawing/2014/main" id="{573882C6-1CC0-C0A9-DBBF-B7730EC0229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26605" y="3484125"/>
            <a:ext cx="1196482" cy="577612"/>
          </a:xfrm>
          <a:prstGeom prst="rect">
            <a:avLst/>
          </a:prstGeom>
        </p:spPr>
      </p:pic>
      <p:cxnSp>
        <p:nvCxnSpPr>
          <p:cNvPr id="59" name="Fleche FastAPI vers Render">
            <a:extLst>
              <a:ext uri="{FF2B5EF4-FFF2-40B4-BE49-F238E27FC236}">
                <a16:creationId xmlns:a16="http://schemas.microsoft.com/office/drawing/2014/main" id="{C830A8E7-61BE-9B2A-0737-637377CD6E10}"/>
              </a:ext>
            </a:extLst>
          </p:cNvPr>
          <p:cNvCxnSpPr>
            <a:cxnSpLocks/>
          </p:cNvCxnSpPr>
          <p:nvPr/>
        </p:nvCxnSpPr>
        <p:spPr>
          <a:xfrm>
            <a:off x="5293038" y="2249170"/>
            <a:ext cx="1726868" cy="616423"/>
          </a:xfrm>
          <a:prstGeom prst="straightConnector1">
            <a:avLst/>
          </a:prstGeom>
          <a:ln w="19050" cap="rnd">
            <a:solidFill>
              <a:srgbClr val="015955"/>
            </a:solidFill>
            <a:tailEnd type="triangle" w="med" len="med"/>
          </a:ln>
        </p:spPr>
      </p:cxnSp>
      <p:cxnSp>
        <p:nvCxnSpPr>
          <p:cNvPr id="62" name="Fleche FastAPI vers Render">
            <a:extLst>
              <a:ext uri="{FF2B5EF4-FFF2-40B4-BE49-F238E27FC236}">
                <a16:creationId xmlns:a16="http://schemas.microsoft.com/office/drawing/2014/main" id="{57ED3403-DBFD-3C38-28A1-6DD971708F65}"/>
              </a:ext>
            </a:extLst>
          </p:cNvPr>
          <p:cNvCxnSpPr>
            <a:cxnSpLocks/>
          </p:cNvCxnSpPr>
          <p:nvPr/>
        </p:nvCxnSpPr>
        <p:spPr>
          <a:xfrm flipV="1">
            <a:off x="3443676" y="2249849"/>
            <a:ext cx="1810039" cy="752122"/>
          </a:xfrm>
          <a:prstGeom prst="straightConnector1">
            <a:avLst/>
          </a:prstGeom>
          <a:ln w="19050" cap="rnd">
            <a:solidFill>
              <a:srgbClr val="015955"/>
            </a:solidFill>
            <a:tailEnd type="triangle" w="med" len="med"/>
          </a:ln>
        </p:spPr>
      </p:cxnSp>
      <p:cxnSp>
        <p:nvCxnSpPr>
          <p:cNvPr id="66" name="Fleche FastAPI vers Render">
            <a:extLst>
              <a:ext uri="{FF2B5EF4-FFF2-40B4-BE49-F238E27FC236}">
                <a16:creationId xmlns:a16="http://schemas.microsoft.com/office/drawing/2014/main" id="{AD4F80ED-CA28-F01B-B6FC-B289C709E8B3}"/>
              </a:ext>
            </a:extLst>
          </p:cNvPr>
          <p:cNvCxnSpPr>
            <a:cxnSpLocks/>
          </p:cNvCxnSpPr>
          <p:nvPr/>
        </p:nvCxnSpPr>
        <p:spPr>
          <a:xfrm>
            <a:off x="2661606" y="2119458"/>
            <a:ext cx="348615" cy="1091910"/>
          </a:xfrm>
          <a:prstGeom prst="straightConnector1">
            <a:avLst/>
          </a:prstGeom>
          <a:ln w="19050" cap="rnd">
            <a:solidFill>
              <a:srgbClr val="015955"/>
            </a:solidFill>
            <a:tailEnd type="triangle" w="med" len="med"/>
          </a:ln>
        </p:spPr>
      </p:cxnSp>
      <p:cxnSp>
        <p:nvCxnSpPr>
          <p:cNvPr id="69" name="Fleche FastAPI vers Render">
            <a:extLst>
              <a:ext uri="{FF2B5EF4-FFF2-40B4-BE49-F238E27FC236}">
                <a16:creationId xmlns:a16="http://schemas.microsoft.com/office/drawing/2014/main" id="{A649B10C-EDE9-E63A-28D6-E856739FE6CF}"/>
              </a:ext>
            </a:extLst>
          </p:cNvPr>
          <p:cNvCxnSpPr>
            <a:cxnSpLocks/>
          </p:cNvCxnSpPr>
          <p:nvPr/>
        </p:nvCxnSpPr>
        <p:spPr>
          <a:xfrm flipV="1">
            <a:off x="2646774" y="3211368"/>
            <a:ext cx="363447" cy="937405"/>
          </a:xfrm>
          <a:prstGeom prst="straightConnector1">
            <a:avLst/>
          </a:prstGeom>
          <a:ln w="19050" cap="rnd">
            <a:solidFill>
              <a:srgbClr val="015955"/>
            </a:solidFill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27597200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>
          <a:extLst>
            <a:ext uri="{FF2B5EF4-FFF2-40B4-BE49-F238E27FC236}">
              <a16:creationId xmlns:a16="http://schemas.microsoft.com/office/drawing/2014/main" id="{5F6EB670-EF94-44C3-4477-EEBFDEE568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Fond Pau FC"/>
          <p:cNvPicPr>
            <a:picLocks noChangeAspect="1"/>
          </p:cNvPicPr>
          <p:nvPr/>
        </p:nvPicPr>
        <p:blipFill>
          <a:blip r:embed="rId3"/>
          <a:srcRect t="7813" b="781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5" name="Google Shape;75;p16">
            <a:extLst>
              <a:ext uri="{FF2B5EF4-FFF2-40B4-BE49-F238E27FC236}">
                <a16:creationId xmlns:a16="http://schemas.microsoft.com/office/drawing/2014/main" id="{84113E6B-0277-BFB6-6EDC-5FD1D606C179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1192663" y="403309"/>
            <a:ext cx="8218756" cy="5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fr-FR" dirty="0">
                <a:latin typeface="Inter SemiBold" panose="020B0604020202020204" charset="0"/>
                <a:ea typeface="Inter SemiBold" panose="020B0604020202020204" charset="0"/>
              </a:rPr>
              <a:t>EDA : </a:t>
            </a:r>
            <a:r>
              <a:rPr lang="fr-FR" sz="2500" dirty="0">
                <a:latin typeface="Inter SemiBold" panose="020B0604020202020204" charset="0"/>
                <a:ea typeface="Inter SemiBold" panose="020B0604020202020204" charset="0"/>
              </a:rPr>
              <a:t>sécurise</a:t>
            </a:r>
            <a:r>
              <a:rPr lang="fr-FR" dirty="0">
                <a:latin typeface="Inter SemiBold" panose="020B0604020202020204" charset="0"/>
                <a:ea typeface="Inter SemiBold" panose="020B0604020202020204" charset="0"/>
              </a:rPr>
              <a:t> le </a:t>
            </a:r>
            <a:r>
              <a:rPr lang="fr-FR" dirty="0" err="1">
                <a:latin typeface="Inter SemiBold" panose="020B0604020202020204" charset="0"/>
                <a:ea typeface="Inter SemiBold" panose="020B0604020202020204" charset="0"/>
              </a:rPr>
              <a:t>dataset</a:t>
            </a:r>
            <a:r>
              <a:rPr lang="fr-FR" dirty="0">
                <a:latin typeface="Inter SemiBold" panose="020B0604020202020204" charset="0"/>
                <a:ea typeface="Inter SemiBold" panose="020B0604020202020204" charset="0"/>
              </a:rPr>
              <a:t> d'entraînement</a:t>
            </a:r>
            <a:br>
              <a:rPr lang="fr-FR" dirty="0"/>
            </a:br>
            <a:endParaRPr sz="2500" i="0" u="none" strike="noStrike" cap="none" dirty="0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76" name="Google Shape;76;p16">
            <a:extLst>
              <a:ext uri="{FF2B5EF4-FFF2-40B4-BE49-F238E27FC236}">
                <a16:creationId xmlns:a16="http://schemas.microsoft.com/office/drawing/2014/main" id="{84122809-A238-18A6-0729-F9E65AC8C86D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6">
            <a:extLst>
              <a:ext uri="{FF2B5EF4-FFF2-40B4-BE49-F238E27FC236}">
                <a16:creationId xmlns:a16="http://schemas.microsoft.com/office/drawing/2014/main" id="{929DEFDB-08DF-FA0E-3632-1D53436E918D}"/>
              </a:ext>
            </a:extLst>
          </p:cNvPr>
          <p:cNvSpPr/>
          <p:nvPr/>
        </p:nvSpPr>
        <p:spPr>
          <a:xfrm>
            <a:off x="10225" y="4892025"/>
            <a:ext cx="9144000" cy="25140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Périmètre: matchs UEFA des 5 dernières années, entre les 100 meilleurs clubs UEFA.">
            <a:extLst>
              <a:ext uri="{FF2B5EF4-FFF2-40B4-BE49-F238E27FC236}">
                <a16:creationId xmlns:a16="http://schemas.microsoft.com/office/drawing/2014/main" id="{75D0F838-213F-5900-D16E-E97A2663AD3E}"/>
              </a:ext>
            </a:extLst>
          </p:cNvPr>
          <p:cNvSpPr txBox="1"/>
          <p:nvPr/>
        </p:nvSpPr>
        <p:spPr>
          <a:xfrm>
            <a:off x="800100" y="1135607"/>
            <a:ext cx="6789422" cy="2616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4289" rIns="34289">
            <a:spAutoFit/>
          </a:bodyPr>
          <a:lstStyle>
            <a:lvl1pPr>
              <a:defRPr sz="1600">
                <a:solidFill>
                  <a:srgbClr val="555555"/>
                </a:solidFill>
              </a:defRPr>
            </a:lvl1pPr>
          </a:lstStyle>
          <a:p>
            <a:r>
              <a:rPr sz="1100" err="1">
                <a:latin typeface="Inter" panose="020B0604020202020204" charset="0"/>
                <a:ea typeface="Inter" panose="020B0604020202020204" charset="0"/>
              </a:rPr>
              <a:t>Périmètre</a:t>
            </a:r>
            <a:r>
              <a:rPr sz="1100">
                <a:latin typeface="Inter" panose="020B0604020202020204" charset="0"/>
                <a:ea typeface="Inter" panose="020B0604020202020204" charset="0"/>
              </a:rPr>
              <a:t>: </a:t>
            </a:r>
            <a:r>
              <a:rPr sz="1100" err="1">
                <a:latin typeface="Inter" panose="020B0604020202020204" charset="0"/>
                <a:ea typeface="Inter" panose="020B0604020202020204" charset="0"/>
              </a:rPr>
              <a:t>matchs</a:t>
            </a:r>
            <a:r>
              <a:rPr sz="1100">
                <a:latin typeface="Inter" panose="020B0604020202020204" charset="0"/>
                <a:ea typeface="Inter" panose="020B0604020202020204" charset="0"/>
              </a:rPr>
              <a:t> UEFA des 5 </a:t>
            </a:r>
            <a:r>
              <a:rPr sz="1100" err="1">
                <a:latin typeface="Inter" panose="020B0604020202020204" charset="0"/>
                <a:ea typeface="Inter" panose="020B0604020202020204" charset="0"/>
              </a:rPr>
              <a:t>dernières</a:t>
            </a:r>
            <a:r>
              <a:rPr sz="1100">
                <a:latin typeface="Inter" panose="020B0604020202020204" charset="0"/>
                <a:ea typeface="Inter" panose="020B0604020202020204" charset="0"/>
              </a:rPr>
              <a:t> </a:t>
            </a:r>
            <a:r>
              <a:rPr sz="1100" err="1">
                <a:latin typeface="Inter" panose="020B0604020202020204" charset="0"/>
                <a:ea typeface="Inter" panose="020B0604020202020204" charset="0"/>
              </a:rPr>
              <a:t>années</a:t>
            </a:r>
            <a:r>
              <a:rPr sz="1100">
                <a:latin typeface="Inter" panose="020B0604020202020204" charset="0"/>
                <a:ea typeface="Inter" panose="020B0604020202020204" charset="0"/>
              </a:rPr>
              <a:t>, entre les 100 </a:t>
            </a:r>
            <a:r>
              <a:rPr sz="1100" err="1">
                <a:latin typeface="Inter" panose="020B0604020202020204" charset="0"/>
                <a:ea typeface="Inter" panose="020B0604020202020204" charset="0"/>
              </a:rPr>
              <a:t>meilleurs</a:t>
            </a:r>
            <a:r>
              <a:rPr sz="1100">
                <a:latin typeface="Inter" panose="020B0604020202020204" charset="0"/>
                <a:ea typeface="Inter" panose="020B0604020202020204" charset="0"/>
              </a:rPr>
              <a:t> clubs UEFA.</a:t>
            </a:r>
          </a:p>
        </p:txBody>
      </p:sp>
      <p:grpSp>
        <p:nvGrpSpPr>
          <p:cNvPr id="34" name="Groupe 33">
            <a:extLst>
              <a:ext uri="{FF2B5EF4-FFF2-40B4-BE49-F238E27FC236}">
                <a16:creationId xmlns:a16="http://schemas.microsoft.com/office/drawing/2014/main" id="{BB2AAC51-5484-159F-083E-017ABCBD9E92}"/>
              </a:ext>
            </a:extLst>
          </p:cNvPr>
          <p:cNvGrpSpPr/>
          <p:nvPr/>
        </p:nvGrpSpPr>
        <p:grpSpPr>
          <a:xfrm>
            <a:off x="751825" y="1784186"/>
            <a:ext cx="1928813" cy="1985963"/>
            <a:chOff x="300037" y="1528762"/>
            <a:chExt cx="1928813" cy="1985963"/>
          </a:xfrm>
        </p:grpSpPr>
        <p:grpSp>
          <p:nvGrpSpPr>
            <p:cNvPr id="33" name="Groupe 32">
              <a:extLst>
                <a:ext uri="{FF2B5EF4-FFF2-40B4-BE49-F238E27FC236}">
                  <a16:creationId xmlns:a16="http://schemas.microsoft.com/office/drawing/2014/main" id="{A692B912-E24B-1187-68D6-70CB44B61A96}"/>
                </a:ext>
              </a:extLst>
            </p:cNvPr>
            <p:cNvGrpSpPr/>
            <p:nvPr/>
          </p:nvGrpSpPr>
          <p:grpSpPr>
            <a:xfrm>
              <a:off x="300037" y="1528762"/>
              <a:ext cx="1928813" cy="1985963"/>
              <a:chOff x="300037" y="1528762"/>
              <a:chExt cx="1928813" cy="1985963"/>
            </a:xfrm>
          </p:grpSpPr>
          <p:sp>
            <p:nvSpPr>
              <p:cNvPr id="6" name="Rectangle">
                <a:extLst>
                  <a:ext uri="{FF2B5EF4-FFF2-40B4-BE49-F238E27FC236}">
                    <a16:creationId xmlns:a16="http://schemas.microsoft.com/office/drawing/2014/main" id="{C826FADA-F80D-996D-B63F-FCBE90C4D1B5}"/>
                  </a:ext>
                </a:extLst>
              </p:cNvPr>
              <p:cNvSpPr/>
              <p:nvPr/>
            </p:nvSpPr>
            <p:spPr>
              <a:xfrm>
                <a:off x="300037" y="1528762"/>
                <a:ext cx="1928813" cy="1985963"/>
              </a:xfrm>
              <a:prstGeom prst="rect">
                <a:avLst/>
              </a:prstGeom>
              <a:solidFill>
                <a:srgbClr val="EDEDED"/>
              </a:solidFill>
              <a:ln w="12700">
                <a:miter lim="400000"/>
              </a:ln>
            </p:spPr>
            <p:txBody>
              <a:bodyPr lIns="0" tIns="0" rIns="0" bIns="0"/>
              <a:lstStyle/>
              <a:p>
                <a:endParaRPr sz="1050"/>
              </a:p>
            </p:txBody>
          </p:sp>
          <p:sp>
            <p:nvSpPr>
              <p:cNvPr id="8" name="100">
                <a:extLst>
                  <a:ext uri="{FF2B5EF4-FFF2-40B4-BE49-F238E27FC236}">
                    <a16:creationId xmlns:a16="http://schemas.microsoft.com/office/drawing/2014/main" id="{01D4CC10-3C93-374A-7F6F-5ACE12619030}"/>
                  </a:ext>
                </a:extLst>
              </p:cNvPr>
              <p:cNvSpPr txBox="1"/>
              <p:nvPr/>
            </p:nvSpPr>
            <p:spPr>
              <a:xfrm>
                <a:off x="534352" y="1785938"/>
                <a:ext cx="1503047" cy="680956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lIns="34289" rIns="34289">
                <a:spAutoFit/>
              </a:bodyPr>
              <a:lstStyle>
                <a:lvl1pPr>
                  <a:defRPr sz="5100" b="1"/>
                </a:lvl1pPr>
              </a:lstStyle>
              <a:p>
                <a:r>
                  <a:rPr sz="3825"/>
                  <a:t>100</a:t>
                </a:r>
              </a:p>
            </p:txBody>
          </p:sp>
        </p:grpSp>
        <p:sp>
          <p:nvSpPr>
            <p:cNvPr id="10" name="meilleures équipes UEFA comme base de comparaison">
              <a:extLst>
                <a:ext uri="{FF2B5EF4-FFF2-40B4-BE49-F238E27FC236}">
                  <a16:creationId xmlns:a16="http://schemas.microsoft.com/office/drawing/2014/main" id="{58E12B82-4B54-0D6A-8617-5EC5A1A0E135}"/>
                </a:ext>
              </a:extLst>
            </p:cNvPr>
            <p:cNvSpPr txBox="1"/>
            <p:nvPr/>
          </p:nvSpPr>
          <p:spPr>
            <a:xfrm>
              <a:off x="548639" y="2671762"/>
              <a:ext cx="1431609" cy="61170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34289" rIns="34289">
              <a:spAutoFit/>
            </a:bodyPr>
            <a:lstStyle>
              <a:lvl1pPr>
                <a:defRPr sz="1500"/>
              </a:lvl1pPr>
            </a:lstStyle>
            <a:p>
              <a:r>
                <a:rPr sz="1100" err="1">
                  <a:latin typeface="Inter" panose="020B0604020202020204" charset="0"/>
                  <a:ea typeface="Inter" panose="020B0604020202020204" charset="0"/>
                </a:rPr>
                <a:t>meilleures</a:t>
              </a:r>
              <a:r>
                <a:rPr sz="1100">
                  <a:latin typeface="Inter" panose="020B0604020202020204" charset="0"/>
                  <a:ea typeface="Inter" panose="020B0604020202020204" charset="0"/>
                </a:rPr>
                <a:t> équipes UEFA </a:t>
              </a:r>
              <a:r>
                <a:rPr sz="1100" err="1">
                  <a:latin typeface="Inter" panose="020B0604020202020204" charset="0"/>
                  <a:ea typeface="Inter" panose="020B0604020202020204" charset="0"/>
                </a:rPr>
                <a:t>comme</a:t>
              </a:r>
              <a:r>
                <a:rPr sz="1100">
                  <a:latin typeface="Inter" panose="020B0604020202020204" charset="0"/>
                  <a:ea typeface="Inter" panose="020B0604020202020204" charset="0"/>
                </a:rPr>
                <a:t> base de </a:t>
              </a:r>
              <a:r>
                <a:rPr sz="1100" err="1">
                  <a:latin typeface="Inter" panose="020B0604020202020204" charset="0"/>
                  <a:ea typeface="Inter" panose="020B0604020202020204" charset="0"/>
                </a:rPr>
                <a:t>comparaison</a:t>
              </a:r>
              <a:endParaRPr sz="1100">
                <a:latin typeface="Inter" panose="020B0604020202020204" charset="0"/>
                <a:ea typeface="Inter" panose="020B0604020202020204" charset="0"/>
              </a:endParaRPr>
            </a:p>
          </p:txBody>
        </p:sp>
      </p:grpSp>
      <p:grpSp>
        <p:nvGrpSpPr>
          <p:cNvPr id="32" name="Groupe 31">
            <a:extLst>
              <a:ext uri="{FF2B5EF4-FFF2-40B4-BE49-F238E27FC236}">
                <a16:creationId xmlns:a16="http://schemas.microsoft.com/office/drawing/2014/main" id="{5BC5E926-0B2F-4C4A-00FA-BB755643C351}"/>
              </a:ext>
            </a:extLst>
          </p:cNvPr>
          <p:cNvGrpSpPr/>
          <p:nvPr/>
        </p:nvGrpSpPr>
        <p:grpSpPr>
          <a:xfrm>
            <a:off x="3135526" y="1798532"/>
            <a:ext cx="1928813" cy="1985963"/>
            <a:chOff x="2514600" y="1528762"/>
            <a:chExt cx="1928813" cy="1985963"/>
          </a:xfrm>
        </p:grpSpPr>
        <p:grpSp>
          <p:nvGrpSpPr>
            <p:cNvPr id="31" name="Groupe 30">
              <a:extLst>
                <a:ext uri="{FF2B5EF4-FFF2-40B4-BE49-F238E27FC236}">
                  <a16:creationId xmlns:a16="http://schemas.microsoft.com/office/drawing/2014/main" id="{21F0CB5D-89D9-4A25-5B65-FB3D79771C0C}"/>
                </a:ext>
              </a:extLst>
            </p:cNvPr>
            <p:cNvGrpSpPr/>
            <p:nvPr/>
          </p:nvGrpSpPr>
          <p:grpSpPr>
            <a:xfrm>
              <a:off x="2514600" y="1528762"/>
              <a:ext cx="1928813" cy="1985963"/>
              <a:chOff x="2514600" y="1528762"/>
              <a:chExt cx="1928813" cy="1985963"/>
            </a:xfrm>
          </p:grpSpPr>
          <p:sp>
            <p:nvSpPr>
              <p:cNvPr id="12" name="Rectangle">
                <a:extLst>
                  <a:ext uri="{FF2B5EF4-FFF2-40B4-BE49-F238E27FC236}">
                    <a16:creationId xmlns:a16="http://schemas.microsoft.com/office/drawing/2014/main" id="{B012D004-9B7A-C50D-8DA1-77EE6B703DC6}"/>
                  </a:ext>
                </a:extLst>
              </p:cNvPr>
              <p:cNvSpPr/>
              <p:nvPr/>
            </p:nvSpPr>
            <p:spPr>
              <a:xfrm>
                <a:off x="2514600" y="1528762"/>
                <a:ext cx="1928813" cy="1985963"/>
              </a:xfrm>
              <a:prstGeom prst="rect">
                <a:avLst/>
              </a:prstGeom>
              <a:solidFill>
                <a:srgbClr val="EDEDED"/>
              </a:solidFill>
              <a:ln w="12700">
                <a:miter lim="400000"/>
              </a:ln>
            </p:spPr>
            <p:txBody>
              <a:bodyPr lIns="0" tIns="0" rIns="0" bIns="0"/>
              <a:lstStyle/>
              <a:p>
                <a:endParaRPr sz="1050"/>
              </a:p>
            </p:txBody>
          </p:sp>
          <p:sp>
            <p:nvSpPr>
              <p:cNvPr id="14" name="6000">
                <a:extLst>
                  <a:ext uri="{FF2B5EF4-FFF2-40B4-BE49-F238E27FC236}">
                    <a16:creationId xmlns:a16="http://schemas.microsoft.com/office/drawing/2014/main" id="{401B8FF3-21F3-EDA5-7F6A-EB463F278491}"/>
                  </a:ext>
                </a:extLst>
              </p:cNvPr>
              <p:cNvSpPr txBox="1"/>
              <p:nvPr/>
            </p:nvSpPr>
            <p:spPr>
              <a:xfrm>
                <a:off x="2748914" y="1785938"/>
                <a:ext cx="1503047" cy="680956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lIns="34289" rIns="34289">
                <a:spAutoFit/>
              </a:bodyPr>
              <a:lstStyle>
                <a:lvl1pPr>
                  <a:defRPr sz="5100" b="1"/>
                </a:lvl1pPr>
              </a:lstStyle>
              <a:p>
                <a:r>
                  <a:rPr sz="3825"/>
                  <a:t>6000</a:t>
                </a:r>
              </a:p>
            </p:txBody>
          </p:sp>
        </p:grpSp>
        <p:sp>
          <p:nvSpPr>
            <p:cNvPr id="16" name="matchs environ avant jointure complète">
              <a:extLst>
                <a:ext uri="{FF2B5EF4-FFF2-40B4-BE49-F238E27FC236}">
                  <a16:creationId xmlns:a16="http://schemas.microsoft.com/office/drawing/2014/main" id="{FFBDEB47-1D82-4955-747E-6559D6066D03}"/>
                </a:ext>
              </a:extLst>
            </p:cNvPr>
            <p:cNvSpPr txBox="1"/>
            <p:nvPr/>
          </p:nvSpPr>
          <p:spPr>
            <a:xfrm>
              <a:off x="2763202" y="2671762"/>
              <a:ext cx="1431609" cy="61170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34289" rIns="34289">
              <a:spAutoFit/>
            </a:bodyPr>
            <a:lstStyle>
              <a:lvl1pPr>
                <a:defRPr sz="1500"/>
              </a:lvl1pPr>
            </a:lstStyle>
            <a:p>
              <a:r>
                <a:rPr sz="1100" err="1">
                  <a:latin typeface="Inter" panose="020B0604020202020204" charset="0"/>
                  <a:ea typeface="Inter" panose="020B0604020202020204" charset="0"/>
                </a:rPr>
                <a:t>matchs</a:t>
              </a:r>
              <a:r>
                <a:rPr sz="1100">
                  <a:latin typeface="Inter" panose="020B0604020202020204" charset="0"/>
                  <a:ea typeface="Inter" panose="020B0604020202020204" charset="0"/>
                </a:rPr>
                <a:t> environ avant jointure </a:t>
              </a:r>
              <a:r>
                <a:rPr sz="1100" err="1">
                  <a:latin typeface="Inter" panose="020B0604020202020204" charset="0"/>
                  <a:ea typeface="Inter" panose="020B0604020202020204" charset="0"/>
                </a:rPr>
                <a:t>complète</a:t>
              </a:r>
              <a:endParaRPr sz="1100">
                <a:latin typeface="Inter" panose="020B0604020202020204" charset="0"/>
                <a:ea typeface="Inter" panose="020B0604020202020204" charset="0"/>
              </a:endParaRPr>
            </a:p>
          </p:txBody>
        </p:sp>
      </p:grpSp>
      <p:grpSp>
        <p:nvGrpSpPr>
          <p:cNvPr id="30" name="Groupe 29">
            <a:extLst>
              <a:ext uri="{FF2B5EF4-FFF2-40B4-BE49-F238E27FC236}">
                <a16:creationId xmlns:a16="http://schemas.microsoft.com/office/drawing/2014/main" id="{66B953D8-8F62-29E1-4DD8-DA804626F04E}"/>
              </a:ext>
            </a:extLst>
          </p:cNvPr>
          <p:cNvGrpSpPr/>
          <p:nvPr/>
        </p:nvGrpSpPr>
        <p:grpSpPr>
          <a:xfrm>
            <a:off x="5915160" y="1784186"/>
            <a:ext cx="1928813" cy="1985963"/>
            <a:chOff x="4750593" y="1528762"/>
            <a:chExt cx="1928813" cy="1985963"/>
          </a:xfrm>
        </p:grpSpPr>
        <p:grpSp>
          <p:nvGrpSpPr>
            <p:cNvPr id="29" name="Groupe 28">
              <a:extLst>
                <a:ext uri="{FF2B5EF4-FFF2-40B4-BE49-F238E27FC236}">
                  <a16:creationId xmlns:a16="http://schemas.microsoft.com/office/drawing/2014/main" id="{4E17F15B-6A8A-6280-B36E-F71A05E54C15}"/>
                </a:ext>
              </a:extLst>
            </p:cNvPr>
            <p:cNvGrpSpPr/>
            <p:nvPr/>
          </p:nvGrpSpPr>
          <p:grpSpPr>
            <a:xfrm>
              <a:off x="4750593" y="1528762"/>
              <a:ext cx="1928813" cy="1985963"/>
              <a:chOff x="4750593" y="1528762"/>
              <a:chExt cx="1928813" cy="1985963"/>
            </a:xfrm>
          </p:grpSpPr>
          <p:sp>
            <p:nvSpPr>
              <p:cNvPr id="18" name="Rectangle">
                <a:extLst>
                  <a:ext uri="{FF2B5EF4-FFF2-40B4-BE49-F238E27FC236}">
                    <a16:creationId xmlns:a16="http://schemas.microsoft.com/office/drawing/2014/main" id="{F1440F32-2E2A-0BE6-779F-F750E7B7A4B2}"/>
                  </a:ext>
                </a:extLst>
              </p:cNvPr>
              <p:cNvSpPr/>
              <p:nvPr/>
            </p:nvSpPr>
            <p:spPr>
              <a:xfrm>
                <a:off x="4750593" y="1528762"/>
                <a:ext cx="1928813" cy="1985963"/>
              </a:xfrm>
              <a:prstGeom prst="rect">
                <a:avLst/>
              </a:prstGeom>
              <a:solidFill>
                <a:srgbClr val="EDEDED"/>
              </a:solidFill>
              <a:ln w="12700">
                <a:miter lim="400000"/>
              </a:ln>
            </p:spPr>
            <p:txBody>
              <a:bodyPr lIns="0" tIns="0" rIns="0" bIns="0"/>
              <a:lstStyle/>
              <a:p>
                <a:endParaRPr sz="1050"/>
              </a:p>
            </p:txBody>
          </p:sp>
          <p:sp>
            <p:nvSpPr>
              <p:cNvPr id="20" name="3800">
                <a:extLst>
                  <a:ext uri="{FF2B5EF4-FFF2-40B4-BE49-F238E27FC236}">
                    <a16:creationId xmlns:a16="http://schemas.microsoft.com/office/drawing/2014/main" id="{B97A3B3A-20BD-40B5-515F-C23DB8B3FD61}"/>
                  </a:ext>
                </a:extLst>
              </p:cNvPr>
              <p:cNvSpPr txBox="1"/>
              <p:nvPr/>
            </p:nvSpPr>
            <p:spPr>
              <a:xfrm>
                <a:off x="4963477" y="1785938"/>
                <a:ext cx="1503047" cy="680956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lIns="34289" rIns="34289">
                <a:spAutoFit/>
              </a:bodyPr>
              <a:lstStyle>
                <a:lvl1pPr>
                  <a:defRPr sz="5100" b="1"/>
                </a:lvl1pPr>
              </a:lstStyle>
              <a:p>
                <a:r>
                  <a:rPr sz="3825"/>
                  <a:t>3800</a:t>
                </a:r>
              </a:p>
            </p:txBody>
          </p:sp>
        </p:grpSp>
        <p:sp>
          <p:nvSpPr>
            <p:cNvPr id="22" name="matchs exploitables après retrait des NaN">
              <a:extLst>
                <a:ext uri="{FF2B5EF4-FFF2-40B4-BE49-F238E27FC236}">
                  <a16:creationId xmlns:a16="http://schemas.microsoft.com/office/drawing/2014/main" id="{98104199-7C43-3D8F-10B4-5258F4DC2742}"/>
                </a:ext>
              </a:extLst>
            </p:cNvPr>
            <p:cNvSpPr txBox="1"/>
            <p:nvPr/>
          </p:nvSpPr>
          <p:spPr>
            <a:xfrm>
              <a:off x="4977764" y="2671762"/>
              <a:ext cx="1431609" cy="61170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34289" rIns="34289">
              <a:spAutoFit/>
            </a:bodyPr>
            <a:lstStyle>
              <a:lvl1pPr>
                <a:defRPr sz="1500"/>
              </a:lvl1pPr>
            </a:lstStyle>
            <a:p>
              <a:r>
                <a:rPr sz="1100" err="1">
                  <a:latin typeface="Inter" panose="020B0604020202020204" charset="0"/>
                  <a:ea typeface="Inter" panose="020B0604020202020204" charset="0"/>
                </a:rPr>
                <a:t>matchs</a:t>
              </a:r>
              <a:r>
                <a:rPr sz="1100">
                  <a:latin typeface="Inter" panose="020B0604020202020204" charset="0"/>
                  <a:ea typeface="Inter" panose="020B0604020202020204" charset="0"/>
                </a:rPr>
                <a:t> </a:t>
              </a:r>
              <a:r>
                <a:rPr sz="1100" err="1">
                  <a:latin typeface="Inter" panose="020B0604020202020204" charset="0"/>
                  <a:ea typeface="Inter" panose="020B0604020202020204" charset="0"/>
                </a:rPr>
                <a:t>exploitables</a:t>
              </a:r>
              <a:r>
                <a:rPr sz="1100">
                  <a:latin typeface="Inter" panose="020B0604020202020204" charset="0"/>
                  <a:ea typeface="Inter" panose="020B0604020202020204" charset="0"/>
                </a:rPr>
                <a:t> après </a:t>
              </a:r>
              <a:r>
                <a:rPr sz="1100" err="1">
                  <a:latin typeface="Inter" panose="020B0604020202020204" charset="0"/>
                  <a:ea typeface="Inter" panose="020B0604020202020204" charset="0"/>
                </a:rPr>
                <a:t>retrait</a:t>
              </a:r>
              <a:r>
                <a:rPr sz="1100">
                  <a:latin typeface="Inter" panose="020B0604020202020204" charset="0"/>
                  <a:ea typeface="Inter" panose="020B0604020202020204" charset="0"/>
                </a:rPr>
                <a:t> des </a:t>
              </a:r>
              <a:r>
                <a:rPr sz="1100" err="1">
                  <a:latin typeface="Inter" panose="020B0604020202020204" charset="0"/>
                  <a:ea typeface="Inter" panose="020B0604020202020204" charset="0"/>
                </a:rPr>
                <a:t>NaN</a:t>
              </a:r>
              <a:endParaRPr sz="1100">
                <a:latin typeface="Inter" panose="020B0604020202020204" charset="0"/>
                <a:ea typeface="Inter" panose="020B0604020202020204" charset="0"/>
              </a:endParaRPr>
            </a:p>
          </p:txBody>
        </p:sp>
      </p:grpSp>
      <p:sp>
        <p:nvSpPr>
          <p:cNvPr id="24" name="Conclusion modele">
            <a:extLst>
              <a:ext uri="{FF2B5EF4-FFF2-40B4-BE49-F238E27FC236}">
                <a16:creationId xmlns:a16="http://schemas.microsoft.com/office/drawing/2014/main" id="{04E670F3-FCB0-1294-8780-64465D099140}"/>
              </a:ext>
            </a:extLst>
          </p:cNvPr>
          <p:cNvSpPr txBox="1"/>
          <p:nvPr/>
        </p:nvSpPr>
        <p:spPr>
          <a:xfrm>
            <a:off x="334327" y="4229100"/>
            <a:ext cx="1931672" cy="2616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4289" rIns="34289">
            <a:spAutoFit/>
          </a:bodyPr>
          <a:lstStyle>
            <a:lvl1pPr>
              <a:defRPr b="1"/>
            </a:lvl1pPr>
          </a:lstStyle>
          <a:p>
            <a:r>
              <a:rPr sz="1100">
                <a:latin typeface="Inter" panose="020B0604020202020204" charset="0"/>
                <a:ea typeface="Inter" panose="020B0604020202020204" charset="0"/>
              </a:rPr>
              <a:t>Conclusion </a:t>
            </a:r>
            <a:r>
              <a:rPr sz="1100" err="1">
                <a:latin typeface="Inter" panose="020B0604020202020204" charset="0"/>
                <a:ea typeface="Inter" panose="020B0604020202020204" charset="0"/>
              </a:rPr>
              <a:t>modele</a:t>
            </a:r>
            <a:endParaRPr sz="1100"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26" name="Le clustering joueurs a surtout séparé les niveaux de force, pas des profils techniques nets. Dans cette version, il réduit l'information et dégrade la performance.">
            <a:extLst>
              <a:ext uri="{FF2B5EF4-FFF2-40B4-BE49-F238E27FC236}">
                <a16:creationId xmlns:a16="http://schemas.microsoft.com/office/drawing/2014/main" id="{CE97E2F2-684B-0426-7867-869145FA4A21}"/>
              </a:ext>
            </a:extLst>
          </p:cNvPr>
          <p:cNvSpPr txBox="1"/>
          <p:nvPr/>
        </p:nvSpPr>
        <p:spPr>
          <a:xfrm>
            <a:off x="2384987" y="4157119"/>
            <a:ext cx="5646422" cy="6001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4289" rIns="34289">
            <a:spAutoFit/>
          </a:bodyPr>
          <a:lstStyle>
            <a:lvl1pPr>
              <a:defRPr sz="1600"/>
            </a:lvl1pPr>
          </a:lstStyle>
          <a:p>
            <a:r>
              <a:rPr sz="1100">
                <a:latin typeface="Inter" panose="020B0604020202020204" charset="0"/>
                <a:ea typeface="Inter" panose="020B0604020202020204" charset="0"/>
              </a:rPr>
              <a:t>Le clustering </a:t>
            </a:r>
            <a:r>
              <a:rPr sz="1100" err="1">
                <a:latin typeface="Inter" panose="020B0604020202020204" charset="0"/>
                <a:ea typeface="Inter" panose="020B0604020202020204" charset="0"/>
              </a:rPr>
              <a:t>joueurs</a:t>
            </a:r>
            <a:r>
              <a:rPr sz="1100">
                <a:latin typeface="Inter" panose="020B0604020202020204" charset="0"/>
                <a:ea typeface="Inter" panose="020B0604020202020204" charset="0"/>
              </a:rPr>
              <a:t> a surtout </a:t>
            </a:r>
            <a:r>
              <a:rPr sz="1100" err="1">
                <a:latin typeface="Inter" panose="020B0604020202020204" charset="0"/>
                <a:ea typeface="Inter" panose="020B0604020202020204" charset="0"/>
              </a:rPr>
              <a:t>séparé</a:t>
            </a:r>
            <a:r>
              <a:rPr sz="1100">
                <a:latin typeface="Inter" panose="020B0604020202020204" charset="0"/>
                <a:ea typeface="Inter" panose="020B0604020202020204" charset="0"/>
              </a:rPr>
              <a:t> les </a:t>
            </a:r>
            <a:r>
              <a:rPr sz="1100" err="1">
                <a:latin typeface="Inter" panose="020B0604020202020204" charset="0"/>
                <a:ea typeface="Inter" panose="020B0604020202020204" charset="0"/>
              </a:rPr>
              <a:t>niveaux</a:t>
            </a:r>
            <a:r>
              <a:rPr sz="1100">
                <a:latin typeface="Inter" panose="020B0604020202020204" charset="0"/>
                <a:ea typeface="Inter" panose="020B0604020202020204" charset="0"/>
              </a:rPr>
              <a:t> de force, pas des </a:t>
            </a:r>
            <a:r>
              <a:rPr sz="1100" err="1">
                <a:latin typeface="Inter" panose="020B0604020202020204" charset="0"/>
                <a:ea typeface="Inter" panose="020B0604020202020204" charset="0"/>
              </a:rPr>
              <a:t>profils</a:t>
            </a:r>
            <a:r>
              <a:rPr sz="1100">
                <a:latin typeface="Inter" panose="020B0604020202020204" charset="0"/>
                <a:ea typeface="Inter" panose="020B0604020202020204" charset="0"/>
              </a:rPr>
              <a:t> techniques nets. Dans </a:t>
            </a:r>
            <a:r>
              <a:rPr sz="1100" err="1">
                <a:latin typeface="Inter" panose="020B0604020202020204" charset="0"/>
                <a:ea typeface="Inter" panose="020B0604020202020204" charset="0"/>
              </a:rPr>
              <a:t>cette</a:t>
            </a:r>
            <a:r>
              <a:rPr sz="1100">
                <a:latin typeface="Inter" panose="020B0604020202020204" charset="0"/>
                <a:ea typeface="Inter" panose="020B0604020202020204" charset="0"/>
              </a:rPr>
              <a:t> version, il </a:t>
            </a:r>
            <a:r>
              <a:rPr sz="1100" err="1">
                <a:latin typeface="Inter" panose="020B0604020202020204" charset="0"/>
                <a:ea typeface="Inter" panose="020B0604020202020204" charset="0"/>
              </a:rPr>
              <a:t>réduit</a:t>
            </a:r>
            <a:r>
              <a:rPr sz="1100">
                <a:latin typeface="Inter" panose="020B0604020202020204" charset="0"/>
                <a:ea typeface="Inter" panose="020B0604020202020204" charset="0"/>
              </a:rPr>
              <a:t> </a:t>
            </a:r>
            <a:r>
              <a:rPr sz="1100" err="1">
                <a:latin typeface="Inter" panose="020B0604020202020204" charset="0"/>
                <a:ea typeface="Inter" panose="020B0604020202020204" charset="0"/>
              </a:rPr>
              <a:t>l'information</a:t>
            </a:r>
            <a:r>
              <a:rPr sz="1100">
                <a:latin typeface="Inter" panose="020B0604020202020204" charset="0"/>
                <a:ea typeface="Inter" panose="020B0604020202020204" charset="0"/>
              </a:rPr>
              <a:t> et </a:t>
            </a:r>
            <a:r>
              <a:rPr sz="1100" err="1">
                <a:latin typeface="Inter" panose="020B0604020202020204" charset="0"/>
                <a:ea typeface="Inter" panose="020B0604020202020204" charset="0"/>
              </a:rPr>
              <a:t>dégrade</a:t>
            </a:r>
            <a:r>
              <a:rPr sz="1100">
                <a:latin typeface="Inter" panose="020B0604020202020204" charset="0"/>
                <a:ea typeface="Inter" panose="020B0604020202020204" charset="0"/>
              </a:rPr>
              <a:t> la performance.</a:t>
            </a:r>
          </a:p>
        </p:txBody>
      </p:sp>
      <p:sp>
        <p:nvSpPr>
          <p:cNvPr id="28" name="3">
            <a:extLst>
              <a:ext uri="{FF2B5EF4-FFF2-40B4-BE49-F238E27FC236}">
                <a16:creationId xmlns:a16="http://schemas.microsoft.com/office/drawing/2014/main" id="{6EEAC7FE-648B-A846-75CD-E0F57ED18192}"/>
              </a:ext>
            </a:extLst>
          </p:cNvPr>
          <p:cNvSpPr txBox="1"/>
          <p:nvPr/>
        </p:nvSpPr>
        <p:spPr>
          <a:xfrm>
            <a:off x="8492489" y="4714875"/>
            <a:ext cx="317184" cy="2077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4289" rIns="34289">
            <a:spAutoFit/>
          </a:bodyPr>
          <a:lstStyle>
            <a:lvl1pPr algn="r">
              <a:defRPr sz="1000">
                <a:solidFill>
                  <a:srgbClr val="555555"/>
                </a:solidFill>
              </a:defRPr>
            </a:lvl1pPr>
          </a:lstStyle>
          <a:p>
            <a:r>
              <a:rPr sz="75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0643506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>
          <a:extLst>
            <a:ext uri="{FF2B5EF4-FFF2-40B4-BE49-F238E27FC236}">
              <a16:creationId xmlns:a16="http://schemas.microsoft.com/office/drawing/2014/main" id="{B7ADC0D4-6564-1DA6-83EB-8651E26275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Fond FC Barcelone"/>
          <p:cNvPicPr preferRelativeResize="0"/>
          <p:nvPr/>
        </p:nvPicPr>
        <p:blipFill rotWithShape="1">
          <a:blip r:embed="rId3"/>
          <a:srcRect t="7813" b="781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5" name="Google Shape;75;p16">
            <a:extLst>
              <a:ext uri="{FF2B5EF4-FFF2-40B4-BE49-F238E27FC236}">
                <a16:creationId xmlns:a16="http://schemas.microsoft.com/office/drawing/2014/main" id="{5F986DB7-8E7C-2D32-6EDF-563592A958B8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1192664" y="403309"/>
            <a:ext cx="5315100" cy="5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fr" sz="2500" dirty="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Architecture - Entrainement</a:t>
            </a:r>
            <a:endParaRPr sz="2500" i="0" u="none" strike="noStrike" cap="none" dirty="0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76" name="Google Shape;76;p16">
            <a:extLst>
              <a:ext uri="{FF2B5EF4-FFF2-40B4-BE49-F238E27FC236}">
                <a16:creationId xmlns:a16="http://schemas.microsoft.com/office/drawing/2014/main" id="{81D06F18-F4CD-5B05-9CB7-DDFAEDC1F177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6">
            <a:extLst>
              <a:ext uri="{FF2B5EF4-FFF2-40B4-BE49-F238E27FC236}">
                <a16:creationId xmlns:a16="http://schemas.microsoft.com/office/drawing/2014/main" id="{0C1AA496-D9EC-0687-3D5A-2AF63E06240F}"/>
              </a:ext>
            </a:extLst>
          </p:cNvPr>
          <p:cNvSpPr/>
          <p:nvPr/>
        </p:nvSpPr>
        <p:spPr>
          <a:xfrm>
            <a:off x="10225" y="4892025"/>
            <a:ext cx="9144000" cy="25140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8" name="Groupe 27">
            <a:extLst>
              <a:ext uri="{FF2B5EF4-FFF2-40B4-BE49-F238E27FC236}">
                <a16:creationId xmlns:a16="http://schemas.microsoft.com/office/drawing/2014/main" id="{7F7591FE-7393-C280-CDFB-131E7DFE1CCD}"/>
              </a:ext>
            </a:extLst>
          </p:cNvPr>
          <p:cNvGrpSpPr/>
          <p:nvPr/>
        </p:nvGrpSpPr>
        <p:grpSpPr>
          <a:xfrm>
            <a:off x="7096703" y="1678904"/>
            <a:ext cx="1143099" cy="1615648"/>
            <a:chOff x="5592799" y="1694733"/>
            <a:chExt cx="1143099" cy="1615648"/>
          </a:xfrm>
        </p:grpSpPr>
        <p:pic>
          <p:nvPicPr>
            <p:cNvPr id="8" name="Image 7">
              <a:extLst>
                <a:ext uri="{FF2B5EF4-FFF2-40B4-BE49-F238E27FC236}">
                  <a16:creationId xmlns:a16="http://schemas.microsoft.com/office/drawing/2014/main" id="{2A3A0CF4-C986-9A89-0D6F-5A7026F366B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592799" y="2091075"/>
              <a:ext cx="1143099" cy="1219306"/>
            </a:xfrm>
            <a:prstGeom prst="rect">
              <a:avLst/>
            </a:prstGeom>
          </p:spPr>
        </p:pic>
        <p:pic>
          <p:nvPicPr>
            <p:cNvPr id="14" name="Image 13">
              <a:extLst>
                <a:ext uri="{FF2B5EF4-FFF2-40B4-BE49-F238E27FC236}">
                  <a16:creationId xmlns:a16="http://schemas.microsoft.com/office/drawing/2014/main" id="{69D69AE2-5874-5A23-5175-B90520CD39A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812946" y="1694733"/>
              <a:ext cx="844691" cy="530696"/>
            </a:xfrm>
            <a:prstGeom prst="rect">
              <a:avLst/>
            </a:prstGeom>
          </p:spPr>
        </p:pic>
      </p:grpSp>
      <p:grpSp>
        <p:nvGrpSpPr>
          <p:cNvPr id="18" name="Groupe 17">
            <a:extLst>
              <a:ext uri="{FF2B5EF4-FFF2-40B4-BE49-F238E27FC236}">
                <a16:creationId xmlns:a16="http://schemas.microsoft.com/office/drawing/2014/main" id="{8FCAD176-D5BD-2E51-EBA7-F8BFA1717621}"/>
              </a:ext>
            </a:extLst>
          </p:cNvPr>
          <p:cNvGrpSpPr/>
          <p:nvPr/>
        </p:nvGrpSpPr>
        <p:grpSpPr>
          <a:xfrm>
            <a:off x="2500924" y="1488951"/>
            <a:ext cx="2513830" cy="2355987"/>
            <a:chOff x="1791062" y="1574051"/>
            <a:chExt cx="2513830" cy="2355987"/>
          </a:xfrm>
        </p:grpSpPr>
        <p:pic>
          <p:nvPicPr>
            <p:cNvPr id="3" name="Image 2">
              <a:extLst>
                <a:ext uri="{FF2B5EF4-FFF2-40B4-BE49-F238E27FC236}">
                  <a16:creationId xmlns:a16="http://schemas.microsoft.com/office/drawing/2014/main" id="{80F118E2-EC9B-F31D-43C8-B8E3FE7B471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980647" y="2411922"/>
              <a:ext cx="1196482" cy="577612"/>
            </a:xfrm>
            <a:prstGeom prst="rect">
              <a:avLst/>
            </a:prstGeom>
          </p:spPr>
        </p:pic>
        <p:pic>
          <p:nvPicPr>
            <p:cNvPr id="16" name="Image 15">
              <a:extLst>
                <a:ext uri="{FF2B5EF4-FFF2-40B4-BE49-F238E27FC236}">
                  <a16:creationId xmlns:a16="http://schemas.microsoft.com/office/drawing/2014/main" id="{E7C53FAF-AA4C-E998-8BF6-801AEB501C9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228988" y="1574051"/>
              <a:ext cx="699800" cy="627207"/>
            </a:xfrm>
            <a:prstGeom prst="rect">
              <a:avLst/>
            </a:prstGeom>
          </p:spPr>
        </p:pic>
        <p:sp>
          <p:nvSpPr>
            <p:cNvPr id="17" name="ZoneTexte 16">
              <a:extLst>
                <a:ext uri="{FF2B5EF4-FFF2-40B4-BE49-F238E27FC236}">
                  <a16:creationId xmlns:a16="http://schemas.microsoft.com/office/drawing/2014/main" id="{1E474AC9-656C-8B83-8DF5-396B5B1CECF7}"/>
                </a:ext>
              </a:extLst>
            </p:cNvPr>
            <p:cNvSpPr txBox="1"/>
            <p:nvPr/>
          </p:nvSpPr>
          <p:spPr>
            <a:xfrm>
              <a:off x="1791062" y="3191374"/>
              <a:ext cx="2513830" cy="7386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dirty="0">
                  <a:latin typeface="Inter" panose="020B0604020202020204" charset="0"/>
                  <a:ea typeface="Inter" panose="020B0604020202020204" charset="0"/>
                </a:rPr>
                <a:t>Construction </a:t>
              </a:r>
              <a:r>
                <a:rPr lang="fr-FR" dirty="0" err="1">
                  <a:latin typeface="Inter" panose="020B0604020202020204" charset="0"/>
                  <a:ea typeface="Inter" panose="020B0604020202020204" charset="0"/>
                </a:rPr>
                <a:t>dataset</a:t>
              </a:r>
              <a:br>
                <a:rPr lang="fr-FR" dirty="0">
                  <a:latin typeface="Inter" panose="020B0604020202020204" charset="0"/>
                  <a:ea typeface="Inter" panose="020B0604020202020204" charset="0"/>
                </a:rPr>
              </a:br>
              <a:r>
                <a:rPr lang="fr-FR" dirty="0">
                  <a:latin typeface="Inter" panose="020B0604020202020204" charset="0"/>
                  <a:ea typeface="Inter" panose="020B0604020202020204" charset="0"/>
                </a:rPr>
                <a:t>et entrainement du modèle </a:t>
              </a:r>
            </a:p>
            <a:p>
              <a:r>
                <a:rPr lang="fr-FR" dirty="0">
                  <a:latin typeface="Inter" panose="020B0604020202020204" charset="0"/>
                  <a:ea typeface="Inter" panose="020B0604020202020204" charset="0"/>
                </a:rPr>
                <a:t>en Local</a:t>
              </a:r>
            </a:p>
          </p:txBody>
        </p:sp>
      </p:grpSp>
      <p:cxnSp>
        <p:nvCxnSpPr>
          <p:cNvPr id="19" name="Fleche FastAPI vers Render">
            <a:extLst>
              <a:ext uri="{FF2B5EF4-FFF2-40B4-BE49-F238E27FC236}">
                <a16:creationId xmlns:a16="http://schemas.microsoft.com/office/drawing/2014/main" id="{81E54DDE-F0A6-141E-C31B-454FF1009421}"/>
              </a:ext>
            </a:extLst>
          </p:cNvPr>
          <p:cNvCxnSpPr>
            <a:cxnSpLocks/>
            <a:stCxn id="10" idx="3"/>
            <a:endCxn id="3" idx="1"/>
          </p:cNvCxnSpPr>
          <p:nvPr/>
        </p:nvCxnSpPr>
        <p:spPr>
          <a:xfrm flipV="1">
            <a:off x="1664018" y="2615628"/>
            <a:ext cx="1026491" cy="12482"/>
          </a:xfrm>
          <a:prstGeom prst="straightConnector1">
            <a:avLst/>
          </a:prstGeom>
          <a:ln w="19050" cap="rnd">
            <a:solidFill>
              <a:srgbClr val="015955"/>
            </a:solidFill>
            <a:tailEnd type="triangle" w="med" len="med"/>
          </a:ln>
        </p:spPr>
      </p:cxnSp>
      <p:cxnSp>
        <p:nvCxnSpPr>
          <p:cNvPr id="24" name="Fleche FastAPI vers Render">
            <a:extLst>
              <a:ext uri="{FF2B5EF4-FFF2-40B4-BE49-F238E27FC236}">
                <a16:creationId xmlns:a16="http://schemas.microsoft.com/office/drawing/2014/main" id="{5BC0912A-39E1-08F1-3829-5C440E5ECF84}"/>
              </a:ext>
            </a:extLst>
          </p:cNvPr>
          <p:cNvCxnSpPr>
            <a:cxnSpLocks/>
            <a:stCxn id="3" idx="3"/>
            <a:endCxn id="5" idx="1"/>
          </p:cNvCxnSpPr>
          <p:nvPr/>
        </p:nvCxnSpPr>
        <p:spPr>
          <a:xfrm flipV="1">
            <a:off x="3886991" y="2605742"/>
            <a:ext cx="863915" cy="9886"/>
          </a:xfrm>
          <a:prstGeom prst="straightConnector1">
            <a:avLst/>
          </a:prstGeom>
          <a:ln w="19050" cap="rnd">
            <a:solidFill>
              <a:srgbClr val="015955"/>
            </a:solidFill>
            <a:tailEnd type="triangle" w="med" len="med"/>
          </a:ln>
        </p:spPr>
      </p:cxnSp>
      <p:cxnSp>
        <p:nvCxnSpPr>
          <p:cNvPr id="29" name="Fleche FastAPI vers Render">
            <a:extLst>
              <a:ext uri="{FF2B5EF4-FFF2-40B4-BE49-F238E27FC236}">
                <a16:creationId xmlns:a16="http://schemas.microsoft.com/office/drawing/2014/main" id="{82140CDB-439B-BB34-D7C8-9CB12D210548}"/>
              </a:ext>
            </a:extLst>
          </p:cNvPr>
          <p:cNvCxnSpPr>
            <a:cxnSpLocks/>
            <a:stCxn id="5" idx="3"/>
            <a:endCxn id="8" idx="1"/>
          </p:cNvCxnSpPr>
          <p:nvPr/>
        </p:nvCxnSpPr>
        <p:spPr>
          <a:xfrm>
            <a:off x="6259797" y="2605742"/>
            <a:ext cx="836906" cy="79157"/>
          </a:xfrm>
          <a:prstGeom prst="straightConnector1">
            <a:avLst/>
          </a:prstGeom>
          <a:ln w="19050" cap="rnd">
            <a:solidFill>
              <a:srgbClr val="015955"/>
            </a:solidFill>
            <a:tailEnd type="triangle" w="med" len="med"/>
          </a:ln>
        </p:spPr>
      </p:cxnSp>
      <p:grpSp>
        <p:nvGrpSpPr>
          <p:cNvPr id="37" name="Groupe 36">
            <a:extLst>
              <a:ext uri="{FF2B5EF4-FFF2-40B4-BE49-F238E27FC236}">
                <a16:creationId xmlns:a16="http://schemas.microsoft.com/office/drawing/2014/main" id="{6202C793-D3E9-EF13-818E-D1731B688310}"/>
              </a:ext>
            </a:extLst>
          </p:cNvPr>
          <p:cNvGrpSpPr/>
          <p:nvPr/>
        </p:nvGrpSpPr>
        <p:grpSpPr>
          <a:xfrm>
            <a:off x="904198" y="2278928"/>
            <a:ext cx="759820" cy="1350566"/>
            <a:chOff x="904198" y="2278928"/>
            <a:chExt cx="759820" cy="1350566"/>
          </a:xfrm>
        </p:grpSpPr>
        <p:pic>
          <p:nvPicPr>
            <p:cNvPr id="10" name="Image 9">
              <a:extLst>
                <a:ext uri="{FF2B5EF4-FFF2-40B4-BE49-F238E27FC236}">
                  <a16:creationId xmlns:a16="http://schemas.microsoft.com/office/drawing/2014/main" id="{1863313F-F370-32A8-1E23-BCC2658E3BD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904198" y="2278928"/>
              <a:ext cx="759820" cy="698364"/>
            </a:xfrm>
            <a:prstGeom prst="rect">
              <a:avLst/>
            </a:prstGeom>
          </p:spPr>
        </p:pic>
        <p:pic>
          <p:nvPicPr>
            <p:cNvPr id="36" name="Image 35">
              <a:extLst>
                <a:ext uri="{FF2B5EF4-FFF2-40B4-BE49-F238E27FC236}">
                  <a16:creationId xmlns:a16="http://schemas.microsoft.com/office/drawing/2014/main" id="{B8FB8677-3671-61DD-3118-1446756013AF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904198" y="2851142"/>
              <a:ext cx="759820" cy="778352"/>
            </a:xfrm>
            <a:prstGeom prst="rect">
              <a:avLst/>
            </a:prstGeom>
          </p:spPr>
        </p:pic>
      </p:grpSp>
      <p:grpSp>
        <p:nvGrpSpPr>
          <p:cNvPr id="40" name="Groupe 39">
            <a:extLst>
              <a:ext uri="{FF2B5EF4-FFF2-40B4-BE49-F238E27FC236}">
                <a16:creationId xmlns:a16="http://schemas.microsoft.com/office/drawing/2014/main" id="{CA197426-18FF-9E3A-B688-17EF7BB702AA}"/>
              </a:ext>
            </a:extLst>
          </p:cNvPr>
          <p:cNvGrpSpPr/>
          <p:nvPr/>
        </p:nvGrpSpPr>
        <p:grpSpPr>
          <a:xfrm>
            <a:off x="4750906" y="1740510"/>
            <a:ext cx="1508891" cy="1554042"/>
            <a:chOff x="4750906" y="1802554"/>
            <a:chExt cx="1508891" cy="1554042"/>
          </a:xfrm>
        </p:grpSpPr>
        <p:grpSp>
          <p:nvGrpSpPr>
            <p:cNvPr id="27" name="Groupe 26">
              <a:extLst>
                <a:ext uri="{FF2B5EF4-FFF2-40B4-BE49-F238E27FC236}">
                  <a16:creationId xmlns:a16="http://schemas.microsoft.com/office/drawing/2014/main" id="{DC9D7F67-0A18-B3FF-DBCA-F4E81D02212D}"/>
                </a:ext>
              </a:extLst>
            </p:cNvPr>
            <p:cNvGrpSpPr/>
            <p:nvPr/>
          </p:nvGrpSpPr>
          <p:grpSpPr>
            <a:xfrm>
              <a:off x="4750906" y="1802554"/>
              <a:ext cx="1508891" cy="1554042"/>
              <a:chOff x="3671478" y="1552629"/>
              <a:chExt cx="1508891" cy="1554042"/>
            </a:xfrm>
          </p:grpSpPr>
          <p:grpSp>
            <p:nvGrpSpPr>
              <p:cNvPr id="4" name="Groupe 3">
                <a:extLst>
                  <a:ext uri="{FF2B5EF4-FFF2-40B4-BE49-F238E27FC236}">
                    <a16:creationId xmlns:a16="http://schemas.microsoft.com/office/drawing/2014/main" id="{363515FD-14D4-6790-F6C8-6A4672E1EEDF}"/>
                  </a:ext>
                </a:extLst>
              </p:cNvPr>
              <p:cNvGrpSpPr/>
              <p:nvPr/>
            </p:nvGrpSpPr>
            <p:grpSpPr>
              <a:xfrm>
                <a:off x="3671478" y="2036828"/>
                <a:ext cx="1508891" cy="1069843"/>
                <a:chOff x="4261164" y="1653248"/>
                <a:chExt cx="1508891" cy="1069843"/>
              </a:xfrm>
            </p:grpSpPr>
            <p:pic>
              <p:nvPicPr>
                <p:cNvPr id="5" name="Image 4">
                  <a:extLst>
                    <a:ext uri="{FF2B5EF4-FFF2-40B4-BE49-F238E27FC236}">
                      <a16:creationId xmlns:a16="http://schemas.microsoft.com/office/drawing/2014/main" id="{A0030D7A-8538-9381-AE45-A91106E18A8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261164" y="1653248"/>
                  <a:ext cx="1508891" cy="762066"/>
                </a:xfrm>
                <a:prstGeom prst="rect">
                  <a:avLst/>
                </a:prstGeom>
              </p:spPr>
            </p:pic>
            <p:sp>
              <p:nvSpPr>
                <p:cNvPr id="6" name="ZoneTexte 5">
                  <a:extLst>
                    <a:ext uri="{FF2B5EF4-FFF2-40B4-BE49-F238E27FC236}">
                      <a16:creationId xmlns:a16="http://schemas.microsoft.com/office/drawing/2014/main" id="{96E978AB-35FF-52A8-7983-EB90B9018957}"/>
                    </a:ext>
                  </a:extLst>
                </p:cNvPr>
                <p:cNvSpPr txBox="1"/>
                <p:nvPr/>
              </p:nvSpPr>
              <p:spPr>
                <a:xfrm>
                  <a:off x="4561183" y="2415314"/>
                  <a:ext cx="928459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fr-FR" dirty="0" err="1">
                      <a:latin typeface="Inter" panose="020B0604020202020204" charset="0"/>
                      <a:ea typeface="Inter" panose="020B0604020202020204" charset="0"/>
                    </a:rPr>
                    <a:t>Tracking</a:t>
                  </a:r>
                  <a:endParaRPr lang="fr-FR" dirty="0">
                    <a:latin typeface="Inter" panose="020B0604020202020204" charset="0"/>
                    <a:ea typeface="Inter" panose="020B0604020202020204" charset="0"/>
                  </a:endParaRPr>
                </a:p>
              </p:txBody>
            </p:sp>
          </p:grpSp>
          <p:pic>
            <p:nvPicPr>
              <p:cNvPr id="12" name="Image 11">
                <a:extLst>
                  <a:ext uri="{FF2B5EF4-FFF2-40B4-BE49-F238E27FC236}">
                    <a16:creationId xmlns:a16="http://schemas.microsoft.com/office/drawing/2014/main" id="{9916EC01-047B-4536-C7CE-9BC3CA0A0DC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4061897" y="1552629"/>
                <a:ext cx="728054" cy="599032"/>
              </a:xfrm>
              <a:prstGeom prst="rect">
                <a:avLst/>
              </a:prstGeom>
            </p:spPr>
          </p:pic>
        </p:grpSp>
        <p:pic>
          <p:nvPicPr>
            <p:cNvPr id="39" name="Image 38">
              <a:extLst>
                <a:ext uri="{FF2B5EF4-FFF2-40B4-BE49-F238E27FC236}">
                  <a16:creationId xmlns:a16="http://schemas.microsoft.com/office/drawing/2014/main" id="{712914F0-6CB2-6857-E621-36285A5C29F0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5888964" y="2122610"/>
              <a:ext cx="351247" cy="213375"/>
            </a:xfrm>
            <a:prstGeom prst="rect">
              <a:avLst/>
            </a:prstGeom>
          </p:spPr>
        </p:pic>
      </p:grpSp>
      <p:pic>
        <p:nvPicPr>
          <p:cNvPr id="42" name="Image 41">
            <a:extLst>
              <a:ext uri="{FF2B5EF4-FFF2-40B4-BE49-F238E27FC236}">
                <a16:creationId xmlns:a16="http://schemas.microsoft.com/office/drawing/2014/main" id="{ADFD7996-D47C-7F92-525E-75A1A9BD1BC0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092480" y="3816081"/>
            <a:ext cx="759820" cy="410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48363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>
          <a:extLst>
            <a:ext uri="{FF2B5EF4-FFF2-40B4-BE49-F238E27FC236}">
              <a16:creationId xmlns:a16="http://schemas.microsoft.com/office/drawing/2014/main" id="{EBEB696C-AA24-37FD-419C-B4151870C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Fond OM"/>
          <p:cNvPicPr>
            <a:picLocks noChangeAspect="1"/>
          </p:cNvPicPr>
          <p:nvPr/>
        </p:nvPicPr>
        <p:blipFill>
          <a:blip r:embed="rId3"/>
          <a:srcRect t="7813" b="7813"/>
          <a:stretch>
            <a:fillRect/>
          </a:stretch>
        </p:blipFill>
        <p:spPr>
          <a:xfrm>
            <a:off x="64179" y="-322615"/>
            <a:ext cx="9144000" cy="5143500"/>
          </a:xfrm>
          <a:prstGeom prst="rect">
            <a:avLst/>
          </a:prstGeom>
        </p:spPr>
      </p:pic>
      <p:sp>
        <p:nvSpPr>
          <p:cNvPr id="75" name="Google Shape;75;p16">
            <a:extLst>
              <a:ext uri="{FF2B5EF4-FFF2-40B4-BE49-F238E27FC236}">
                <a16:creationId xmlns:a16="http://schemas.microsoft.com/office/drawing/2014/main" id="{0D824579-B563-3370-CA34-99A9DEA5B363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1192664" y="403309"/>
            <a:ext cx="5315100" cy="5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fr" sz="2500" dirty="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Architecture - Inference</a:t>
            </a:r>
            <a:endParaRPr sz="2500" i="0" u="none" strike="noStrike" cap="none" dirty="0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76" name="Google Shape;76;p16">
            <a:extLst>
              <a:ext uri="{FF2B5EF4-FFF2-40B4-BE49-F238E27FC236}">
                <a16:creationId xmlns:a16="http://schemas.microsoft.com/office/drawing/2014/main" id="{432F97A8-489D-E71E-4FB2-CDD87122158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6">
            <a:extLst>
              <a:ext uri="{FF2B5EF4-FFF2-40B4-BE49-F238E27FC236}">
                <a16:creationId xmlns:a16="http://schemas.microsoft.com/office/drawing/2014/main" id="{33DF3D1B-4D8E-60F9-66D1-6E4DE3591338}"/>
              </a:ext>
            </a:extLst>
          </p:cNvPr>
          <p:cNvSpPr/>
          <p:nvPr/>
        </p:nvSpPr>
        <p:spPr>
          <a:xfrm>
            <a:off x="10225" y="4892025"/>
            <a:ext cx="9144000" cy="25140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" name="Image 19">
            <a:extLst>
              <a:ext uri="{FF2B5EF4-FFF2-40B4-BE49-F238E27FC236}">
                <a16:creationId xmlns:a16="http://schemas.microsoft.com/office/drawing/2014/main" id="{0FFE32AD-32EF-2017-0324-B619ED638F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4482" y="1035810"/>
            <a:ext cx="1010879" cy="319059"/>
          </a:xfrm>
          <a:prstGeom prst="rect">
            <a:avLst/>
          </a:prstGeom>
        </p:spPr>
      </p:pic>
      <p:grpSp>
        <p:nvGrpSpPr>
          <p:cNvPr id="84" name="Groupe 83">
            <a:extLst>
              <a:ext uri="{FF2B5EF4-FFF2-40B4-BE49-F238E27FC236}">
                <a16:creationId xmlns:a16="http://schemas.microsoft.com/office/drawing/2014/main" id="{9457D20E-8FC2-53CA-3132-A9AA7A3DB453}"/>
              </a:ext>
            </a:extLst>
          </p:cNvPr>
          <p:cNvGrpSpPr/>
          <p:nvPr/>
        </p:nvGrpSpPr>
        <p:grpSpPr>
          <a:xfrm>
            <a:off x="372633" y="3143071"/>
            <a:ext cx="1143099" cy="1543937"/>
            <a:chOff x="1134658" y="3291562"/>
            <a:chExt cx="1143099" cy="1543937"/>
          </a:xfrm>
        </p:grpSpPr>
        <p:pic>
          <p:nvPicPr>
            <p:cNvPr id="12" name="Image 11">
              <a:extLst>
                <a:ext uri="{FF2B5EF4-FFF2-40B4-BE49-F238E27FC236}">
                  <a16:creationId xmlns:a16="http://schemas.microsoft.com/office/drawing/2014/main" id="{924AD97C-8CD0-CC69-8D4A-20D3CE1259D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134658" y="3616193"/>
              <a:ext cx="1143099" cy="1219306"/>
            </a:xfrm>
            <a:prstGeom prst="rect">
              <a:avLst/>
            </a:prstGeom>
          </p:spPr>
        </p:pic>
        <p:pic>
          <p:nvPicPr>
            <p:cNvPr id="24" name="Image 23">
              <a:extLst>
                <a:ext uri="{FF2B5EF4-FFF2-40B4-BE49-F238E27FC236}">
                  <a16:creationId xmlns:a16="http://schemas.microsoft.com/office/drawing/2014/main" id="{73BEA176-2491-C24D-A294-4060082E103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339183" y="3291562"/>
              <a:ext cx="844691" cy="530696"/>
            </a:xfrm>
            <a:prstGeom prst="rect">
              <a:avLst/>
            </a:prstGeom>
          </p:spPr>
        </p:pic>
      </p:grpSp>
      <p:cxnSp>
        <p:nvCxnSpPr>
          <p:cNvPr id="102" name="Fleche FastAPI vers LLM"/>
          <p:cNvCxnSpPr>
            <a:cxnSpLocks/>
            <a:stCxn id="3" idx="3"/>
            <a:endCxn id="14" idx="1"/>
          </p:cNvCxnSpPr>
          <p:nvPr/>
        </p:nvCxnSpPr>
        <p:spPr>
          <a:xfrm flipV="1">
            <a:off x="5745839" y="3204947"/>
            <a:ext cx="1381408" cy="776251"/>
          </a:xfrm>
          <a:prstGeom prst="straightConnector1">
            <a:avLst/>
          </a:prstGeom>
          <a:ln w="19050" cap="rnd">
            <a:solidFill>
              <a:srgbClr val="015955"/>
            </a:solidFill>
            <a:tailEnd type="triangle" w="med" len="med"/>
          </a:ln>
        </p:spPr>
      </p:cxnSp>
      <p:cxnSp>
        <p:nvCxnSpPr>
          <p:cNvPr id="104" name="Fleche FastAPI vers App"/>
          <p:cNvCxnSpPr>
            <a:cxnSpLocks/>
            <a:stCxn id="16" idx="0"/>
            <a:endCxn id="18" idx="2"/>
          </p:cNvCxnSpPr>
          <p:nvPr/>
        </p:nvCxnSpPr>
        <p:spPr>
          <a:xfrm flipV="1">
            <a:off x="2678128" y="2074136"/>
            <a:ext cx="787094" cy="297448"/>
          </a:xfrm>
          <a:prstGeom prst="straightConnector1">
            <a:avLst/>
          </a:prstGeom>
          <a:ln w="19050" cap="rnd">
            <a:solidFill>
              <a:srgbClr val="015955"/>
            </a:solidFill>
            <a:tailEnd type="triangle" w="med" len="med"/>
          </a:ln>
        </p:spPr>
      </p:cxnSp>
      <p:cxnSp>
        <p:nvCxnSpPr>
          <p:cNvPr id="31" name="Fleche FastAPI vers App">
            <a:extLst>
              <a:ext uri="{FF2B5EF4-FFF2-40B4-BE49-F238E27FC236}">
                <a16:creationId xmlns:a16="http://schemas.microsoft.com/office/drawing/2014/main" id="{8D88A179-4C0A-5EF6-5E8E-911F618630BF}"/>
              </a:ext>
            </a:extLst>
          </p:cNvPr>
          <p:cNvCxnSpPr>
            <a:cxnSpLocks/>
            <a:stCxn id="9" idx="3"/>
            <a:endCxn id="3" idx="1"/>
          </p:cNvCxnSpPr>
          <p:nvPr/>
        </p:nvCxnSpPr>
        <p:spPr>
          <a:xfrm flipV="1">
            <a:off x="4321883" y="3981198"/>
            <a:ext cx="710213" cy="244991"/>
          </a:xfrm>
          <a:prstGeom prst="straightConnector1">
            <a:avLst/>
          </a:prstGeom>
          <a:ln w="19050" cap="rnd">
            <a:solidFill>
              <a:srgbClr val="015955"/>
            </a:solidFill>
            <a:tailEnd type="triangle" w="med" len="med"/>
          </a:ln>
        </p:spPr>
      </p:cxnSp>
      <p:cxnSp>
        <p:nvCxnSpPr>
          <p:cNvPr id="42" name="Fleche FastAPI vers App">
            <a:extLst>
              <a:ext uri="{FF2B5EF4-FFF2-40B4-BE49-F238E27FC236}">
                <a16:creationId xmlns:a16="http://schemas.microsoft.com/office/drawing/2014/main" id="{7870FF84-9D5C-DFBC-5110-6A1C66F8B11C}"/>
              </a:ext>
            </a:extLst>
          </p:cNvPr>
          <p:cNvCxnSpPr>
            <a:cxnSpLocks/>
            <a:stCxn id="16" idx="3"/>
            <a:endCxn id="5" idx="1"/>
          </p:cNvCxnSpPr>
          <p:nvPr/>
        </p:nvCxnSpPr>
        <p:spPr>
          <a:xfrm>
            <a:off x="3058038" y="2720766"/>
            <a:ext cx="1933777" cy="143743"/>
          </a:xfrm>
          <a:prstGeom prst="straightConnector1">
            <a:avLst/>
          </a:prstGeom>
          <a:ln w="19050" cap="rnd">
            <a:solidFill>
              <a:srgbClr val="015955"/>
            </a:solidFill>
            <a:tailEnd type="triangle" w="med" len="med"/>
          </a:ln>
        </p:spPr>
      </p:cxnSp>
      <p:cxnSp>
        <p:nvCxnSpPr>
          <p:cNvPr id="55" name="Fleche FastAPI vers Render">
            <a:extLst>
              <a:ext uri="{FF2B5EF4-FFF2-40B4-BE49-F238E27FC236}">
                <a16:creationId xmlns:a16="http://schemas.microsoft.com/office/drawing/2014/main" id="{B5BFD6AC-9750-0065-CD32-1AEB9751DC28}"/>
              </a:ext>
            </a:extLst>
          </p:cNvPr>
          <p:cNvCxnSpPr>
            <a:cxnSpLocks/>
            <a:stCxn id="18" idx="3"/>
            <a:endCxn id="7" idx="1"/>
          </p:cNvCxnSpPr>
          <p:nvPr/>
        </p:nvCxnSpPr>
        <p:spPr>
          <a:xfrm>
            <a:off x="3935238" y="1782976"/>
            <a:ext cx="1139245" cy="22839"/>
          </a:xfrm>
          <a:prstGeom prst="straightConnector1">
            <a:avLst/>
          </a:prstGeom>
          <a:ln w="19050" cap="rnd">
            <a:solidFill>
              <a:srgbClr val="015955"/>
            </a:solidFill>
            <a:tailEnd type="triangle" w="med" len="med"/>
          </a:ln>
        </p:spPr>
      </p:cxnSp>
      <p:cxnSp>
        <p:nvCxnSpPr>
          <p:cNvPr id="58" name="Fleche FastAPI vers LLM">
            <a:extLst>
              <a:ext uri="{FF2B5EF4-FFF2-40B4-BE49-F238E27FC236}">
                <a16:creationId xmlns:a16="http://schemas.microsoft.com/office/drawing/2014/main" id="{4C2F8C53-3641-3CB2-B999-4014444D98AD}"/>
              </a:ext>
            </a:extLst>
          </p:cNvPr>
          <p:cNvCxnSpPr>
            <a:cxnSpLocks/>
            <a:stCxn id="7" idx="3"/>
            <a:endCxn id="14" idx="1"/>
          </p:cNvCxnSpPr>
          <p:nvPr/>
        </p:nvCxnSpPr>
        <p:spPr>
          <a:xfrm>
            <a:off x="5788226" y="1805815"/>
            <a:ext cx="1339021" cy="1399132"/>
          </a:xfrm>
          <a:prstGeom prst="straightConnector1">
            <a:avLst/>
          </a:prstGeom>
          <a:ln w="19050" cap="rnd">
            <a:solidFill>
              <a:srgbClr val="015955"/>
            </a:solidFill>
            <a:tailEnd type="triangle" w="med" len="med"/>
          </a:ln>
        </p:spPr>
      </p:cxnSp>
      <p:cxnSp>
        <p:nvCxnSpPr>
          <p:cNvPr id="61" name="Fleche FastAPI vers LLM">
            <a:extLst>
              <a:ext uri="{FF2B5EF4-FFF2-40B4-BE49-F238E27FC236}">
                <a16:creationId xmlns:a16="http://schemas.microsoft.com/office/drawing/2014/main" id="{974E4557-53CC-2E49-3526-4C09EEDC40DB}"/>
              </a:ext>
            </a:extLst>
          </p:cNvPr>
          <p:cNvCxnSpPr>
            <a:cxnSpLocks/>
            <a:stCxn id="5" idx="3"/>
            <a:endCxn id="14" idx="1"/>
          </p:cNvCxnSpPr>
          <p:nvPr/>
        </p:nvCxnSpPr>
        <p:spPr>
          <a:xfrm>
            <a:off x="5705558" y="2864509"/>
            <a:ext cx="1421689" cy="340438"/>
          </a:xfrm>
          <a:prstGeom prst="straightConnector1">
            <a:avLst/>
          </a:prstGeom>
          <a:ln w="19050" cap="rnd">
            <a:solidFill>
              <a:srgbClr val="015955"/>
            </a:solidFill>
            <a:tailEnd type="triangle" w="med" len="med"/>
          </a:ln>
        </p:spPr>
      </p:cxnSp>
      <p:cxnSp>
        <p:nvCxnSpPr>
          <p:cNvPr id="85" name="Fleche FastAPI vers Render">
            <a:extLst>
              <a:ext uri="{FF2B5EF4-FFF2-40B4-BE49-F238E27FC236}">
                <a16:creationId xmlns:a16="http://schemas.microsoft.com/office/drawing/2014/main" id="{943F18AB-46B1-CBE1-60A4-7F9A0B9996D0}"/>
              </a:ext>
            </a:extLst>
          </p:cNvPr>
          <p:cNvCxnSpPr>
            <a:cxnSpLocks/>
            <a:stCxn id="12" idx="3"/>
            <a:endCxn id="9" idx="1"/>
          </p:cNvCxnSpPr>
          <p:nvPr/>
        </p:nvCxnSpPr>
        <p:spPr>
          <a:xfrm>
            <a:off x="1515732" y="4077355"/>
            <a:ext cx="1297260" cy="148834"/>
          </a:xfrm>
          <a:prstGeom prst="straightConnector1">
            <a:avLst/>
          </a:prstGeom>
          <a:ln w="19050" cap="rnd">
            <a:solidFill>
              <a:srgbClr val="015955"/>
            </a:solidFill>
            <a:tailEnd type="triangle" w="med" len="med"/>
          </a:ln>
        </p:spPr>
      </p:cxnSp>
      <p:grpSp>
        <p:nvGrpSpPr>
          <p:cNvPr id="92" name="Groupe 91">
            <a:extLst>
              <a:ext uri="{FF2B5EF4-FFF2-40B4-BE49-F238E27FC236}">
                <a16:creationId xmlns:a16="http://schemas.microsoft.com/office/drawing/2014/main" id="{91A316BC-2066-C6A1-4ACE-C2A1BDF19697}"/>
              </a:ext>
            </a:extLst>
          </p:cNvPr>
          <p:cNvGrpSpPr/>
          <p:nvPr/>
        </p:nvGrpSpPr>
        <p:grpSpPr>
          <a:xfrm>
            <a:off x="2298218" y="2371584"/>
            <a:ext cx="806200" cy="1390010"/>
            <a:chOff x="2410363" y="1793953"/>
            <a:chExt cx="806200" cy="1390010"/>
          </a:xfrm>
        </p:grpSpPr>
        <p:pic>
          <p:nvPicPr>
            <p:cNvPr id="16" name="Image 15">
              <a:extLst>
                <a:ext uri="{FF2B5EF4-FFF2-40B4-BE49-F238E27FC236}">
                  <a16:creationId xmlns:a16="http://schemas.microsoft.com/office/drawing/2014/main" id="{85AB2D59-EA44-968C-20A7-5461755A653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410363" y="1793953"/>
              <a:ext cx="759820" cy="698364"/>
            </a:xfrm>
            <a:prstGeom prst="rect">
              <a:avLst/>
            </a:prstGeom>
          </p:spPr>
        </p:pic>
        <p:pic>
          <p:nvPicPr>
            <p:cNvPr id="91" name="Image 90">
              <a:extLst>
                <a:ext uri="{FF2B5EF4-FFF2-40B4-BE49-F238E27FC236}">
                  <a16:creationId xmlns:a16="http://schemas.microsoft.com/office/drawing/2014/main" id="{A889045B-5165-F4AF-8DFF-ED55209B37DF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2456743" y="2405611"/>
              <a:ext cx="759820" cy="778352"/>
            </a:xfrm>
            <a:prstGeom prst="rect">
              <a:avLst/>
            </a:prstGeom>
          </p:spPr>
        </p:pic>
      </p:grpSp>
      <p:pic>
        <p:nvPicPr>
          <p:cNvPr id="94" name="Image 93">
            <a:extLst>
              <a:ext uri="{FF2B5EF4-FFF2-40B4-BE49-F238E27FC236}">
                <a16:creationId xmlns:a16="http://schemas.microsoft.com/office/drawing/2014/main" id="{C36613E7-3EF9-A504-75AA-EE86817085E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84527" y="482852"/>
            <a:ext cx="707866" cy="681969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95" name="Encre 94">
                <a:extLst>
                  <a:ext uri="{FF2B5EF4-FFF2-40B4-BE49-F238E27FC236}">
                    <a16:creationId xmlns:a16="http://schemas.microsoft.com/office/drawing/2014/main" id="{A5F96951-EEC7-D3A7-5A4D-48F778ECC76C}"/>
                  </a:ext>
                </a:extLst>
              </p14:cNvPr>
              <p14:cNvContentPartPr/>
              <p14:nvPr/>
            </p14:nvContentPartPr>
            <p14:xfrm>
              <a:off x="4869113" y="1453760"/>
              <a:ext cx="3753360" cy="3083760"/>
            </p14:xfrm>
          </p:contentPart>
        </mc:Choice>
        <mc:Fallback>
          <p:pic>
            <p:nvPicPr>
              <p:cNvPr id="95" name="Encre 94">
                <a:extLst>
                  <a:ext uri="{FF2B5EF4-FFF2-40B4-BE49-F238E27FC236}">
                    <a16:creationId xmlns:a16="http://schemas.microsoft.com/office/drawing/2014/main" id="{A5F96951-EEC7-D3A7-5A4D-48F778ECC76C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4815473" y="1345760"/>
                <a:ext cx="3861000" cy="3299400"/>
              </a:xfrm>
              <a:prstGeom prst="rect">
                <a:avLst/>
              </a:prstGeom>
            </p:spPr>
          </p:pic>
        </mc:Fallback>
      </mc:AlternateContent>
      <p:grpSp>
        <p:nvGrpSpPr>
          <p:cNvPr id="111" name="Groupe 110">
            <a:extLst>
              <a:ext uri="{FF2B5EF4-FFF2-40B4-BE49-F238E27FC236}">
                <a16:creationId xmlns:a16="http://schemas.microsoft.com/office/drawing/2014/main" id="{B6CD5D53-9961-9F47-BB14-B77ABC558CDB}"/>
              </a:ext>
            </a:extLst>
          </p:cNvPr>
          <p:cNvGrpSpPr/>
          <p:nvPr/>
        </p:nvGrpSpPr>
        <p:grpSpPr>
          <a:xfrm>
            <a:off x="5652826" y="723913"/>
            <a:ext cx="2515793" cy="471427"/>
            <a:chOff x="5722667" y="686481"/>
            <a:chExt cx="2515793" cy="471427"/>
          </a:xfrm>
        </p:grpSpPr>
        <p:cxnSp>
          <p:nvCxnSpPr>
            <p:cNvPr id="97" name="Fleche FastAPI vers Render">
              <a:extLst>
                <a:ext uri="{FF2B5EF4-FFF2-40B4-BE49-F238E27FC236}">
                  <a16:creationId xmlns:a16="http://schemas.microsoft.com/office/drawing/2014/main" id="{719B7DD3-3F0C-F4EE-7B99-2A4BC2BC4909}"/>
                </a:ext>
              </a:extLst>
            </p:cNvPr>
            <p:cNvCxnSpPr>
              <a:cxnSpLocks/>
              <a:stCxn id="94" idx="2"/>
              <a:endCxn id="20" idx="3"/>
            </p:cNvCxnSpPr>
            <p:nvPr/>
          </p:nvCxnSpPr>
          <p:spPr>
            <a:xfrm flipH="1">
              <a:off x="6085361" y="1127389"/>
              <a:ext cx="2153099" cy="30519"/>
            </a:xfrm>
            <a:prstGeom prst="straightConnector1">
              <a:avLst/>
            </a:prstGeom>
            <a:ln w="19050" cap="rnd">
              <a:solidFill>
                <a:srgbClr val="015955"/>
              </a:solidFill>
              <a:tailEnd type="triangle" w="med" len="med"/>
            </a:ln>
          </p:spPr>
        </p:cxnSp>
        <p:sp>
          <p:nvSpPr>
            <p:cNvPr id="110" name="ZoneTexte 109">
              <a:extLst>
                <a:ext uri="{FF2B5EF4-FFF2-40B4-BE49-F238E27FC236}">
                  <a16:creationId xmlns:a16="http://schemas.microsoft.com/office/drawing/2014/main" id="{EE5AB635-A6E6-0909-9390-18EC6D7108A4}"/>
                </a:ext>
              </a:extLst>
            </p:cNvPr>
            <p:cNvSpPr txBox="1"/>
            <p:nvPr/>
          </p:nvSpPr>
          <p:spPr>
            <a:xfrm>
              <a:off x="5722667" y="686481"/>
              <a:ext cx="18473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fr-FR" b="1" dirty="0">
                <a:latin typeface="Inter" panose="020B0604020202020204" charset="0"/>
                <a:ea typeface="Inter" panose="020B0604020202020204" charset="0"/>
              </a:endParaRPr>
            </a:p>
          </p:txBody>
        </p:sp>
      </p:grpSp>
      <p:grpSp>
        <p:nvGrpSpPr>
          <p:cNvPr id="213" name="Groupe 212">
            <a:extLst>
              <a:ext uri="{FF2B5EF4-FFF2-40B4-BE49-F238E27FC236}">
                <a16:creationId xmlns:a16="http://schemas.microsoft.com/office/drawing/2014/main" id="{88567E29-5D6D-C5AC-65B8-FE0A43B1941F}"/>
              </a:ext>
            </a:extLst>
          </p:cNvPr>
          <p:cNvGrpSpPr/>
          <p:nvPr/>
        </p:nvGrpSpPr>
        <p:grpSpPr>
          <a:xfrm>
            <a:off x="2812992" y="3443897"/>
            <a:ext cx="1508891" cy="1471102"/>
            <a:chOff x="2812992" y="3443897"/>
            <a:chExt cx="1508891" cy="1471102"/>
          </a:xfrm>
        </p:grpSpPr>
        <p:grpSp>
          <p:nvGrpSpPr>
            <p:cNvPr id="53" name="Groupe 52">
              <a:extLst>
                <a:ext uri="{FF2B5EF4-FFF2-40B4-BE49-F238E27FC236}">
                  <a16:creationId xmlns:a16="http://schemas.microsoft.com/office/drawing/2014/main" id="{1C7B1544-F55C-9D75-CFDD-2B5474B8C57F}"/>
                </a:ext>
              </a:extLst>
            </p:cNvPr>
            <p:cNvGrpSpPr/>
            <p:nvPr/>
          </p:nvGrpSpPr>
          <p:grpSpPr>
            <a:xfrm>
              <a:off x="2812992" y="3443897"/>
              <a:ext cx="1508891" cy="1471102"/>
              <a:chOff x="2733186" y="3154814"/>
              <a:chExt cx="1508891" cy="1471102"/>
            </a:xfrm>
          </p:grpSpPr>
          <p:grpSp>
            <p:nvGrpSpPr>
              <p:cNvPr id="8" name="Groupe 7">
                <a:extLst>
                  <a:ext uri="{FF2B5EF4-FFF2-40B4-BE49-F238E27FC236}">
                    <a16:creationId xmlns:a16="http://schemas.microsoft.com/office/drawing/2014/main" id="{FC4E51A7-89BF-64C7-A97B-82F2561DCA3F}"/>
                  </a:ext>
                </a:extLst>
              </p:cNvPr>
              <p:cNvGrpSpPr/>
              <p:nvPr/>
            </p:nvGrpSpPr>
            <p:grpSpPr>
              <a:xfrm>
                <a:off x="2733186" y="3556073"/>
                <a:ext cx="1508891" cy="1069843"/>
                <a:chOff x="5770055" y="1653248"/>
                <a:chExt cx="1508891" cy="1069843"/>
              </a:xfrm>
            </p:grpSpPr>
            <p:pic>
              <p:nvPicPr>
                <p:cNvPr id="9" name="Image 8">
                  <a:extLst>
                    <a:ext uri="{FF2B5EF4-FFF2-40B4-BE49-F238E27FC236}">
                      <a16:creationId xmlns:a16="http://schemas.microsoft.com/office/drawing/2014/main" id="{280A720C-4D10-3862-026A-4DDA269DB67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770055" y="1653248"/>
                  <a:ext cx="1508891" cy="762066"/>
                </a:xfrm>
                <a:prstGeom prst="rect">
                  <a:avLst/>
                </a:prstGeom>
              </p:spPr>
            </p:pic>
            <p:sp>
              <p:nvSpPr>
                <p:cNvPr id="10" name="ZoneTexte 9">
                  <a:extLst>
                    <a:ext uri="{FF2B5EF4-FFF2-40B4-BE49-F238E27FC236}">
                      <a16:creationId xmlns:a16="http://schemas.microsoft.com/office/drawing/2014/main" id="{8A8FD571-5124-8EFB-94CD-176BBC93C5BD}"/>
                    </a:ext>
                  </a:extLst>
                </p:cNvPr>
                <p:cNvSpPr txBox="1"/>
                <p:nvPr/>
              </p:nvSpPr>
              <p:spPr>
                <a:xfrm>
                  <a:off x="6070074" y="2415314"/>
                  <a:ext cx="671979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fr-FR" dirty="0"/>
                    <a:t>Model</a:t>
                  </a:r>
                </a:p>
              </p:txBody>
            </p:sp>
          </p:grpSp>
          <p:pic>
            <p:nvPicPr>
              <p:cNvPr id="22" name="Image 21">
                <a:extLst>
                  <a:ext uri="{FF2B5EF4-FFF2-40B4-BE49-F238E27FC236}">
                    <a16:creationId xmlns:a16="http://schemas.microsoft.com/office/drawing/2014/main" id="{01ED5588-4B17-EE1E-25EC-CFC2B2C8EE1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3156177" y="3154814"/>
                <a:ext cx="728054" cy="599032"/>
              </a:xfrm>
              <a:prstGeom prst="rect">
                <a:avLst/>
              </a:prstGeom>
            </p:spPr>
          </p:pic>
        </p:grpSp>
        <p:pic>
          <p:nvPicPr>
            <p:cNvPr id="127" name="Image 126">
              <a:extLst>
                <a:ext uri="{FF2B5EF4-FFF2-40B4-BE49-F238E27FC236}">
                  <a16:creationId xmlns:a16="http://schemas.microsoft.com/office/drawing/2014/main" id="{292548DE-F5EB-C1C5-224A-6D8428FEBC2A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3899745" y="3715570"/>
              <a:ext cx="351247" cy="213375"/>
            </a:xfrm>
            <a:prstGeom prst="rect">
              <a:avLst/>
            </a:prstGeom>
          </p:spPr>
        </p:pic>
      </p:grpSp>
      <p:grpSp>
        <p:nvGrpSpPr>
          <p:cNvPr id="204" name="Groupe 203">
            <a:extLst>
              <a:ext uri="{FF2B5EF4-FFF2-40B4-BE49-F238E27FC236}">
                <a16:creationId xmlns:a16="http://schemas.microsoft.com/office/drawing/2014/main" id="{66CADAF5-95B5-9FBF-6100-CA6542936CDF}"/>
              </a:ext>
            </a:extLst>
          </p:cNvPr>
          <p:cNvGrpSpPr/>
          <p:nvPr/>
        </p:nvGrpSpPr>
        <p:grpSpPr>
          <a:xfrm>
            <a:off x="5074483" y="1489797"/>
            <a:ext cx="1330589" cy="864059"/>
            <a:chOff x="5074483" y="1489797"/>
            <a:chExt cx="1330589" cy="864059"/>
          </a:xfrm>
        </p:grpSpPr>
        <p:sp>
          <p:nvSpPr>
            <p:cNvPr id="120" name="ZoneTexte 119">
              <a:extLst>
                <a:ext uri="{FF2B5EF4-FFF2-40B4-BE49-F238E27FC236}">
                  <a16:creationId xmlns:a16="http://schemas.microsoft.com/office/drawing/2014/main" id="{65E5EAD1-612D-0DC5-2BC7-DE0E78184485}"/>
                </a:ext>
              </a:extLst>
            </p:cNvPr>
            <p:cNvSpPr txBox="1"/>
            <p:nvPr/>
          </p:nvSpPr>
          <p:spPr>
            <a:xfrm>
              <a:off x="5309932" y="2046079"/>
              <a:ext cx="109514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dirty="0">
                  <a:latin typeface="Inter" panose="020B0604020202020204" charset="0"/>
                  <a:ea typeface="Inter" panose="020B0604020202020204" charset="0"/>
                </a:rPr>
                <a:t>/tchat</a:t>
              </a:r>
            </a:p>
          </p:txBody>
        </p:sp>
        <p:grpSp>
          <p:nvGrpSpPr>
            <p:cNvPr id="203" name="Groupe 202">
              <a:extLst>
                <a:ext uri="{FF2B5EF4-FFF2-40B4-BE49-F238E27FC236}">
                  <a16:creationId xmlns:a16="http://schemas.microsoft.com/office/drawing/2014/main" id="{89D34069-D6E1-5839-4449-290344D2DFF7}"/>
                </a:ext>
              </a:extLst>
            </p:cNvPr>
            <p:cNvGrpSpPr/>
            <p:nvPr/>
          </p:nvGrpSpPr>
          <p:grpSpPr>
            <a:xfrm>
              <a:off x="5074483" y="1489797"/>
              <a:ext cx="1134266" cy="632035"/>
              <a:chOff x="5074483" y="1489797"/>
              <a:chExt cx="1134266" cy="632035"/>
            </a:xfrm>
          </p:grpSpPr>
          <p:pic>
            <p:nvPicPr>
              <p:cNvPr id="7" name="Image 6">
                <a:extLst>
                  <a:ext uri="{FF2B5EF4-FFF2-40B4-BE49-F238E27FC236}">
                    <a16:creationId xmlns:a16="http://schemas.microsoft.com/office/drawing/2014/main" id="{BB68C319-DC36-A44C-A11A-91E1CDEE7ED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5074483" y="1489797"/>
                <a:ext cx="713743" cy="632035"/>
              </a:xfrm>
              <a:prstGeom prst="rect">
                <a:avLst/>
              </a:prstGeom>
            </p:spPr>
          </p:pic>
          <p:pic>
            <p:nvPicPr>
              <p:cNvPr id="193" name="Image 192">
                <a:extLst>
                  <a:ext uri="{FF2B5EF4-FFF2-40B4-BE49-F238E27FC236}">
                    <a16:creationId xmlns:a16="http://schemas.microsoft.com/office/drawing/2014/main" id="{A9C2F14F-3923-7ACD-1D1D-4CA9EE8CA26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5857502" y="1697776"/>
                <a:ext cx="351247" cy="213375"/>
              </a:xfrm>
              <a:prstGeom prst="rect">
                <a:avLst/>
              </a:prstGeom>
            </p:spPr>
          </p:pic>
        </p:grpSp>
      </p:grpSp>
      <p:grpSp>
        <p:nvGrpSpPr>
          <p:cNvPr id="212" name="Groupe 211">
            <a:extLst>
              <a:ext uri="{FF2B5EF4-FFF2-40B4-BE49-F238E27FC236}">
                <a16:creationId xmlns:a16="http://schemas.microsoft.com/office/drawing/2014/main" id="{43FDE112-3EED-A3FC-392C-90A33B4C0C80}"/>
              </a:ext>
            </a:extLst>
          </p:cNvPr>
          <p:cNvGrpSpPr/>
          <p:nvPr/>
        </p:nvGrpSpPr>
        <p:grpSpPr>
          <a:xfrm>
            <a:off x="6998003" y="2855765"/>
            <a:ext cx="1327671" cy="1006141"/>
            <a:chOff x="6996125" y="2777589"/>
            <a:chExt cx="1327671" cy="1006141"/>
          </a:xfrm>
        </p:grpSpPr>
        <p:grpSp>
          <p:nvGrpSpPr>
            <p:cNvPr id="123" name="Groupe 122">
              <a:extLst>
                <a:ext uri="{FF2B5EF4-FFF2-40B4-BE49-F238E27FC236}">
                  <a16:creationId xmlns:a16="http://schemas.microsoft.com/office/drawing/2014/main" id="{BE57AE1B-BF2C-5CEF-0AA9-196C687487C4}"/>
                </a:ext>
              </a:extLst>
            </p:cNvPr>
            <p:cNvGrpSpPr/>
            <p:nvPr/>
          </p:nvGrpSpPr>
          <p:grpSpPr>
            <a:xfrm>
              <a:off x="7125369" y="2777589"/>
              <a:ext cx="1198427" cy="1006141"/>
              <a:chOff x="7125369" y="2777589"/>
              <a:chExt cx="1198427" cy="1006141"/>
            </a:xfrm>
          </p:grpSpPr>
          <p:pic>
            <p:nvPicPr>
              <p:cNvPr id="14" name="Image 13">
                <a:extLst>
                  <a:ext uri="{FF2B5EF4-FFF2-40B4-BE49-F238E27FC236}">
                    <a16:creationId xmlns:a16="http://schemas.microsoft.com/office/drawing/2014/main" id="{A87CB19F-572A-2FBE-F13E-D59C3A348F7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7125369" y="2777589"/>
                <a:ext cx="1198427" cy="698364"/>
              </a:xfrm>
              <a:prstGeom prst="rect">
                <a:avLst/>
              </a:prstGeom>
            </p:spPr>
          </p:pic>
          <p:sp>
            <p:nvSpPr>
              <p:cNvPr id="115" name="ZoneTexte 114">
                <a:extLst>
                  <a:ext uri="{FF2B5EF4-FFF2-40B4-BE49-F238E27FC236}">
                    <a16:creationId xmlns:a16="http://schemas.microsoft.com/office/drawing/2014/main" id="{574E68B8-7C8A-BB00-81F8-465ADE7BAE9F}"/>
                  </a:ext>
                </a:extLst>
              </p:cNvPr>
              <p:cNvSpPr txBox="1"/>
              <p:nvPr/>
            </p:nvSpPr>
            <p:spPr>
              <a:xfrm>
                <a:off x="7465802" y="3475953"/>
                <a:ext cx="63030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dirty="0">
                    <a:latin typeface="Inter" panose="020B0604020202020204" charset="0"/>
                    <a:ea typeface="Inter" panose="020B0604020202020204" charset="0"/>
                  </a:rPr>
                  <a:t>Front</a:t>
                </a:r>
              </a:p>
            </p:txBody>
          </p:sp>
        </p:grpSp>
        <p:pic>
          <p:nvPicPr>
            <p:cNvPr id="195" name="Image 194">
              <a:extLst>
                <a:ext uri="{FF2B5EF4-FFF2-40B4-BE49-F238E27FC236}">
                  <a16:creationId xmlns:a16="http://schemas.microsoft.com/office/drawing/2014/main" id="{EB4A2E14-5BAB-85DC-AA7D-43F29925CE25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6996125" y="3232919"/>
              <a:ext cx="351247" cy="213375"/>
            </a:xfrm>
            <a:prstGeom prst="rect">
              <a:avLst/>
            </a:prstGeom>
          </p:spPr>
        </p:pic>
      </p:grpSp>
      <p:grpSp>
        <p:nvGrpSpPr>
          <p:cNvPr id="205" name="Groupe 204">
            <a:extLst>
              <a:ext uri="{FF2B5EF4-FFF2-40B4-BE49-F238E27FC236}">
                <a16:creationId xmlns:a16="http://schemas.microsoft.com/office/drawing/2014/main" id="{013CA45C-1FCE-C7A2-CE63-B97C6904A5A1}"/>
              </a:ext>
            </a:extLst>
          </p:cNvPr>
          <p:cNvGrpSpPr/>
          <p:nvPr/>
        </p:nvGrpSpPr>
        <p:grpSpPr>
          <a:xfrm>
            <a:off x="4991815" y="2520993"/>
            <a:ext cx="1276933" cy="913413"/>
            <a:chOff x="5074482" y="2630430"/>
            <a:chExt cx="1276933" cy="913413"/>
          </a:xfrm>
        </p:grpSpPr>
        <p:grpSp>
          <p:nvGrpSpPr>
            <p:cNvPr id="121" name="Groupe 120">
              <a:extLst>
                <a:ext uri="{FF2B5EF4-FFF2-40B4-BE49-F238E27FC236}">
                  <a16:creationId xmlns:a16="http://schemas.microsoft.com/office/drawing/2014/main" id="{9600628E-A61A-9502-8EE5-0CD04DAF1A30}"/>
                </a:ext>
              </a:extLst>
            </p:cNvPr>
            <p:cNvGrpSpPr/>
            <p:nvPr/>
          </p:nvGrpSpPr>
          <p:grpSpPr>
            <a:xfrm>
              <a:off x="5074482" y="2657928"/>
              <a:ext cx="1276933" cy="885915"/>
              <a:chOff x="5074482" y="2657928"/>
              <a:chExt cx="1276933" cy="885915"/>
            </a:xfrm>
          </p:grpSpPr>
          <p:pic>
            <p:nvPicPr>
              <p:cNvPr id="5" name="Image 4">
                <a:extLst>
                  <a:ext uri="{FF2B5EF4-FFF2-40B4-BE49-F238E27FC236}">
                    <a16:creationId xmlns:a16="http://schemas.microsoft.com/office/drawing/2014/main" id="{B061C59D-975F-6288-DF5A-AD3F80BDE3F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5074482" y="2657928"/>
                <a:ext cx="713743" cy="632035"/>
              </a:xfrm>
              <a:prstGeom prst="rect">
                <a:avLst/>
              </a:prstGeom>
            </p:spPr>
          </p:pic>
          <p:sp>
            <p:nvSpPr>
              <p:cNvPr id="118" name="ZoneTexte 117">
                <a:extLst>
                  <a:ext uri="{FF2B5EF4-FFF2-40B4-BE49-F238E27FC236}">
                    <a16:creationId xmlns:a16="http://schemas.microsoft.com/office/drawing/2014/main" id="{11CC29D2-0420-B760-1EC8-179F270D033E}"/>
                  </a:ext>
                </a:extLst>
              </p:cNvPr>
              <p:cNvSpPr txBox="1"/>
              <p:nvPr/>
            </p:nvSpPr>
            <p:spPr>
              <a:xfrm>
                <a:off x="5575240" y="3020623"/>
                <a:ext cx="776175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dirty="0">
                    <a:latin typeface="Inter" panose="020B0604020202020204" charset="0"/>
                    <a:ea typeface="Inter" panose="020B0604020202020204" charset="0"/>
                  </a:rPr>
                  <a:t>/team</a:t>
                </a:r>
              </a:p>
              <a:p>
                <a:r>
                  <a:rPr lang="fr-FR" dirty="0">
                    <a:latin typeface="Inter" panose="020B0604020202020204" charset="0"/>
                    <a:ea typeface="Inter" panose="020B0604020202020204" charset="0"/>
                  </a:rPr>
                  <a:t>/</a:t>
                </a:r>
                <a:r>
                  <a:rPr lang="fr-FR" dirty="0" err="1">
                    <a:latin typeface="Inter" panose="020B0604020202020204" charset="0"/>
                    <a:ea typeface="Inter" panose="020B0604020202020204" charset="0"/>
                  </a:rPr>
                  <a:t>player</a:t>
                </a:r>
                <a:endParaRPr lang="fr-FR" dirty="0">
                  <a:latin typeface="Inter" panose="020B0604020202020204" charset="0"/>
                  <a:ea typeface="Inter" panose="020B0604020202020204" charset="0"/>
                </a:endParaRPr>
              </a:p>
            </p:txBody>
          </p:sp>
        </p:grpSp>
        <p:pic>
          <p:nvPicPr>
            <p:cNvPr id="197" name="Image 196">
              <a:extLst>
                <a:ext uri="{FF2B5EF4-FFF2-40B4-BE49-F238E27FC236}">
                  <a16:creationId xmlns:a16="http://schemas.microsoft.com/office/drawing/2014/main" id="{6278FE8B-70F5-D6DB-471E-AC2989B86029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5717110" y="2630430"/>
              <a:ext cx="351247" cy="213375"/>
            </a:xfrm>
            <a:prstGeom prst="rect">
              <a:avLst/>
            </a:prstGeom>
          </p:spPr>
        </p:pic>
      </p:grpSp>
      <p:grpSp>
        <p:nvGrpSpPr>
          <p:cNvPr id="211" name="Groupe 210">
            <a:extLst>
              <a:ext uri="{FF2B5EF4-FFF2-40B4-BE49-F238E27FC236}">
                <a16:creationId xmlns:a16="http://schemas.microsoft.com/office/drawing/2014/main" id="{2372C907-AA04-CC0E-D5A8-2CFBF2E99993}"/>
              </a:ext>
            </a:extLst>
          </p:cNvPr>
          <p:cNvGrpSpPr/>
          <p:nvPr/>
        </p:nvGrpSpPr>
        <p:grpSpPr>
          <a:xfrm>
            <a:off x="5032096" y="3665180"/>
            <a:ext cx="1447815" cy="632035"/>
            <a:chOff x="5032096" y="3665180"/>
            <a:chExt cx="1447815" cy="632035"/>
          </a:xfrm>
        </p:grpSpPr>
        <p:grpSp>
          <p:nvGrpSpPr>
            <p:cNvPr id="122" name="Groupe 121">
              <a:extLst>
                <a:ext uri="{FF2B5EF4-FFF2-40B4-BE49-F238E27FC236}">
                  <a16:creationId xmlns:a16="http://schemas.microsoft.com/office/drawing/2014/main" id="{805C7F95-B2B2-1814-23D0-D2589FF33A00}"/>
                </a:ext>
              </a:extLst>
            </p:cNvPr>
            <p:cNvGrpSpPr/>
            <p:nvPr/>
          </p:nvGrpSpPr>
          <p:grpSpPr>
            <a:xfrm>
              <a:off x="5032096" y="3665180"/>
              <a:ext cx="1447815" cy="632035"/>
              <a:chOff x="5120863" y="3822258"/>
              <a:chExt cx="1447815" cy="632035"/>
            </a:xfrm>
          </p:grpSpPr>
          <p:pic>
            <p:nvPicPr>
              <p:cNvPr id="3" name="Image 2">
                <a:extLst>
                  <a:ext uri="{FF2B5EF4-FFF2-40B4-BE49-F238E27FC236}">
                    <a16:creationId xmlns:a16="http://schemas.microsoft.com/office/drawing/2014/main" id="{421F3B49-681F-F9B8-42BB-68CCD6CFFF1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5120863" y="3822258"/>
                <a:ext cx="713743" cy="632035"/>
              </a:xfrm>
              <a:prstGeom prst="rect">
                <a:avLst/>
              </a:prstGeom>
            </p:spPr>
          </p:pic>
          <p:sp>
            <p:nvSpPr>
              <p:cNvPr id="116" name="ZoneTexte 115">
                <a:extLst>
                  <a:ext uri="{FF2B5EF4-FFF2-40B4-BE49-F238E27FC236}">
                    <a16:creationId xmlns:a16="http://schemas.microsoft.com/office/drawing/2014/main" id="{CCEF6D58-B117-18FB-E695-9E605AFF968E}"/>
                  </a:ext>
                </a:extLst>
              </p:cNvPr>
              <p:cNvSpPr txBox="1"/>
              <p:nvPr/>
            </p:nvSpPr>
            <p:spPr>
              <a:xfrm>
                <a:off x="5736399" y="4111663"/>
                <a:ext cx="83227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dirty="0"/>
                  <a:t>/</a:t>
                </a:r>
                <a:r>
                  <a:rPr lang="fr-FR" dirty="0" err="1">
                    <a:latin typeface="Inter" panose="020B0604020202020204" charset="0"/>
                    <a:ea typeface="Inter" panose="020B0604020202020204" charset="0"/>
                  </a:rPr>
                  <a:t>predict</a:t>
                </a:r>
                <a:endParaRPr lang="fr-FR" dirty="0">
                  <a:latin typeface="Inter" panose="020B0604020202020204" charset="0"/>
                  <a:ea typeface="Inter" panose="020B0604020202020204" charset="0"/>
                </a:endParaRPr>
              </a:p>
            </p:txBody>
          </p:sp>
        </p:grpSp>
        <p:pic>
          <p:nvPicPr>
            <p:cNvPr id="199" name="Image 198">
              <a:extLst>
                <a:ext uri="{FF2B5EF4-FFF2-40B4-BE49-F238E27FC236}">
                  <a16:creationId xmlns:a16="http://schemas.microsoft.com/office/drawing/2014/main" id="{F529B6B8-3ACB-8941-24AC-F9094BE68724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5650197" y="3715570"/>
              <a:ext cx="351247" cy="213375"/>
            </a:xfrm>
            <a:prstGeom prst="rect">
              <a:avLst/>
            </a:prstGeom>
          </p:spPr>
        </p:pic>
      </p:grpSp>
      <p:grpSp>
        <p:nvGrpSpPr>
          <p:cNvPr id="214" name="Groupe 213">
            <a:extLst>
              <a:ext uri="{FF2B5EF4-FFF2-40B4-BE49-F238E27FC236}">
                <a16:creationId xmlns:a16="http://schemas.microsoft.com/office/drawing/2014/main" id="{C236C834-E6F3-5EEA-15C5-62D07C08DDFA}"/>
              </a:ext>
            </a:extLst>
          </p:cNvPr>
          <p:cNvGrpSpPr/>
          <p:nvPr/>
        </p:nvGrpSpPr>
        <p:grpSpPr>
          <a:xfrm>
            <a:off x="2785855" y="936409"/>
            <a:ext cx="1149383" cy="1137727"/>
            <a:chOff x="3048493" y="865134"/>
            <a:chExt cx="1149383" cy="1137727"/>
          </a:xfrm>
        </p:grpSpPr>
        <p:grpSp>
          <p:nvGrpSpPr>
            <p:cNvPr id="38" name="Groupe 37">
              <a:extLst>
                <a:ext uri="{FF2B5EF4-FFF2-40B4-BE49-F238E27FC236}">
                  <a16:creationId xmlns:a16="http://schemas.microsoft.com/office/drawing/2014/main" id="{A823F73B-1856-F8F1-3D6C-629F4630FC39}"/>
                </a:ext>
              </a:extLst>
            </p:cNvPr>
            <p:cNvGrpSpPr/>
            <p:nvPr/>
          </p:nvGrpSpPr>
          <p:grpSpPr>
            <a:xfrm>
              <a:off x="3257843" y="865134"/>
              <a:ext cx="940033" cy="1137727"/>
              <a:chOff x="1040275" y="780605"/>
              <a:chExt cx="940033" cy="1137727"/>
            </a:xfrm>
          </p:grpSpPr>
          <p:pic>
            <p:nvPicPr>
              <p:cNvPr id="28" name="Image 27">
                <a:extLst>
                  <a:ext uri="{FF2B5EF4-FFF2-40B4-BE49-F238E27FC236}">
                    <a16:creationId xmlns:a16="http://schemas.microsoft.com/office/drawing/2014/main" id="{A80A64C9-922B-D624-435D-1FDC3282D06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1192664" y="780605"/>
                <a:ext cx="571731" cy="638211"/>
              </a:xfrm>
              <a:prstGeom prst="rect">
                <a:avLst/>
              </a:prstGeom>
            </p:spPr>
          </p:pic>
          <p:pic>
            <p:nvPicPr>
              <p:cNvPr id="18" name="Image 17">
                <a:extLst>
                  <a:ext uri="{FF2B5EF4-FFF2-40B4-BE49-F238E27FC236}">
                    <a16:creationId xmlns:a16="http://schemas.microsoft.com/office/drawing/2014/main" id="{D7EEA209-B632-B8CC-D1E6-04B8698E2D0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040275" y="1336011"/>
                <a:ext cx="940033" cy="582321"/>
              </a:xfrm>
              <a:prstGeom prst="rect">
                <a:avLst/>
              </a:prstGeom>
            </p:spPr>
          </p:pic>
        </p:grpSp>
        <p:pic>
          <p:nvPicPr>
            <p:cNvPr id="202" name="Image 201">
              <a:extLst>
                <a:ext uri="{FF2B5EF4-FFF2-40B4-BE49-F238E27FC236}">
                  <a16:creationId xmlns:a16="http://schemas.microsoft.com/office/drawing/2014/main" id="{10629B6F-7D10-5D8C-A870-7BA08C3D95D4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3048493" y="1285123"/>
              <a:ext cx="351247" cy="21337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530337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>
          <a:extLst>
            <a:ext uri="{FF2B5EF4-FFF2-40B4-BE49-F238E27FC236}">
              <a16:creationId xmlns:a16="http://schemas.microsoft.com/office/drawing/2014/main" id="{6F34FAE9-590F-9AF1-86B8-DA0C23B88B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Fond Manchester United"/>
          <p:cNvPicPr preferRelativeResize="0"/>
          <p:nvPr/>
        </p:nvPicPr>
        <p:blipFill rotWithShape="1">
          <a:blip r:embed="rId3"/>
          <a:srcRect t="7813" b="781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5" name="Google Shape;75;p16">
            <a:extLst>
              <a:ext uri="{FF2B5EF4-FFF2-40B4-BE49-F238E27FC236}">
                <a16:creationId xmlns:a16="http://schemas.microsoft.com/office/drawing/2014/main" id="{30FB99E2-075B-252F-BDDB-3B85336E078C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1192664" y="403309"/>
            <a:ext cx="5315100" cy="5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fr" sz="2500" dirty="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Evolutions</a:t>
            </a:r>
            <a:endParaRPr sz="2500" i="0" u="none" strike="noStrike" cap="none" dirty="0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76" name="Google Shape;76;p16">
            <a:extLst>
              <a:ext uri="{FF2B5EF4-FFF2-40B4-BE49-F238E27FC236}">
                <a16:creationId xmlns:a16="http://schemas.microsoft.com/office/drawing/2014/main" id="{1B9E9DA3-123D-CE21-CB04-244323F8485A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6">
            <a:extLst>
              <a:ext uri="{FF2B5EF4-FFF2-40B4-BE49-F238E27FC236}">
                <a16:creationId xmlns:a16="http://schemas.microsoft.com/office/drawing/2014/main" id="{C51207C7-C2BB-8F6E-97C4-EBBB01D73A5F}"/>
              </a:ext>
            </a:extLst>
          </p:cNvPr>
          <p:cNvSpPr/>
          <p:nvPr/>
        </p:nvSpPr>
        <p:spPr>
          <a:xfrm>
            <a:off x="10225" y="4892025"/>
            <a:ext cx="9144000" cy="25140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E3317BDC-7297-BEAD-7CFD-68EF40A2FEE0}"/>
              </a:ext>
            </a:extLst>
          </p:cNvPr>
          <p:cNvSpPr txBox="1"/>
          <p:nvPr/>
        </p:nvSpPr>
        <p:spPr>
          <a:xfrm>
            <a:off x="1192664" y="1975182"/>
            <a:ext cx="7128376" cy="19312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 algn="l">
              <a:lnSpc>
                <a:spcPct val="120000"/>
              </a:lnSpc>
              <a:spcAft>
                <a:spcPts val="300"/>
              </a:spcAft>
              <a:buClr>
                <a:srgbClr val="015955"/>
              </a:buClr>
              <a:buFont typeface="Arial"/>
              <a:buChar char="•"/>
            </a:pPr>
            <a:r>
              <a:rPr lang="fr-FR" sz="1100" dirty="0">
                <a:solidFill>
                  <a:srgbClr val="0E3449"/>
                </a:solidFill>
                <a:latin typeface="Inter"/>
                <a:ea typeface="Inter"/>
                <a:cs typeface="Inter"/>
                <a:sym typeface="Inter"/>
              </a:rPr>
              <a:t>Améliorer le LLM (prompt engineering, les pré-remplissages des formulaires sur la </a:t>
            </a:r>
            <a:r>
              <a:rPr lang="fr-FR" sz="1100">
                <a:solidFill>
                  <a:srgbClr val="0E3449"/>
                </a:solidFill>
                <a:latin typeface="Inter"/>
                <a:ea typeface="Inter"/>
                <a:cs typeface="Inter"/>
                <a:sym typeface="Inter"/>
              </a:rPr>
              <a:t>vue « custom team »)</a:t>
            </a:r>
            <a:endParaRPr lang="fr-FR" sz="1100" dirty="0">
              <a:solidFill>
                <a:srgbClr val="0E3449"/>
              </a:solidFill>
              <a:latin typeface="Inter"/>
              <a:ea typeface="Inter"/>
              <a:cs typeface="Inter"/>
              <a:sym typeface="Inter"/>
            </a:endParaRPr>
          </a:p>
          <a:p>
            <a:pPr algn="l">
              <a:lnSpc>
                <a:spcPct val="120000"/>
              </a:lnSpc>
              <a:spcAft>
                <a:spcPts val="300"/>
              </a:spcAft>
              <a:buClr>
                <a:srgbClr val="015955"/>
              </a:buClr>
            </a:pPr>
            <a:endParaRPr lang="fr-FR" sz="1100" dirty="0">
              <a:solidFill>
                <a:srgbClr val="0E3449"/>
              </a:solidFill>
              <a:latin typeface="Inter"/>
              <a:ea typeface="Inter"/>
              <a:cs typeface="Inter"/>
              <a:sym typeface="Inter"/>
            </a:endParaRPr>
          </a:p>
          <a:p>
            <a:pPr marL="228600" indent="-228600" algn="l">
              <a:lnSpc>
                <a:spcPct val="120000"/>
              </a:lnSpc>
              <a:spcAft>
                <a:spcPts val="300"/>
              </a:spcAft>
              <a:buClr>
                <a:srgbClr val="015955"/>
              </a:buClr>
              <a:buFont typeface="Arial"/>
              <a:buChar char="•"/>
            </a:pPr>
            <a:r>
              <a:rPr lang="fr-FR" sz="1100" dirty="0">
                <a:solidFill>
                  <a:srgbClr val="0E3449"/>
                </a:solidFill>
                <a:latin typeface="Inter"/>
                <a:ea typeface="Inter"/>
                <a:cs typeface="Inter"/>
                <a:sym typeface="Inter"/>
              </a:rPr>
              <a:t>Amélioration du modèle : Passer à une </a:t>
            </a:r>
            <a:r>
              <a:rPr lang="fr-FR" sz="1100" dirty="0" err="1">
                <a:solidFill>
                  <a:srgbClr val="0E3449"/>
                </a:solidFill>
                <a:latin typeface="Inter"/>
                <a:ea typeface="Inter"/>
                <a:cs typeface="Inter"/>
                <a:sym typeface="Inter"/>
              </a:rPr>
              <a:t>target</a:t>
            </a:r>
            <a:r>
              <a:rPr lang="fr-FR" sz="1100" dirty="0">
                <a:solidFill>
                  <a:srgbClr val="0E3449"/>
                </a:solidFill>
                <a:latin typeface="Inter"/>
                <a:ea typeface="Inter"/>
                <a:cs typeface="Inter"/>
                <a:sym typeface="Inter"/>
              </a:rPr>
              <a:t> « probabilité de gagner un match »</a:t>
            </a:r>
          </a:p>
          <a:p>
            <a:pPr marL="228600" indent="-228600" algn="l">
              <a:lnSpc>
                <a:spcPct val="120000"/>
              </a:lnSpc>
              <a:spcAft>
                <a:spcPts val="300"/>
              </a:spcAft>
              <a:buClr>
                <a:srgbClr val="015955"/>
              </a:buClr>
              <a:buFont typeface="Arial"/>
              <a:buChar char="•"/>
            </a:pPr>
            <a:endParaRPr lang="fr-FR" sz="1100" dirty="0">
              <a:solidFill>
                <a:srgbClr val="0E3449"/>
              </a:solidFill>
              <a:latin typeface="Inter"/>
              <a:ea typeface="Inter"/>
              <a:cs typeface="Inter"/>
              <a:sym typeface="Inter"/>
            </a:endParaRPr>
          </a:p>
          <a:p>
            <a:pPr marL="228600" indent="-228600" algn="l">
              <a:lnSpc>
                <a:spcPct val="120000"/>
              </a:lnSpc>
              <a:spcAft>
                <a:spcPts val="300"/>
              </a:spcAft>
              <a:buClr>
                <a:srgbClr val="015955"/>
              </a:buClr>
              <a:buFont typeface="Arial"/>
              <a:buChar char="•"/>
            </a:pPr>
            <a:r>
              <a:rPr lang="fr-FR" sz="1100" dirty="0">
                <a:solidFill>
                  <a:srgbClr val="0E3449"/>
                </a:solidFill>
                <a:latin typeface="Inter"/>
                <a:ea typeface="Inter"/>
                <a:cs typeface="Inter"/>
                <a:sym typeface="Inter"/>
              </a:rPr>
              <a:t>Recherche d’autres sources de données pour jauger mieux les joueurs</a:t>
            </a:r>
          </a:p>
          <a:p>
            <a:pPr marL="228600" indent="-228600" algn="l">
              <a:lnSpc>
                <a:spcPct val="120000"/>
              </a:lnSpc>
              <a:spcAft>
                <a:spcPts val="300"/>
              </a:spcAft>
              <a:buClr>
                <a:srgbClr val="015955"/>
              </a:buClr>
              <a:buFont typeface="Arial"/>
              <a:buChar char="•"/>
            </a:pPr>
            <a:endParaRPr lang="fr-FR" sz="1100" dirty="0">
              <a:solidFill>
                <a:srgbClr val="0E3449"/>
              </a:solidFill>
              <a:latin typeface="Inter"/>
              <a:ea typeface="Inter"/>
              <a:cs typeface="Inter"/>
              <a:sym typeface="Inter"/>
            </a:endParaRPr>
          </a:p>
          <a:p>
            <a:pPr marL="228600" indent="-228600" algn="l">
              <a:lnSpc>
                <a:spcPct val="120000"/>
              </a:lnSpc>
              <a:buClr>
                <a:srgbClr val="015955"/>
              </a:buClr>
              <a:buFont typeface="Arial"/>
              <a:buChar char="•"/>
            </a:pPr>
            <a:r>
              <a:rPr lang="fr-FR" sz="1100" dirty="0" err="1">
                <a:solidFill>
                  <a:srgbClr val="0E3449"/>
                </a:solidFill>
                <a:latin typeface="Inter"/>
                <a:ea typeface="Inter"/>
                <a:cs typeface="Inter"/>
                <a:sym typeface="Inter"/>
              </a:rPr>
              <a:t>Ré-entrainement</a:t>
            </a:r>
            <a:r>
              <a:rPr lang="fr-FR" sz="1100" dirty="0">
                <a:solidFill>
                  <a:srgbClr val="0E3449"/>
                </a:solidFill>
                <a:latin typeface="Inter"/>
                <a:ea typeface="Inter"/>
                <a:cs typeface="Inter"/>
                <a:sym typeface="Inter"/>
              </a:rPr>
              <a:t> du modèle dès nouveaux matchs rajoutés</a:t>
            </a:r>
          </a:p>
        </p:txBody>
      </p:sp>
    </p:spTree>
    <p:extLst>
      <p:ext uri="{BB962C8B-B14F-4D97-AF65-F5344CB8AC3E}">
        <p14:creationId xmlns:p14="http://schemas.microsoft.com/office/powerpoint/2010/main" val="19804557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>
          <a:extLst>
            <a:ext uri="{FF2B5EF4-FFF2-40B4-BE49-F238E27FC236}">
              <a16:creationId xmlns:a16="http://schemas.microsoft.com/office/drawing/2014/main" id="{658FA247-BE1D-56EE-4607-2566FA14FB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Fond Bayern Munich"/>
          <p:cNvPicPr preferRelativeResize="0"/>
          <p:nvPr/>
        </p:nvPicPr>
        <p:blipFill rotWithShape="1">
          <a:blip r:embed="rId3"/>
          <a:srcRect t="7813" b="781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5" name="Google Shape;75;p16">
            <a:extLst>
              <a:ext uri="{FF2B5EF4-FFF2-40B4-BE49-F238E27FC236}">
                <a16:creationId xmlns:a16="http://schemas.microsoft.com/office/drawing/2014/main" id="{74A69AA9-1C03-442F-3399-B4B3D6D761E9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1192664" y="403309"/>
            <a:ext cx="5315100" cy="5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fr" sz="2500" dirty="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Conclusion</a:t>
            </a:r>
            <a:endParaRPr sz="2500" i="0" u="none" strike="noStrike" cap="none" dirty="0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76" name="Google Shape;76;p16">
            <a:extLst>
              <a:ext uri="{FF2B5EF4-FFF2-40B4-BE49-F238E27FC236}">
                <a16:creationId xmlns:a16="http://schemas.microsoft.com/office/drawing/2014/main" id="{6BF06A26-709D-A972-DB6B-30FC9B72355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6">
            <a:extLst>
              <a:ext uri="{FF2B5EF4-FFF2-40B4-BE49-F238E27FC236}">
                <a16:creationId xmlns:a16="http://schemas.microsoft.com/office/drawing/2014/main" id="{67C14035-1847-D4C3-79C5-1B831AEF3446}"/>
              </a:ext>
            </a:extLst>
          </p:cNvPr>
          <p:cNvSpPr/>
          <p:nvPr/>
        </p:nvSpPr>
        <p:spPr>
          <a:xfrm>
            <a:off x="10225" y="4892025"/>
            <a:ext cx="9144000" cy="25140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2E240459-F461-2510-EB48-F1A9E1A33F72}"/>
              </a:ext>
            </a:extLst>
          </p:cNvPr>
          <p:cNvSpPr txBox="1"/>
          <p:nvPr/>
        </p:nvSpPr>
        <p:spPr>
          <a:xfrm>
            <a:off x="1192664" y="1937026"/>
            <a:ext cx="7065529" cy="19543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100" dirty="0">
                <a:latin typeface="Inter" panose="020B0604020202020204" charset="0"/>
                <a:ea typeface="Inter" panose="020B0604020202020204" charset="0"/>
              </a:rPr>
              <a:t>Besoin : assister un entraineur de foot pour former son équipe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fr-FR" sz="1100" dirty="0">
              <a:latin typeface="Inter" panose="020B0604020202020204" charset="0"/>
              <a:ea typeface="Inter" panose="020B060402020202020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fr-FR" sz="1100" dirty="0">
              <a:latin typeface="Inter" panose="020B0604020202020204" charset="0"/>
              <a:ea typeface="Inter" panose="020B060402020202020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100" dirty="0">
                <a:latin typeface="Inter" panose="020B0604020202020204" charset="0"/>
                <a:ea typeface="Inter" panose="020B0604020202020204" charset="0"/>
              </a:rPr>
              <a:t>Proposition : une application pour l’aider à choisir ses joueurs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fr-FR" sz="1100" dirty="0">
              <a:latin typeface="Inter" panose="020B0604020202020204" charset="0"/>
              <a:ea typeface="Inter" panose="020B0604020202020204" charset="0"/>
            </a:endParaRPr>
          </a:p>
          <a:p>
            <a:endParaRPr lang="fr-FR" sz="1100" dirty="0">
              <a:latin typeface="Inter" panose="020B0604020202020204" charset="0"/>
              <a:ea typeface="Inter" panose="020B060402020202020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100" dirty="0">
                <a:latin typeface="Inter" panose="020B0604020202020204" charset="0"/>
                <a:ea typeface="Inter" panose="020B0604020202020204" charset="0"/>
              </a:rPr>
              <a:t>Plusieurs perspectives d’évolution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fr-FR" sz="1100" dirty="0">
              <a:latin typeface="Inter" panose="020B0604020202020204" charset="0"/>
              <a:ea typeface="Inter" panose="020B060402020202020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fr-FR" sz="1100" dirty="0">
              <a:latin typeface="Inter" panose="020B0604020202020204" charset="0"/>
              <a:ea typeface="Inter" panose="020B060402020202020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100" dirty="0">
                <a:latin typeface="Inter" panose="020B0604020202020204" charset="0"/>
                <a:ea typeface="Inter" panose="020B0604020202020204" charset="0"/>
              </a:rPr>
              <a:t>Point fort du projet : ETL, EDA, comparaison modèles ML, intégration, déploiement sur Render</a:t>
            </a:r>
          </a:p>
          <a:p>
            <a:r>
              <a:rPr lang="fr-FR" sz="1100" dirty="0">
                <a:latin typeface="Inter" panose="020B0604020202020204" charset="0"/>
                <a:ea typeface="Inter" panose="020B060402020202020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753911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DBD0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1"/>
          <p:cNvSpPr txBox="1">
            <a:spLocks noGrp="1"/>
          </p:cNvSpPr>
          <p:nvPr>
            <p:ph type="ctrTitle" idx="4294967295"/>
          </p:nvPr>
        </p:nvSpPr>
        <p:spPr>
          <a:xfrm>
            <a:off x="1089725" y="1970775"/>
            <a:ext cx="62691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fr" sz="520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Any questions ?</a:t>
            </a:r>
            <a:endParaRPr sz="5200" i="0" u="none" strike="noStrike" cap="none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111" name="Google Shape;111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918625" y="3006625"/>
            <a:ext cx="4599299" cy="2136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2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32375" y="915775"/>
            <a:ext cx="797425" cy="839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>
          <a:extLst>
            <a:ext uri="{FF2B5EF4-FFF2-40B4-BE49-F238E27FC236}">
              <a16:creationId xmlns:a16="http://schemas.microsoft.com/office/drawing/2014/main" id="{EE8EC870-39F2-EF95-52A9-9C923EA4A1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Fond logo club"/>
          <p:cNvPicPr>
            <a:picLocks noChangeAspect="1"/>
          </p:cNvPicPr>
          <p:nvPr/>
        </p:nvPicPr>
        <p:blipFill>
          <a:blip r:embed="rId3">
            <a:alphaModFix amt="22000"/>
          </a:blip>
          <a:srcRect t="21875" b="21875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5" name="Google Shape;75;p16">
            <a:extLst>
              <a:ext uri="{FF2B5EF4-FFF2-40B4-BE49-F238E27FC236}">
                <a16:creationId xmlns:a16="http://schemas.microsoft.com/office/drawing/2014/main" id="{FE019EE3-D07E-A118-B78A-1AFF93DDFBB0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1192664" y="403309"/>
            <a:ext cx="5315100" cy="5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fr" sz="2500" dirty="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Annexes</a:t>
            </a:r>
            <a:endParaRPr sz="2500" i="0" u="none" strike="noStrike" cap="none" dirty="0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76" name="Google Shape;76;p16">
            <a:extLst>
              <a:ext uri="{FF2B5EF4-FFF2-40B4-BE49-F238E27FC236}">
                <a16:creationId xmlns:a16="http://schemas.microsoft.com/office/drawing/2014/main" id="{83C2AB62-51C0-A44B-46A1-F2419DAEF4FA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6">
            <a:extLst>
              <a:ext uri="{FF2B5EF4-FFF2-40B4-BE49-F238E27FC236}">
                <a16:creationId xmlns:a16="http://schemas.microsoft.com/office/drawing/2014/main" id="{0E7989C5-A5B3-075B-2B6E-43A33C1E74EC}"/>
              </a:ext>
            </a:extLst>
          </p:cNvPr>
          <p:cNvSpPr/>
          <p:nvPr/>
        </p:nvSpPr>
        <p:spPr>
          <a:xfrm>
            <a:off x="10225" y="4892025"/>
            <a:ext cx="9144000" cy="25140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6E3021BC-F1CA-E4CA-9289-994EEFFBE394}"/>
              </a:ext>
            </a:extLst>
          </p:cNvPr>
          <p:cNvSpPr txBox="1"/>
          <p:nvPr/>
        </p:nvSpPr>
        <p:spPr>
          <a:xfrm>
            <a:off x="2043605" y="1450336"/>
            <a:ext cx="4575940" cy="787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lang="fr-FR" sz="1100" b="1" spc="60" dirty="0">
                <a:solidFill>
                  <a:srgbClr val="015955"/>
                </a:solidFill>
                <a:latin typeface="Inter"/>
                <a:ea typeface="Inter"/>
                <a:cs typeface="Inter"/>
                <a:sym typeface="Inter"/>
              </a:rPr>
              <a:t>LES LIENS DU PROJET</a:t>
            </a:r>
          </a:p>
          <a:p>
            <a:pPr marL="228600" indent="-228600" algn="l">
              <a:lnSpc>
                <a:spcPct val="120000"/>
              </a:lnSpc>
              <a:spcAft>
                <a:spcPts val="300"/>
              </a:spcAft>
              <a:buClr>
                <a:srgbClr val="015955"/>
              </a:buClr>
              <a:buFont typeface="Arial"/>
              <a:buChar char="•"/>
            </a:pPr>
            <a:r>
              <a:rPr lang="fr-FR" sz="1100" dirty="0">
                <a:solidFill>
                  <a:srgbClr val="0E3449"/>
                </a:solidFill>
                <a:latin typeface="Inter"/>
                <a:ea typeface="Inter"/>
                <a:cs typeface="Inter"/>
                <a:sym typeface="Inter"/>
              </a:rPr>
              <a:t>https://football-predictor-front.onrender.com/</a:t>
            </a:r>
          </a:p>
          <a:p>
            <a:pPr marL="228600" indent="-228600" algn="l">
              <a:lnSpc>
                <a:spcPct val="120000"/>
              </a:lnSpc>
              <a:buClr>
                <a:srgbClr val="015955"/>
              </a:buClr>
              <a:buFont typeface="Arial"/>
              <a:buChar char="•"/>
            </a:pPr>
            <a:r>
              <a:rPr lang="fr-FR" sz="1100" dirty="0">
                <a:solidFill>
                  <a:srgbClr val="0E3449"/>
                </a:solidFill>
                <a:latin typeface="Inter"/>
                <a:ea typeface="Inter"/>
                <a:cs typeface="Inter"/>
                <a:sym typeface="Inter"/>
              </a:rPr>
              <a:t>https://github.com/kinpintouche-star/football-predictor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1ADB1D89-B994-137A-CD19-A3395D9D8584}"/>
              </a:ext>
            </a:extLst>
          </p:cNvPr>
          <p:cNvSpPr txBox="1"/>
          <p:nvPr/>
        </p:nvSpPr>
        <p:spPr>
          <a:xfrm>
            <a:off x="2043605" y="2739059"/>
            <a:ext cx="6737788" cy="1028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lang="fr-FR" sz="1100" b="1" spc="60" dirty="0">
                <a:solidFill>
                  <a:srgbClr val="015955"/>
                </a:solidFill>
                <a:latin typeface="Inter"/>
                <a:ea typeface="Inter"/>
                <a:cs typeface="Inter"/>
                <a:sym typeface="Inter"/>
              </a:rPr>
              <a:t>LES SOURCES</a:t>
            </a:r>
          </a:p>
          <a:p>
            <a:pPr marL="228600" indent="-228600" algn="l">
              <a:lnSpc>
                <a:spcPct val="120000"/>
              </a:lnSpc>
              <a:spcAft>
                <a:spcPts val="300"/>
              </a:spcAft>
              <a:buClr>
                <a:srgbClr val="015955"/>
              </a:buClr>
              <a:buFont typeface="Arial"/>
              <a:buChar char="•"/>
            </a:pPr>
            <a:r>
              <a:rPr lang="fr-FR" sz="1100" dirty="0">
                <a:solidFill>
                  <a:srgbClr val="0E3449"/>
                </a:solidFill>
                <a:latin typeface="Inter"/>
                <a:ea typeface="Inter"/>
                <a:cs typeface="Inter"/>
                <a:sym typeface="Inter"/>
              </a:rPr>
              <a:t>https://sofifa.com/</a:t>
            </a:r>
          </a:p>
          <a:p>
            <a:pPr marL="228600" indent="-228600" algn="l">
              <a:lnSpc>
                <a:spcPct val="120000"/>
              </a:lnSpc>
              <a:spcAft>
                <a:spcPts val="300"/>
              </a:spcAft>
              <a:buClr>
                <a:srgbClr val="015955"/>
              </a:buClr>
              <a:buFont typeface="Arial"/>
              <a:buChar char="•"/>
            </a:pPr>
            <a:r>
              <a:rPr lang="fr-FR" sz="1100" dirty="0">
                <a:solidFill>
                  <a:srgbClr val="0E3449"/>
                </a:solidFill>
                <a:latin typeface="Inter"/>
                <a:ea typeface="Inter"/>
                <a:cs typeface="Inter"/>
                <a:sym typeface="Inter"/>
              </a:rPr>
              <a:t>https://github.com/dcaribou/transfermarkt-datasets</a:t>
            </a:r>
          </a:p>
          <a:p>
            <a:pPr marL="228600" indent="-228600" algn="l">
              <a:lnSpc>
                <a:spcPct val="120000"/>
              </a:lnSpc>
              <a:buClr>
                <a:srgbClr val="015955"/>
              </a:buClr>
              <a:buFont typeface="Arial"/>
              <a:buChar char="•"/>
            </a:pPr>
            <a:r>
              <a:rPr lang="fr-FR" sz="1100" dirty="0">
                <a:solidFill>
                  <a:srgbClr val="0E3449"/>
                </a:solidFill>
                <a:latin typeface="Inter"/>
                <a:ea typeface="Inter"/>
                <a:cs typeface="Inter"/>
                <a:sym typeface="Inter"/>
              </a:rPr>
              <a:t>https://pub-e682421888d945d684bcae8890b0ec20.r2.dev/data/transfermarkt-datasets.zip</a:t>
            </a:r>
          </a:p>
        </p:txBody>
      </p:sp>
    </p:spTree>
    <p:extLst>
      <p:ext uri="{BB962C8B-B14F-4D97-AF65-F5344CB8AC3E}">
        <p14:creationId xmlns:p14="http://schemas.microsoft.com/office/powerpoint/2010/main" val="23433323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>
          <a:extLst>
            <a:ext uri="{FF2B5EF4-FFF2-40B4-BE49-F238E27FC236}">
              <a16:creationId xmlns:a16="http://schemas.microsoft.com/office/drawing/2014/main" id="{1D58C147-00BF-7854-BB77-39A5BBDF5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>
            <a:extLst>
              <a:ext uri="{FF2B5EF4-FFF2-40B4-BE49-F238E27FC236}">
                <a16:creationId xmlns:a16="http://schemas.microsoft.com/office/drawing/2014/main" id="{BDF46C9B-CDE8-BC50-C930-2575F6E66E03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1192664" y="403309"/>
            <a:ext cx="5315100" cy="5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fr" sz="2500" dirty="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Architecture – templates formes</a:t>
            </a:r>
            <a:endParaRPr sz="2500" i="0" u="none" strike="noStrike" cap="none" dirty="0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76" name="Google Shape;76;p16">
            <a:extLst>
              <a:ext uri="{FF2B5EF4-FFF2-40B4-BE49-F238E27FC236}">
                <a16:creationId xmlns:a16="http://schemas.microsoft.com/office/drawing/2014/main" id="{F185CBCC-EEC8-31A7-4FF4-1CE50C87639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6">
            <a:extLst>
              <a:ext uri="{FF2B5EF4-FFF2-40B4-BE49-F238E27FC236}">
                <a16:creationId xmlns:a16="http://schemas.microsoft.com/office/drawing/2014/main" id="{0A1C5C99-C680-4580-BE65-D9E99099C998}"/>
              </a:ext>
            </a:extLst>
          </p:cNvPr>
          <p:cNvSpPr/>
          <p:nvPr/>
        </p:nvSpPr>
        <p:spPr>
          <a:xfrm>
            <a:off x="10225" y="4892025"/>
            <a:ext cx="9144000" cy="25140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5D95D37D-AC12-BBF0-09EE-708D54B0A3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19624" y="1716950"/>
            <a:ext cx="759820" cy="698364"/>
          </a:xfrm>
          <a:prstGeom prst="rect">
            <a:avLst/>
          </a:prstGeom>
        </p:spPr>
      </p:pic>
      <p:grpSp>
        <p:nvGrpSpPr>
          <p:cNvPr id="36" name="Groupe 35">
            <a:extLst>
              <a:ext uri="{FF2B5EF4-FFF2-40B4-BE49-F238E27FC236}">
                <a16:creationId xmlns:a16="http://schemas.microsoft.com/office/drawing/2014/main" id="{60653329-2BB2-C5C6-0A9D-0F170ABF3094}"/>
              </a:ext>
            </a:extLst>
          </p:cNvPr>
          <p:cNvGrpSpPr/>
          <p:nvPr/>
        </p:nvGrpSpPr>
        <p:grpSpPr>
          <a:xfrm>
            <a:off x="4261164" y="1653248"/>
            <a:ext cx="1508891" cy="1069843"/>
            <a:chOff x="4261164" y="1653248"/>
            <a:chExt cx="1508891" cy="1069843"/>
          </a:xfrm>
        </p:grpSpPr>
        <p:pic>
          <p:nvPicPr>
            <p:cNvPr id="7" name="Image 6">
              <a:extLst>
                <a:ext uri="{FF2B5EF4-FFF2-40B4-BE49-F238E27FC236}">
                  <a16:creationId xmlns:a16="http://schemas.microsoft.com/office/drawing/2014/main" id="{77540F2A-791D-BABC-BF5A-354ECDF7B10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261164" y="1653248"/>
              <a:ext cx="1508891" cy="762066"/>
            </a:xfrm>
            <a:prstGeom prst="rect">
              <a:avLst/>
            </a:prstGeom>
          </p:spPr>
        </p:pic>
        <p:sp>
          <p:nvSpPr>
            <p:cNvPr id="8" name="ZoneTexte 7">
              <a:extLst>
                <a:ext uri="{FF2B5EF4-FFF2-40B4-BE49-F238E27FC236}">
                  <a16:creationId xmlns:a16="http://schemas.microsoft.com/office/drawing/2014/main" id="{FF65A78C-039F-A789-A332-14003BB0FB5C}"/>
                </a:ext>
              </a:extLst>
            </p:cNvPr>
            <p:cNvSpPr txBox="1"/>
            <p:nvPr/>
          </p:nvSpPr>
          <p:spPr>
            <a:xfrm>
              <a:off x="4561183" y="2415314"/>
              <a:ext cx="87075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dirty="0" err="1"/>
                <a:t>Tracking</a:t>
              </a:r>
              <a:endParaRPr lang="fr-FR" dirty="0"/>
            </a:p>
          </p:txBody>
        </p:sp>
      </p:grpSp>
      <p:grpSp>
        <p:nvGrpSpPr>
          <p:cNvPr id="35" name="Groupe 34">
            <a:extLst>
              <a:ext uri="{FF2B5EF4-FFF2-40B4-BE49-F238E27FC236}">
                <a16:creationId xmlns:a16="http://schemas.microsoft.com/office/drawing/2014/main" id="{C2BE10C7-579C-7A2A-3364-737C4B056636}"/>
              </a:ext>
            </a:extLst>
          </p:cNvPr>
          <p:cNvGrpSpPr/>
          <p:nvPr/>
        </p:nvGrpSpPr>
        <p:grpSpPr>
          <a:xfrm>
            <a:off x="5770055" y="1653248"/>
            <a:ext cx="1508891" cy="1069843"/>
            <a:chOff x="5770055" y="1653248"/>
            <a:chExt cx="1508891" cy="1069843"/>
          </a:xfrm>
        </p:grpSpPr>
        <p:pic>
          <p:nvPicPr>
            <p:cNvPr id="10" name="Image 9">
              <a:extLst>
                <a:ext uri="{FF2B5EF4-FFF2-40B4-BE49-F238E27FC236}">
                  <a16:creationId xmlns:a16="http://schemas.microsoft.com/office/drawing/2014/main" id="{6195B5FA-28F2-C15C-98A6-F973079580A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770055" y="1653248"/>
              <a:ext cx="1508891" cy="762066"/>
            </a:xfrm>
            <a:prstGeom prst="rect">
              <a:avLst/>
            </a:prstGeom>
          </p:spPr>
        </p:pic>
        <p:sp>
          <p:nvSpPr>
            <p:cNvPr id="12" name="ZoneTexte 11">
              <a:extLst>
                <a:ext uri="{FF2B5EF4-FFF2-40B4-BE49-F238E27FC236}">
                  <a16:creationId xmlns:a16="http://schemas.microsoft.com/office/drawing/2014/main" id="{25D8F8CF-38FD-833A-BBB3-CDA2EEECDED7}"/>
                </a:ext>
              </a:extLst>
            </p:cNvPr>
            <p:cNvSpPr txBox="1"/>
            <p:nvPr/>
          </p:nvSpPr>
          <p:spPr>
            <a:xfrm>
              <a:off x="6070074" y="2415314"/>
              <a:ext cx="67197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dirty="0"/>
                <a:t>Model</a:t>
              </a:r>
            </a:p>
          </p:txBody>
        </p:sp>
      </p:grpSp>
      <p:pic>
        <p:nvPicPr>
          <p:cNvPr id="14" name="Image 13">
            <a:extLst>
              <a:ext uri="{FF2B5EF4-FFF2-40B4-BE49-F238E27FC236}">
                <a16:creationId xmlns:a16="http://schemas.microsoft.com/office/drawing/2014/main" id="{4160B7DD-4EA2-552A-5546-E38700D377A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8622" y="1680726"/>
            <a:ext cx="1143099" cy="1219306"/>
          </a:xfrm>
          <a:prstGeom prst="rect">
            <a:avLst/>
          </a:prstGeom>
        </p:spPr>
      </p:pic>
      <p:pic>
        <p:nvPicPr>
          <p:cNvPr id="20" name="Image 19">
            <a:extLst>
              <a:ext uri="{FF2B5EF4-FFF2-40B4-BE49-F238E27FC236}">
                <a16:creationId xmlns:a16="http://schemas.microsoft.com/office/drawing/2014/main" id="{936B1CDC-337C-03CA-6468-8519A03EC18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99571" y="2928402"/>
            <a:ext cx="1198427" cy="698364"/>
          </a:xfrm>
          <a:prstGeom prst="rect">
            <a:avLst/>
          </a:prstGeom>
        </p:spPr>
      </p:pic>
      <p:pic>
        <p:nvPicPr>
          <p:cNvPr id="22" name="Image 21">
            <a:extLst>
              <a:ext uri="{FF2B5EF4-FFF2-40B4-BE49-F238E27FC236}">
                <a16:creationId xmlns:a16="http://schemas.microsoft.com/office/drawing/2014/main" id="{FA0F3856-B7CE-94AE-CD55-10B6B851DAA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82757" y="3564866"/>
            <a:ext cx="713743" cy="632035"/>
          </a:xfrm>
          <a:prstGeom prst="rect">
            <a:avLst/>
          </a:prstGeom>
        </p:spPr>
      </p:pic>
      <p:pic>
        <p:nvPicPr>
          <p:cNvPr id="24" name="Image 23">
            <a:extLst>
              <a:ext uri="{FF2B5EF4-FFF2-40B4-BE49-F238E27FC236}">
                <a16:creationId xmlns:a16="http://schemas.microsoft.com/office/drawing/2014/main" id="{92F7F776-84AB-6C8E-A0A8-17198F74B9D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83493" y="3663757"/>
            <a:ext cx="940033" cy="582321"/>
          </a:xfrm>
          <a:prstGeom prst="rect">
            <a:avLst/>
          </a:prstGeom>
        </p:spPr>
      </p:pic>
      <p:pic>
        <p:nvPicPr>
          <p:cNvPr id="26" name="Image 25">
            <a:extLst>
              <a:ext uri="{FF2B5EF4-FFF2-40B4-BE49-F238E27FC236}">
                <a16:creationId xmlns:a16="http://schemas.microsoft.com/office/drawing/2014/main" id="{58857D92-4628-71F5-53B9-E94B45BC2AB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95184" y="3812004"/>
            <a:ext cx="1010879" cy="319059"/>
          </a:xfrm>
          <a:prstGeom prst="rect">
            <a:avLst/>
          </a:prstGeom>
        </p:spPr>
      </p:pic>
      <p:pic>
        <p:nvPicPr>
          <p:cNvPr id="28" name="Image 27">
            <a:extLst>
              <a:ext uri="{FF2B5EF4-FFF2-40B4-BE49-F238E27FC236}">
                <a16:creationId xmlns:a16="http://schemas.microsoft.com/office/drawing/2014/main" id="{68951688-95B8-6A5A-EEB4-DCB52037F08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724293" y="3542217"/>
            <a:ext cx="728054" cy="599032"/>
          </a:xfrm>
          <a:prstGeom prst="rect">
            <a:avLst/>
          </a:prstGeom>
        </p:spPr>
      </p:pic>
      <p:pic>
        <p:nvPicPr>
          <p:cNvPr id="30" name="Image 29">
            <a:extLst>
              <a:ext uri="{FF2B5EF4-FFF2-40B4-BE49-F238E27FC236}">
                <a16:creationId xmlns:a16="http://schemas.microsoft.com/office/drawing/2014/main" id="{76A4B67A-B1E3-CCB1-15AA-A913A8A8D10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634663" y="3669244"/>
            <a:ext cx="571731" cy="638211"/>
          </a:xfrm>
          <a:prstGeom prst="rect">
            <a:avLst/>
          </a:prstGeom>
        </p:spPr>
      </p:pic>
      <p:pic>
        <p:nvPicPr>
          <p:cNvPr id="32" name="Image 31">
            <a:extLst>
              <a:ext uri="{FF2B5EF4-FFF2-40B4-BE49-F238E27FC236}">
                <a16:creationId xmlns:a16="http://schemas.microsoft.com/office/drawing/2014/main" id="{01629C53-B01D-62D6-169F-916490E36750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17030" y="3666205"/>
            <a:ext cx="844691" cy="530696"/>
          </a:xfrm>
          <a:prstGeom prst="rect">
            <a:avLst/>
          </a:prstGeom>
        </p:spPr>
      </p:pic>
      <p:pic>
        <p:nvPicPr>
          <p:cNvPr id="34" name="Image 33">
            <a:extLst>
              <a:ext uri="{FF2B5EF4-FFF2-40B4-BE49-F238E27FC236}">
                <a16:creationId xmlns:a16="http://schemas.microsoft.com/office/drawing/2014/main" id="{AF692067-95FE-6BB2-553B-38FB13D34835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566616" y="2831400"/>
            <a:ext cx="1196482" cy="577612"/>
          </a:xfrm>
          <a:prstGeom prst="rect">
            <a:avLst/>
          </a:prstGeom>
        </p:spPr>
      </p:pic>
      <p:pic>
        <p:nvPicPr>
          <p:cNvPr id="38" name="Image 37">
            <a:extLst>
              <a:ext uri="{FF2B5EF4-FFF2-40B4-BE49-F238E27FC236}">
                <a16:creationId xmlns:a16="http://schemas.microsoft.com/office/drawing/2014/main" id="{CF405266-2F46-074B-A5B7-C6902B7442AD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83048" y="2520892"/>
            <a:ext cx="699800" cy="627207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97EEB909-F4AA-96BC-4560-15F32100780D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7364" y="3635006"/>
            <a:ext cx="759820" cy="778352"/>
          </a:xfrm>
          <a:prstGeom prst="rect">
            <a:avLst/>
          </a:prstGeom>
        </p:spPr>
      </p:pic>
      <p:cxnSp>
        <p:nvCxnSpPr>
          <p:cNvPr id="37" name="Fleche FastAPI vers Render"/>
          <p:cNvCxnSpPr/>
          <p:nvPr/>
        </p:nvCxnSpPr>
        <p:spPr>
          <a:xfrm flipH="1" flipV="1">
            <a:off x="256105" y="1530719"/>
            <a:ext cx="1353685" cy="420000"/>
          </a:xfrm>
          <a:prstGeom prst="straightConnector1">
            <a:avLst/>
          </a:prstGeom>
          <a:ln w="19050" cap="rnd">
            <a:solidFill>
              <a:srgbClr val="015955"/>
            </a:solidFill>
            <a:tailEnd type="triangle" w="med" len="med"/>
          </a:ln>
        </p:spPr>
      </p:cxnSp>
      <p:pic>
        <p:nvPicPr>
          <p:cNvPr id="9" name="Image 8">
            <a:extLst>
              <a:ext uri="{FF2B5EF4-FFF2-40B4-BE49-F238E27FC236}">
                <a16:creationId xmlns:a16="http://schemas.microsoft.com/office/drawing/2014/main" id="{DD3F6A24-C341-590F-B7DF-16CA127A0B95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736115" y="2855183"/>
            <a:ext cx="707866" cy="681969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72A5041C-0E19-DC8F-FE04-9A529B43409F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151662" y="2901642"/>
            <a:ext cx="301642" cy="183240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E6923E51-16F2-5BEE-AC30-C8CBFA1BF657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116590" y="2709552"/>
            <a:ext cx="759820" cy="410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8810194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211</TotalTime>
  <Words>534</Words>
  <Application>Microsoft Office PowerPoint</Application>
  <PresentationFormat>Affichage à l'écran (16:9)</PresentationFormat>
  <Paragraphs>104</Paragraphs>
  <Slides>14</Slides>
  <Notes>11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18" baseType="lpstr">
      <vt:lpstr>Inter SemiBold</vt:lpstr>
      <vt:lpstr>Inter</vt:lpstr>
      <vt:lpstr>Arial</vt:lpstr>
      <vt:lpstr>Simple Light</vt:lpstr>
      <vt:lpstr>Your Tech Bootcamp</vt:lpstr>
      <vt:lpstr>Group members    Frank IDDA Hugo PIERRE Safidy RAMAHERISON</vt:lpstr>
      <vt:lpstr>Pitch</vt:lpstr>
      <vt:lpstr>Football predictor</vt:lpstr>
      <vt:lpstr>ETL, EDA et choix de données modèle</vt:lpstr>
      <vt:lpstr>ETL : données passent par trois niveaux clairs</vt:lpstr>
      <vt:lpstr>EDA : sécurise le dataset d'entraînement </vt:lpstr>
      <vt:lpstr>Architecture - Entrainement</vt:lpstr>
      <vt:lpstr>Architecture - Inference</vt:lpstr>
      <vt:lpstr>Evolutions</vt:lpstr>
      <vt:lpstr>Conclusion</vt:lpstr>
      <vt:lpstr>Any questions ?</vt:lpstr>
      <vt:lpstr>Annexes</vt:lpstr>
      <vt:lpstr>Architecture – templates formes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Franck IDDA</cp:lastModifiedBy>
  <cp:revision>25</cp:revision>
  <dcterms:modified xsi:type="dcterms:W3CDTF">2026-07-29T15:39:34Z</dcterms:modified>
</cp:coreProperties>
</file>